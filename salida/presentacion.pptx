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casos" id="{2c3ac4a7-169e-b4bb-0363-b09d789a1699}">
          <p14:sldIdLst>
            <p14:sldId id="256"/>
            <p14:sldId id="257"/>
            <p14:sldId id="258"/>
            <p14:sldId id="259"/>
            <p14:sldId id="260"/>
          </p14:sldIdLst>
        </p14:section>
        <p14:section name="Modelado" id="{97045813-ff20-31eb-5ae8-e89f83a98ba7}">
          <p14:sldIdLst>
            <p14:sldId id="261"/>
            <p14:sldId id="262"/>
            <p14:sldId id="263"/>
            <p14:sldId id="264"/>
            <p14:sldId id="265"/>
            <p14:sldId id="266"/>
          </p14:sldIdLst>
        </p14:section>
        <p14:section name="Neo4j y demo" id="{ea5df6ce-b66b-eee7-f909-5fb6f260965b}">
          <p14:sldIdLst>
            <p14:sldId id="267"/>
            <p14:sldId id="268"/>
          </p14:sldIdLst>
        </p14:section>
        <p14:section name="Cierre" id="{2c25daba-84a8-0bdd-0425-c5f6ea790953}">
          <p14:sldIdLst>
            <p14:sldId id="269"/>
          </p14:sldIdLst>
        </p14:section>
        <p14:section name="Anexo" id="{692fa743-db37-016c-6adc-473d6036a47d}">
          <p14:sldIdLst>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Luciano · 0:20 (al terminar, el reloj marca 0:20)
EN UNA FRASE: Somos el Grupo 11 y armamos un asistente que ayuda a un fabricante de carteles a evaluar pedidos.
QUÉ DECIR (se puede leer tal cual):
Hola, somos el Grupo 11: Matías, Lautaro y yo, Luciano. Armamos un asistente que ayuda a un fabricante de carteles luminosos a evaluar los pedidos que le llegan. Hoy les mostramos cómo modelamos ese conocimiento, paso a paso, hasta llevarlo a Neo4j.
SI PREGUNTAN:
- ¿Por qué cartelería?
  → Porque Luciano fabrica carteles: tenemos un experto real para sacar el conocimiento.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Luciano · 1:00 (al terminar, el reloj marca 1:20)
EN UNA FRASE: Hoy el fabricante decide a ojo; el asistente pregunta, avisa y propone, pero decide el fabricante.
QUÉ DECIR (se puede leer tal cual):
En un taller como el mío llega un mensaje así: «quiero un neón para la pared, de un metro más o menos». Con eso hay que decidir tres cosas: si alcanza la información, si el cartel va a aguantar en ese lugar y si lo podemos fabricar. Hoy eso se decide a ojo, con experiencia que no está escrita.
El asistente ayuda en tres cosas: pregunta lo que falta en vez de suponerlo, avisa lo que no se puede instalar o fabricar, y propone alternativas explicando por qué.
Y algo importante que pidió la cátedra: el que decide es el fabricante. El modelo de lenguaje, tipo ChatGPT, solo entiende el mensaje del cliente y redacta la explicación.
PALABRAS QUE TENÉS QUE SABER:
- LLM: modelo de lenguaje, como ChatGPT. En nuestro sistema no decide nada.
SI PREGUNTAN:
- ¿Por qué no usar directamente ChatGPT?
  → Porque puede inventar datos; acá cada conclusión sale de una regla y se puede rastrear.
- ¿Quién decide al final?
  → El fabricante: el sistema recomienda y justifica.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Lautaro · 1:00 (al terminar, el reloj marca 2:20)
EN UNA FRASE: El sistema tiene tres partes, una por integrante, que se pasan la ficha y el dictamen.
QUÉ DECIR (se puede leer tal cual):
El sistema tiene tres partes, una por integrante, y cada una responde una pregunta.
Interpretación, de Matías: ¿qué pide realmente el cliente? Su salida es la ficha: el pedido ordenado y sin dudas.
Materiales e instalación, la mía: con esa ficha, ¿el cartel funciona y dura en ese lugar? Sale un dictamen, que puede ser apto, apto con condiciones o no apto.
Fabricación y rediseño, de Luciano: ¿se puede fabricar con lo que tiene el taller? Si no, propone cambios, y eso termina en una recomendación para el fabricante.
La flecha rosa: si a mí me falta un dato importante, no lo invento; vuelve a Interpretación, que se lo pregunta al cliente.
PALABRAS QUE TENÉS QUE SABER:
- Submódulo: cada una de las tres partes; cada una tiene su propio conocimiento y sus reglas.
- Ficha: el pedido ya interpretado: datos confirmados, restricciones del cliente y advertencias.
- Dictamen: la respuesta de Materiales: apto, apto con condiciones o no apto, con sus motivos.
SI PREGUNTAN:
- ¿Por qué tres submódulos y no uno?
  → Porque son tres decisiones distintas del experto; se conectan por la ficha y el dictamen.
- ¿Qué pasa si Fabricación no encuentra alternativa?
  → El caso vuelve a Interpretación para hablar con el cliente (regla MAN-R8).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Matías · 1:00 (al terminar, el reloj marca 3:20)
EN UNA FRASE: Modelamos a partir de dos pedidos concretos que pasan por los tres submódulos.
QUÉ DECIR (se puede leer tal cual):
No arrancamos de la teoría sino de dos pedidos concretos.
El primero, el Café Andino: un cliente que no sabe nada técnico pide un neón para la pared, de un metro. El sistema primero tiene que preguntar cómo se fija, y al final dice que es apto pero que hay que dividirlo en partes, porque no entra en la impresora.
El segundo: letras corpóreas, o sea letras con volumen, de 3 metros, para el frente que da a la calle. Sale «apto con condiciones»: un plástico que aguante el sol, revisar la marquesina antes de colgarlas y fabricar letra por letra.
Un dato que nos gusta: el caso 2 lo usamos los tres en nuestros PI2, así que la integración no la inventamos para hoy.
PALABRAS QUE TENÉS QUE SABER:
- Caso de uso: una situación concreta, con entrada y salida esperada, que usamos para construir y probar el modelo.
SI PREGUNTAN:
- ¿De dónde salen los casos?
  → Del PI2 de Matías, armados con situaciones reales que contó Luciano; el caso 2 también está en los PI2 de Lautaro y de Luciano.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Matías · 1:00 (al terminar, el reloj marca 4:20)
EN UNA FRASE: El pedido no avanza hasta tener el dato que falta; después cada submódulo aporta su parte.
QUÉ DECIR (se puede leer tal cual):
Paso uno: llega el mensaje del cliente.
Paso dos, Interpretación. «La pared» no dice si es adentro o afuera, y falta un dato: cómo se fija. El sistema no supone nada: arma preguntas para el cliente.
¿Ese dato que falta frena todo? Eso no lo decido yo: le pregunto a Materiales, y la regla R-MI-01 de Lautaro dice que sin saber cómo se fija no se evalúa. Entonces el pedido espera.
Paso tres: el cliente responde que es adentro, sobre una pared de ladrillo. Materiales dice: apto.
Paso cuatro, Fabricación: un metro no entra en la impresora 3D, que imprime hasta 40 centímetros.
Paso cinco: se recomienda dividirlo en módulos y reforzar la unión. Y decide el fabricante.
PALABRAS QUE TENÉS QUE SABER:
- R-MI-01, INT-R01…: son nombres de reglas: INT = Interpretación, R-MI = Materiales, MAN = Fabricación.
SI PREGUNTAN:
- ¿La respuesta del cliente es real?
  → La parte de la pared es un dato de prueba simulado y está marcada así en el grafo; el resto sale del PI2 de Matías.
- ¿Por qué 40 cm?
  → Es el tamaño máximo de la impresora 3D del taller; sale de su ficha técnica.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Lautaro · 0:45 (al terminar, el reloj marca 5:05)
EN UNA FRASE: Del experto a la red, de la red a los frames, después las reglas y al final Neo4j.
QUÉ DECIR (se puede leer tal cual):
Ahora, cómo lo construimos. Cinco pasos.
Uno: entrevistas con el experto, que es Luciano. Cómo decide, casos típicos y excepciones. Eso fue el PI1.
Dos: con eso armamos una red semántica: los conceptos y cómo se relacionan.
Tres: cada concepto pasa a ser un frame, que es como una ficha con casilleros.
Cuatro: le sumamos reglas del tipo «si pasa esto, entonces concluyo esto».
Cinco: todo eso lo cargamos en Neo4j.
La lógica difusa la mostramos con un ejemplo, pero se completa en el PI3. Y una regla que seguimos siempre: si el experto todavía no nos dio un número, no lo inventamos; queda marcado «a validar».
PALABRAS QUE TENÉS QUE SABER:
- PI1 / PI2: las entregas individuales: PI1 = conocimiento del experto; PI2 = red, frames y reglas.
SI PREGUNTAN:
- ¿Qué hicieron cuando faltaba información del experto?
  → La dejamos marcada como «a validar» o PENDIENTE en el grafo, y se puede listar con una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Lautaro · 1:15 (al terminar, el reloj marca 6:20)
EN UNA FRASE: Cada caja es un concepto y cada flecha un verbo: la red se lee como oraciones.
QUÉ DECIR (se puede leer tal cual):
Esta es la red semántica, en versión corta. Cada caja es un concepto y cada flecha es una relación con un verbo. Se lee como oraciones. Por ejemplo, arriba a la izquierda: el cliente formula un pedido. Siguiendo: la ficha describe un cartel; el cartel se instala en un entorno.
Mi parte, en verde: el dictamen evalúa el cartel, impone condiciones y reúne los conflictos que encuentra. Y la de Luciano, en naranja: la geometría del cartel viola un límite técnico, eso genera un conflicto, y el conflicto exige una alternativa.
Cada uno hizo su red en el PI2 y después las unimos. Para eso seguimos tres reglas: toda relación tiene verbo y dirección; un concepto tiene un solo nombre —Luciano decía «diseño» y yo «cartel», y quedó Cartel—; y los conceptos compartidos, en violeta, como la ficha, el cartel y el conflicto, son los que unen las tres partes.
PALABRAS QUE TENÉS QUE SABER:
- Red semántica: un dibujo de conceptos unidos por flechas con nombre; muestra cómo piensa el experto el problema.
- Conflicto: un problema encontrado (algo que no cumple un límite). Lautaro lo llama «restricción»: es lo mismo.
SI PREGUNTAN:
- ¿Qué hicieron cuando dos usaban nombres distintos?
  → Elegimos uno y el otro quedó como sinónimo dentro del frame.
- ¿Dónde está la red completa?
  → En el anexo y en Neo4j: son 58 frames y 73 relaciones de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Lautaro · 1:15 (al terminar, el reloj marca 7:35)
EN UNA FRASE: Cada concepto de la red se vuelve un frame: una ficha con casilleros que saben qué aceptan y qué hacer.
QUÉ DECIR (se puede leer tal cual):
De la red pasamos a los frames. Un frame es como una ficha de un concepto. Cada atributo es un casillero, que se llama slot. Y la relación «es un» pasa a herencia: el PETG es un Material, así que recibe los casilleros de Material.
El ejemplo es de mi PI2: el frame Soporte, o sea la pared o estructura donde se cuelga el cartel. Tiene un casillero tipo, uno capacidad y uno estado. Lo que acepta cada casillero, y su valor por defecto, son las facetas. Por ejemplo, estado, si nadie fue a mirar, por defecto es «no verificado».
Y acá aparece el demonio, que es una acción automática: si el soporte queda «no verificado» y no sabemos cuánto aguanta, el sistema agrega solo una condición: «revisar el soporte antes de instalar». Es justo lo que pasa en el caso 2 con la marquesina.
PALABRAS QUE TENÉS QUE SABER:
- Frame: ficha de un concepto.
- Slot: casillero de la ficha.
- Faceta: la regla del casillero: qué valores acepta, cuál es el valor por defecto.
- Demonio: acción que se dispara sola cuando un casillero se llena, cambia o falta.
SI PREGUNTAN:
- ¿Por qué capacidad dice «a validar»?
  → Porque cuánto aguanta cada pared lo tiene que definir el experto; no inventamos números.
- ¿Qué diferencia hay entre slot y faceta?
  → El slot es el casillero (estado); la faceta dice qué acepta y su valor por defecto (no verificado).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Luciano · 1:00 (al terminar, el reloj marca 8:35)
EN UNA FRASE: Las reglas son «si pasa esto, entonces concluyo esto», y cada una dice si viene del experto, de nosotros o de un documento.
QUÉ DECIR (se puede leer tal cual):
Las reglas tienen la forma «SI pasa esto, ENTONCES concluyo esto». Y cada una dice de dónde sale, porque la cátedra pidió separar lo que sabe el experto de lo que proponemos nosotros.
Las dos primeras son del experto. Si no sabemos dónde va el cartel, sobre qué ni de qué tamaño, no se evalúa y se pide el dato. Y si el trazo del logo es muy fino para el neón pero el cliente exige respetar su logo, no lo engrosamos: lo hacemos retroiluminado.
La tercera es una propuesta: Lautaro la agregó al armar su PI2 porque faltaba la regla del «no apto». Si hay al menos un problema sin arreglo, el dictamen es no apto, y se muestran todas las causas. Falta que yo la confirme como experto.
En total son 42: 15 del experto, 20 propuestas por el grupo y 7 que salen de fichas técnicas o normas.
PALABRAS QUE TENÉS QUE SABER:
- Regla experta: la dijo Luciano en las entrevistas.
- Regla propuesta: la armamos nosotros; está pendiente de validar.
- Regla documental: sale de una ficha técnica o norma (ej.: la impresora imprime hasta 40 cm).
SI PREGUNTAN:
- ¿Cómo van a validar las propuestas?
  → Con sesiones donde el experto resuelve casos en voz alta y comparamos con lo que dice la regla.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Lautaro · 1:15 (al terminar, el reloj marca 9:50)
EN UNA FRASE: Con mi PI2 el modelo da los tres resultados posibles: apto, apto con condiciones y no apto.
QUÉ DECIR (se puede leer tal cual):
Esta es mi parte, Materiales e instalación, con los tres resultados posibles.
Caso del café: neón adentro, sobre una pared de ladrillo. Adentro casi no hay sol ni lluvia y la pared aguanta: apto.
Caso de las letras: van afuera, sobre una marquesina, a 4 metros. Acá todavía no está elegido el material, y eso no frena la evaluación: dejo un requisito, «tiene que aguantar sol y lluvia», que después Luciano resuelve eligiendo PETG. Como nadie revisó la marquesina, se agrega la condición de revisarla antes. Y por la altura y el viento, se pide que un profesional verifique la estructura. Resultado: apto con condiciones.
El tercero es el caso 2 de mi PI2: un neón en bandera, o sea perpendicular a la pared, sobre la vereda. Tiene un alero, pero el cartel sobresale más que el alero, así que recibe lluvia igual. Y el cliente quiere reusar un neón y una fuente de interior. Eso no tiene arreglo: no apto, y el sistema muestra cada causa.
Cómo decide: primero busca algo sin arreglo; si no hay, busca condiciones; y si no hay nada, es apto.
PALABRAS QUE TENÉS QUE SABER:
- Bandera: cartel colgado perpendicular a la pared, que sobresale sobre la vereda.
- Fuente: el transformador que alimenta las luces; es lo que más se rompe.
- Requisito vs condición: requisito = lo que debe cumplir un material que todavía no se eligió; condición = algo a hacer para poder instalar.
SI PREGUNTAN:
- ¿Por qué el alero no cuenta?
  → La excepción del alero se evalúa (regla R-MI-08), pero el alero mide 0,4 m y el cartel sobresale 1 m: no lo cubre. Queda registrado en el grafo.
- ¿Qué pasa con el no apto después?
  → Pasa a Fabricación con todas las causas; cambiar los componentes ya es rediseño, y esa regla de Luciano está pendiente.
- ¿Qué grado de protección contra el agua piden?
  → Todavía «a validar» con el experto; por eso no ponemos un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Luciano · 0:45 (al terminar, el reloj marca 10:35)
EN UNA FRASE: La lógica difusa sirve para lo que es «un poco» o «bastante»; la mostramos con un ejemplo y se completa en el PI3.
QUÉ DECIR (se puede leer tal cual):
La lógica difusa es para lo que no es «sí o no». Un frente al sol sin alero está más expuesto que uno con un alero chico, que a su vez está más expuesto que uno adentro. Entonces la exposición se describe con palabras —baja, media o alta— y un lugar puede ser un poco «media» y un poco «alta» a la vez, con un grado de 0 a 1. Eso es una variable lingüística.
La regla de ejemplo: si la exposición es alta y el peso está en el límite, el riesgo es alto.
Hoy, en el modelo, la exposición se calcula con reglas comunes, nítidas. Lautaro dejó identificadas las variables candidatas: exposición, tamaño del cartel, qué tan confiable es el soporte y el peso. Los rangos los vamos a definir conmigo en el PI3.
PALABRAS QUE TENÉS QUE SABER:
- Variable lingüística: una variable que toma palabras (baja, media, alta) en vez de números exactos.
- Grado de pertenencia: número de 0 a 1 que dice cuánto pertenece un caso a «alta», por ejemplo.
SI PREGUNTAN:
- ¿Por qué no la implementaron todavía?
  → Porque no inventamos rangos: las funciones de pertenencia se relevan con el experto.
- ¿Reemplaza a las reglas normales?
  → No: lo imposible sigue en reglas nítidas (un metro no entra en 40 cm); lo difuso sirve para graduar y ordenar.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Luciano · 1:00 (al terminar, el reloj marca 11:35)
EN UNA FRASE: Todo quedó en Neo4j: la red, los frames, las reglas y los casos; cada conclusión dice qué regla la creó.
QUÉ DECIR (se puede leer tal cual):
Todo esto lo cargamos en Neo4j, que es una base de datos de grafos: guarda nodos y flechas, igual que nuestra red. Los frames, las reglas y los casos de prueba quedan en el mismo grafo: 58 frames, 42 reglas y 139 instancias, que son los casos concretos.
Arriba ven un pedazo del caso del café: el cartel tiene una geometría de 1000 milímetros, que viola el límite de la impresora de 400; eso genera el conflicto «excede la cama», que exige segmentar. Esas tres flechas en rosa no las cargamos a mano: las creó la regla MAN-R3.
La consulta está en Cypher, el lenguaje de Neo4j, y se lee casi en castellano: buscá el conflicto del caso CU1, lo que exige, y qué regla lo creó. Así cada conclusión se puede rastrear.
PALABRAS QUE TENÉS QUE SABER:
- Cypher: el lenguaje para consultar Neo4j. MATCH = buscá; RETURN = devolvé.
- Instancia: un caso concreto cargado en el grafo, por ejemplo el cartel del Café Andino.
SI PREGUNTAN:
- ¿Las reglas están dentro de Neo4j?
  → Sí: cada regla es una consulta Cypher y además un nodo; cada flecha que crea guarda el nombre de la regla.
- ¿Por qué Neo4j y no una base relacional?
  → Porque el modelo ya es un grafo de conceptos y relaciones, y se consulta recorriendo caminos.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Matías · 2:00 (al terminar, el reloj marca 13:35)
EN UNA FRASE: En vivo se ve cómo las reglas, una por una, llevan cada pedido hasta su resultado.
QUÉ DECIR (se puede leer tal cual):
[Compartir la terminal y correr: bash neo4j/demo.sh. Enter ejecuta, Enter pasa al siguiente. Se ven los pasos 01, 02, 12, 13 y 14. Después del 14, Ctrl+C y volver a las slides.]
Ahora la demo. El script carga los casos sin ninguna regla aplicada, así que todo lo que aparece lo van creando las reglas.
Paso 1: le pregunto a la base por qué el pedido del café no se puede evaluar. Falta cómo se fija, hay una pregunta pendiente al cliente y una consulta a Materiales.
Paso 2: Materiales responde con su regla R-MI-01: bloqueante. El sistema frena y no inventa el dato.
[Los pasos que siguen se aplican solos.]
Paso 12: el café de punta a punta. Interpretación deja el pedido listo, Materiales dice apto, Fabricación detecta que no entra en la impresora y recomienda segmentar. Decide el fabricante.
Paso 13: las letras al frente. Apto con condiciones; fíjense que el requisito de material que dejó Lautaro lo cumple el PETG que elige la regla de Luciano.
Paso 14: el neón en bandera. El alero se evaluó pero no alcanza; los componentes de interior hacen que sea no apto, y aparece cada causa. Es la tabla que ven a la derecha, por si se corta la conexión.
PALABRAS QUE TENÉS QUE SABER:
- demo.sh: script que ejecuta las consultas de a una, con pausa.
SI PREGUNTAN:
- ¿Qué pasa si se cae Neo4j?
  → Tenemos la salida real en las slides y el video de respaldo.
- ¿Dónde está el LLM?
  → Todavía no está conectado: en el diseño solo traduce el mensaje a datos y redacta la explicación desde la traza; no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Lautaro · 0:30 (al terminar, el reloj marca 14:05)
EN UNA FRASE: Nos faltan los números del experto, validar las reglas propuestas y la lógica difusa.
QUÉ DECIR (se puede leer tal cual):
Para cerrar, lo que nos falta. Uno: los números que no quisimos inventar, como qué protección contra el agua hace falta, cuánto peso aguanta cada pared o desde qué tamaño pedir un profesional. Dos: validar con Luciano las reglas que propusimos nosotros. Y tres: definir la lógica difusa en el PI3.
Gracias, quedamos para preguntas.
SI PREGUNTAN:
- ¿Cómo saben todo lo que falta?
  → Está marcado en el grafo y sale con una consulta (paso 20 de la demo completa).
- Preguntas del integrador (LLM, APIs, trazabilidad…)
  → Están respondidas en la primera slide del anexo.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Respuestas a las preguntas «integrador» de la cátedra, adaptadas a cartelería. Lo marcado como dirección de trabajo todavía no está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Todos los frames no hoja y sus relaciones, tal como están en Neo4j. Colores = submódulo; borde punteado = abstracto o externo.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Núcleo de la red integrada con los verbos reales del grafo.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Diagramas de procesos del PI1 de cada integrante: el punto de partida del modelado.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Redes conceptuales de los PI2 de Matías y de Luciano antes de integrar. La de Lautaro (19 conceptos, 22 relaciones) está transcripta en su PI2 y su versión integrada se ve en la red completa.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Herencia ES_UN y composición ES_PARTE_DE tal como están en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Pedido incompleto → consulta a Materiales → respuesta (dato de prueba simulado) → ficha → dictamen apto → ExcedeCama → segmentación + refuerzo.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FR-02: exposición alta, sin material definido → requisitos (R-MI-13), condiciones (R-MI-13, R-MI-14), verificación (R-MI-06) → apto con condiciones; PETG (MAN-R7) cumple el requisito; segmentación letra por letra.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Neón LED en bandera: la excepción del alero se evalúa y no aplica; restricción eléctrica excluyente y de mantenimiento corregible, cada una con su causa; verificación estructural; no apto (R-MI-12).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presenta; solo para responder preguntas.
Casos L-C1 y L-C3 del PI2 de Luciano: la restricción obligatoria del cliente rechaza una alternativa y admite la otra (MAN-R6, MAN-R9).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rtlCol="0"/>
          <a:lstStyle>
            <a:lvl1pPr algn="l" indent="0" marL="0">
              <a:buNone/>
              <a:defRPr lang="en-US" sz="3400" b="1" dirty="0">
                <a:solidFill>
                  <a:srgbClr val="1A202C"/>
                </a:solidFill>
              </a:defRPr>
            </a:lvl1pPr>
          </a:lstStyle>
          <a:p>
            <a:pPr algn="l" indent="0" marL="0">
              <a:buNone/>
            </a:pPr>
            <a:endParaRPr lang="en-US" sz="3400" dirty="0"/>
          </a:p>
        </p:txBody>
      </p:sp>
      <p:sp>
        <p:nvSpPr>
          <p:cNvPr id="3" name="Text 0"/>
          <p:cNvSpPr/>
          <p:nvPr/>
        </p:nvSpPr>
        <p:spPr>
          <a:xfrm>
            <a:off x="502920" y="6428232"/>
            <a:ext cx="8229600" cy="274320"/>
          </a:xfrm>
          <a:prstGeom prst="rect">
            <a:avLst/>
          </a:prstGeom>
          <a:noFill/>
          <a:ln/>
        </p:spPr>
        <p:txBody>
          <a:bodyPr wrap="square" lIns="0" tIns="0" rIns="0" bIns="0" rtlCol="0" anchor="ctr"/>
          <a:lstStyle/>
          <a:p>
            <a:pPr indent="0" marL="0">
              <a:buNone/>
            </a:pPr>
            <a:r>
              <a:rPr lang="en-US" sz="1000" dirty="0">
                <a:solidFill>
                  <a:srgbClr val="8A94A6"/>
                </a:solidFill>
              </a:rPr>
              <a:t>Grupo 11 · UTN FRM 5K9 · Actividad de modelado · 5/10/2026</a:t>
            </a:r>
            <a:endParaRPr lang="en-US" sz="10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solidFill>
          <a:srgbClr val="14182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8229600" cy="365760"/>
          </a:xfrm>
          <a:prstGeom prst="rect">
            <a:avLst/>
          </a:prstGeom>
          <a:noFill/>
          <a:ln/>
        </p:spPr>
        <p:txBody>
          <a:bodyPr wrap="square" lIns="0" tIns="0" rIns="0" bIns="0" rtlCol="0" anchor="ctr"/>
          <a:lstStyle/>
          <a:p>
            <a:pPr indent="0" marL="0">
              <a:buNone/>
            </a:pPr>
            <a:r>
              <a:rPr lang="en-US" sz="1400" b="1" spc="200" kern="0" dirty="0">
                <a:solidFill>
                  <a:srgbClr val="22D3EE"/>
                </a:solidFill>
              </a:rPr>
              <a:t>ACTIVIDAD DE MODELADO · GRUPO 11</a:t>
            </a:r>
            <a:endParaRPr lang="en-US" sz="1400" dirty="0"/>
          </a:p>
        </p:txBody>
      </p:sp>
      <p:sp>
        <p:nvSpPr>
          <p:cNvPr id="3" name="Text 1"/>
          <p:cNvSpPr txBox="1"/>
          <p:nvPr/>
        </p:nvSpPr>
        <p:spPr>
          <a:xfrm>
            <a:off x="731520" y="1691640"/>
            <a:ext cx="9875520" cy="1554480"/>
          </a:xfrm>
          <a:prstGeom prst="rect">
            <a:avLst/>
          </a:prstGeom>
          <a:noFill/>
          <a:ln/>
        </p:spPr>
        <p:txBody>
          <a:bodyPr wrap="square" lIns="0" tIns="0" rIns="0" bIns="0" rtlCol="0" anchor="t"/>
          <a:lstStyle/>
          <a:p>
            <a:pPr indent="0" marL="0">
              <a:buNone/>
            </a:pPr>
            <a:r>
              <a:rPr lang="en-US" sz="4400" b="1" dirty="0">
                <a:solidFill>
                  <a:srgbClr val="FFFFFF"/>
                </a:solidFill>
              </a:rPr>
              <a:t>Un asistente para evaluar pedidos de carteles luminosos</a:t>
            </a:r>
            <a:endParaRPr lang="en-US" sz="4400" dirty="0"/>
          </a:p>
        </p:txBody>
      </p:sp>
      <p:sp>
        <p:nvSpPr>
          <p:cNvPr id="4" name="Text 2"/>
          <p:cNvSpPr txBox="1"/>
          <p:nvPr/>
        </p:nvSpPr>
        <p:spPr>
          <a:xfrm>
            <a:off x="731520" y="3337560"/>
            <a:ext cx="9601200" cy="457200"/>
          </a:xfrm>
          <a:prstGeom prst="rect">
            <a:avLst/>
          </a:prstGeom>
          <a:noFill/>
          <a:ln/>
        </p:spPr>
        <p:txBody>
          <a:bodyPr wrap="square" lIns="0" tIns="0" rIns="0" bIns="0" rtlCol="0" anchor="ctr"/>
          <a:lstStyle/>
          <a:p>
            <a:pPr indent="0" marL="0">
              <a:buNone/>
            </a:pPr>
            <a:r>
              <a:rPr lang="en-US" sz="2200" i="1" dirty="0">
                <a:solidFill>
                  <a:srgbClr val="C9D1E0"/>
                </a:solidFill>
              </a:rPr>
              <a:t>Cómo pasamos lo que sabe el fabricante a un grafo en Neo4j</a:t>
            </a:r>
            <a:endParaRPr lang="en-US" sz="2200" dirty="0"/>
          </a:p>
        </p:txBody>
      </p:sp>
      <p:sp>
        <p:nvSpPr>
          <p:cNvPr id="5" name="Shape 3"/>
          <p:cNvSpPr/>
          <p:nvPr/>
        </p:nvSpPr>
        <p:spPr>
          <a:xfrm>
            <a:off x="731520" y="4434840"/>
            <a:ext cx="3291840" cy="82296"/>
          </a:xfrm>
          <a:prstGeom prst="roundRect">
            <a:avLst>
              <a:gd name="adj" fmla="val 50000"/>
            </a:avLst>
          </a:prstGeom>
          <a:solidFill>
            <a:srgbClr val="2B6CB0"/>
          </a:solidFill>
          <a:ln w="12700">
            <a:solidFill>
              <a:srgbClr val="2B6CB0"/>
            </a:solidFill>
            <a:prstDash val="solid"/>
          </a:ln>
          <a:effectLst>
            <a:outerShdw sx="100000" sy="100000" kx="0" ky="0" algn="bl" rotWithShape="0" blurRad="101600" dist="50800" dir="5400000">
              <a:srgbClr val="2B6CB0">
                <a:alpha val="90000"/>
              </a:srgbClr>
            </a:outerShdw>
          </a:effectLst>
        </p:spPr>
      </p:sp>
      <p:sp>
        <p:nvSpPr>
          <p:cNvPr id="6" name="Text 4"/>
          <p:cNvSpPr txBox="1"/>
          <p:nvPr/>
        </p:nvSpPr>
        <p:spPr>
          <a:xfrm>
            <a:off x="731520" y="4617720"/>
            <a:ext cx="3291840" cy="365760"/>
          </a:xfrm>
          <a:prstGeom prst="rect">
            <a:avLst/>
          </a:prstGeom>
          <a:noFill/>
          <a:ln/>
        </p:spPr>
        <p:txBody>
          <a:bodyPr wrap="square" lIns="0" tIns="0" rIns="0" bIns="0" rtlCol="0" anchor="ctr"/>
          <a:lstStyle/>
          <a:p>
            <a:pPr indent="0" marL="0">
              <a:buNone/>
            </a:pPr>
            <a:r>
              <a:rPr lang="en-US" sz="1900" b="1" dirty="0">
                <a:solidFill>
                  <a:srgbClr val="FFFFFF"/>
                </a:solidFill>
              </a:rPr>
              <a:t>Matías Zarandon</a:t>
            </a:r>
            <a:endParaRPr lang="en-US" sz="1900" dirty="0"/>
          </a:p>
        </p:txBody>
      </p:sp>
      <p:sp>
        <p:nvSpPr>
          <p:cNvPr id="7" name="Text 5"/>
          <p:cNvSpPr txBox="1"/>
          <p:nvPr/>
        </p:nvSpPr>
        <p:spPr>
          <a:xfrm>
            <a:off x="731520" y="4983480"/>
            <a:ext cx="3291840" cy="320040"/>
          </a:xfrm>
          <a:prstGeom prst="rect">
            <a:avLst/>
          </a:prstGeom>
          <a:noFill/>
          <a:ln/>
        </p:spPr>
        <p:txBody>
          <a:bodyPr wrap="square" lIns="0" tIns="0" rIns="0" bIns="0" rtlCol="0" anchor="ctr"/>
          <a:lstStyle/>
          <a:p>
            <a:pPr indent="0" marL="0">
              <a:buNone/>
            </a:pPr>
            <a:r>
              <a:rPr lang="en-US" sz="1500" dirty="0">
                <a:solidFill>
                  <a:srgbClr val="AEB8CC"/>
                </a:solidFill>
              </a:rPr>
              <a:t>Interpretación del pedido</a:t>
            </a:r>
            <a:endParaRPr lang="en-US" sz="1500" dirty="0"/>
          </a:p>
        </p:txBody>
      </p:sp>
      <p:sp>
        <p:nvSpPr>
          <p:cNvPr id="8" name="Shape 6"/>
          <p:cNvSpPr/>
          <p:nvPr/>
        </p:nvSpPr>
        <p:spPr>
          <a:xfrm>
            <a:off x="4343400" y="4434840"/>
            <a:ext cx="3291840" cy="82296"/>
          </a:xfrm>
          <a:prstGeom prst="roundRect">
            <a:avLst>
              <a:gd name="adj" fmla="val 50000"/>
            </a:avLst>
          </a:prstGeom>
          <a:solidFill>
            <a:srgbClr val="2A9D8F"/>
          </a:solidFill>
          <a:ln w="12700">
            <a:solidFill>
              <a:srgbClr val="2A9D8F"/>
            </a:solidFill>
            <a:prstDash val="solid"/>
          </a:ln>
          <a:effectLst>
            <a:outerShdw sx="100000" sy="100000" kx="0" ky="0" algn="bl" rotWithShape="0" blurRad="101600" dist="50800" dir="5400000">
              <a:srgbClr val="2A9D8F">
                <a:alpha val="90000"/>
              </a:srgbClr>
            </a:outerShdw>
          </a:effectLst>
        </p:spPr>
      </p:sp>
      <p:sp>
        <p:nvSpPr>
          <p:cNvPr id="9" name="Text 7"/>
          <p:cNvSpPr txBox="1"/>
          <p:nvPr/>
        </p:nvSpPr>
        <p:spPr>
          <a:xfrm>
            <a:off x="4343400" y="4617720"/>
            <a:ext cx="3291840" cy="365760"/>
          </a:xfrm>
          <a:prstGeom prst="rect">
            <a:avLst/>
          </a:prstGeom>
          <a:noFill/>
          <a:ln/>
        </p:spPr>
        <p:txBody>
          <a:bodyPr wrap="square" lIns="0" tIns="0" rIns="0" bIns="0" rtlCol="0" anchor="ctr"/>
          <a:lstStyle/>
          <a:p>
            <a:pPr indent="0" marL="0">
              <a:buNone/>
            </a:pPr>
            <a:r>
              <a:rPr lang="en-US" sz="1900" b="1" dirty="0">
                <a:solidFill>
                  <a:srgbClr val="FFFFFF"/>
                </a:solidFill>
              </a:rPr>
              <a:t>Lautaro Quiros</a:t>
            </a:r>
            <a:endParaRPr lang="en-US" sz="1900" dirty="0"/>
          </a:p>
        </p:txBody>
      </p:sp>
      <p:sp>
        <p:nvSpPr>
          <p:cNvPr id="10" name="Text 8"/>
          <p:cNvSpPr txBox="1"/>
          <p:nvPr/>
        </p:nvSpPr>
        <p:spPr>
          <a:xfrm>
            <a:off x="4343400" y="4983480"/>
            <a:ext cx="3291840" cy="320040"/>
          </a:xfrm>
          <a:prstGeom prst="rect">
            <a:avLst/>
          </a:prstGeom>
          <a:noFill/>
          <a:ln/>
        </p:spPr>
        <p:txBody>
          <a:bodyPr wrap="square" lIns="0" tIns="0" rIns="0" bIns="0" rtlCol="0" anchor="ctr"/>
          <a:lstStyle/>
          <a:p>
            <a:pPr indent="0" marL="0">
              <a:buNone/>
            </a:pPr>
            <a:r>
              <a:rPr lang="en-US" sz="1500" dirty="0">
                <a:solidFill>
                  <a:srgbClr val="AEB8CC"/>
                </a:solidFill>
              </a:rPr>
              <a:t>Materiales e instalación</a:t>
            </a:r>
            <a:endParaRPr lang="en-US" sz="1500" dirty="0"/>
          </a:p>
        </p:txBody>
      </p:sp>
      <p:sp>
        <p:nvSpPr>
          <p:cNvPr id="11" name="Shape 9"/>
          <p:cNvSpPr/>
          <p:nvPr/>
        </p:nvSpPr>
        <p:spPr>
          <a:xfrm>
            <a:off x="7955280" y="4434840"/>
            <a:ext cx="3291840" cy="82296"/>
          </a:xfrm>
          <a:prstGeom prst="roundRect">
            <a:avLst>
              <a:gd name="adj" fmla="val 50000"/>
            </a:avLst>
          </a:prstGeom>
          <a:solidFill>
            <a:srgbClr val="D9480F"/>
          </a:solidFill>
          <a:ln w="12700">
            <a:solidFill>
              <a:srgbClr val="D9480F"/>
            </a:solidFill>
            <a:prstDash val="solid"/>
          </a:ln>
          <a:effectLst>
            <a:outerShdw sx="100000" sy="100000" kx="0" ky="0" algn="bl" rotWithShape="0" blurRad="101600" dist="50800" dir="5400000">
              <a:srgbClr val="D9480F">
                <a:alpha val="90000"/>
              </a:srgbClr>
            </a:outerShdw>
          </a:effectLst>
        </p:spPr>
      </p:sp>
      <p:sp>
        <p:nvSpPr>
          <p:cNvPr id="12" name="Text 10"/>
          <p:cNvSpPr txBox="1"/>
          <p:nvPr/>
        </p:nvSpPr>
        <p:spPr>
          <a:xfrm>
            <a:off x="7955280" y="4617720"/>
            <a:ext cx="3291840" cy="365760"/>
          </a:xfrm>
          <a:prstGeom prst="rect">
            <a:avLst/>
          </a:prstGeom>
          <a:noFill/>
          <a:ln/>
        </p:spPr>
        <p:txBody>
          <a:bodyPr wrap="square" lIns="0" tIns="0" rIns="0" bIns="0" rtlCol="0" anchor="ctr"/>
          <a:lstStyle/>
          <a:p>
            <a:pPr indent="0" marL="0">
              <a:buNone/>
            </a:pPr>
            <a:r>
              <a:rPr lang="en-US" sz="1900" b="1" dirty="0">
                <a:solidFill>
                  <a:srgbClr val="FFFFFF"/>
                </a:solidFill>
              </a:rPr>
              <a:t>Luciano Marquesini</a:t>
            </a:r>
            <a:endParaRPr lang="en-US" sz="1900" dirty="0"/>
          </a:p>
        </p:txBody>
      </p:sp>
      <p:sp>
        <p:nvSpPr>
          <p:cNvPr id="13" name="Text 11"/>
          <p:cNvSpPr txBox="1"/>
          <p:nvPr/>
        </p:nvSpPr>
        <p:spPr>
          <a:xfrm>
            <a:off x="7955280" y="4983480"/>
            <a:ext cx="3291840" cy="320040"/>
          </a:xfrm>
          <a:prstGeom prst="rect">
            <a:avLst/>
          </a:prstGeom>
          <a:noFill/>
          <a:ln/>
        </p:spPr>
        <p:txBody>
          <a:bodyPr wrap="square" lIns="0" tIns="0" rIns="0" bIns="0" rtlCol="0" anchor="ctr"/>
          <a:lstStyle/>
          <a:p>
            <a:pPr indent="0" marL="0">
              <a:buNone/>
            </a:pPr>
            <a:r>
              <a:rPr lang="en-US" sz="1500" dirty="0">
                <a:solidFill>
                  <a:srgbClr val="AEB8CC"/>
                </a:solidFill>
              </a:rPr>
              <a:t>Fabricación y rediseño · experto</a:t>
            </a:r>
            <a:endParaRPr lang="en-US" sz="1500" dirty="0"/>
          </a:p>
        </p:txBody>
      </p:sp>
      <p:sp>
        <p:nvSpPr>
          <p:cNvPr id="14" name="Text 12"/>
          <p:cNvSpPr txBox="1"/>
          <p:nvPr/>
        </p:nvSpPr>
        <p:spPr>
          <a:xfrm>
            <a:off x="731520" y="6035040"/>
            <a:ext cx="10789920" cy="320040"/>
          </a:xfrm>
          <a:prstGeom prst="rect">
            <a:avLst/>
          </a:prstGeom>
          <a:noFill/>
          <a:ln/>
        </p:spPr>
        <p:txBody>
          <a:bodyPr wrap="square" lIns="0" tIns="0" rIns="0" bIns="0" rtlCol="0" anchor="ctr"/>
          <a:lstStyle/>
          <a:p>
            <a:pPr indent="0" marL="0">
              <a:buNone/>
            </a:pPr>
            <a:r>
              <a:rPr lang="en-US" sz="1200" dirty="0">
                <a:solidFill>
                  <a:srgbClr val="8A94A6"/>
                </a:solidFill>
              </a:rPr>
              <a:t>UTN FRM · 5K9 · Inteligencia Artificial · Prof. Matilde Césari y María Eugenia Stefanoni · 5/10/2026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Hoy cada pedido se evalúa «a ojo»</a:t>
            </a:r>
            <a:endParaRPr lang="en-US" sz="3400" dirty="0"/>
          </a:p>
        </p:txBody>
      </p:sp>
      <p:sp>
        <p:nvSpPr>
          <p:cNvPr id="3" name="Shape 1"/>
          <p:cNvSpPr/>
          <p:nvPr/>
        </p:nvSpPr>
        <p:spPr>
          <a:xfrm>
            <a:off x="9921240" y="438912"/>
            <a:ext cx="1783080" cy="457200"/>
          </a:xfrm>
          <a:prstGeom prst="roundRect">
            <a:avLst>
              <a:gd name="adj" fmla="val 50000"/>
            </a:avLst>
          </a:prstGeom>
          <a:solidFill>
            <a:srgbClr val="D9480F"/>
          </a:solidFill>
          <a:ln w="12700">
            <a:solidFill>
              <a:srgbClr val="D9480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Luciano</a:t>
            </a:r>
            <a:pPr algn="ctr" indent="0" marL="0">
              <a:buNone/>
            </a:pPr>
            <a:r>
              <a:rPr lang="en-US" sz="1400" dirty="0">
                <a:solidFill>
                  <a:srgbClr val="FFFFFF"/>
                </a:solidFill>
              </a:rPr>
              <a:t>  ·  1:00</a:t>
            </a:r>
            <a:endParaRPr lang="en-US" sz="1400" dirty="0"/>
          </a:p>
        </p:txBody>
      </p:sp>
      <p:sp>
        <p:nvSpPr>
          <p:cNvPr id="5" name="Shape 3"/>
          <p:cNvSpPr/>
          <p:nvPr/>
        </p:nvSpPr>
        <p:spPr>
          <a:xfrm>
            <a:off x="502920" y="1371600"/>
            <a:ext cx="5120640" cy="3931920"/>
          </a:xfrm>
          <a:prstGeom prst="roundRect">
            <a:avLst>
              <a:gd name="adj" fmla="val 1860"/>
            </a:avLst>
          </a:prstGeom>
          <a:solidFill>
            <a:srgbClr val="141824"/>
          </a:solidFill>
          <a:ln w="15875">
            <a:solidFill>
              <a:srgbClr val="141824"/>
            </a:solidFill>
            <a:prstDash val="solid"/>
          </a:ln>
        </p:spPr>
      </p:sp>
      <p:sp>
        <p:nvSpPr>
          <p:cNvPr id="6" name="Text 4"/>
          <p:cNvSpPr txBox="1"/>
          <p:nvPr/>
        </p:nvSpPr>
        <p:spPr>
          <a:xfrm>
            <a:off x="822960" y="1600200"/>
            <a:ext cx="3657600" cy="365760"/>
          </a:xfrm>
          <a:prstGeom prst="rect">
            <a:avLst/>
          </a:prstGeom>
          <a:noFill/>
          <a:ln/>
        </p:spPr>
        <p:txBody>
          <a:bodyPr wrap="square" lIns="0" tIns="0" rIns="0" bIns="0" rtlCol="0" anchor="ctr"/>
          <a:lstStyle/>
          <a:p>
            <a:pPr indent="0" marL="0">
              <a:buNone/>
            </a:pPr>
            <a:r>
              <a:rPr lang="en-US" sz="1500" b="1" spc="200" kern="0" dirty="0">
                <a:solidFill>
                  <a:srgbClr val="22D3EE"/>
                </a:solidFill>
              </a:rPr>
              <a:t>HOY</a:t>
            </a:r>
            <a:endParaRPr lang="en-US" sz="1500" dirty="0"/>
          </a:p>
        </p:txBody>
      </p:sp>
      <p:sp>
        <p:nvSpPr>
          <p:cNvPr id="7" name="Text 5"/>
          <p:cNvSpPr txBox="1"/>
          <p:nvPr/>
        </p:nvSpPr>
        <p:spPr>
          <a:xfrm>
            <a:off x="822960" y="2103120"/>
            <a:ext cx="4480560" cy="1188720"/>
          </a:xfrm>
          <a:prstGeom prst="rect">
            <a:avLst/>
          </a:prstGeom>
          <a:noFill/>
          <a:ln/>
        </p:spPr>
        <p:txBody>
          <a:bodyPr wrap="square" lIns="0" tIns="0" rIns="0" bIns="0" rtlCol="0" anchor="t"/>
          <a:lstStyle/>
          <a:p>
            <a:pPr indent="0" marL="0">
              <a:buNone/>
            </a:pPr>
            <a:r>
              <a:rPr lang="en-US" sz="2600" i="1" dirty="0">
                <a:solidFill>
                  <a:srgbClr val="FFFFFF"/>
                </a:solidFill>
              </a:rPr>
              <a:t>«Quiero un neón para la pared, de un metro más o menos»</a:t>
            </a:r>
            <a:endParaRPr lang="en-US" sz="2600" dirty="0"/>
          </a:p>
        </p:txBody>
      </p:sp>
      <p:sp>
        <p:nvSpPr>
          <p:cNvPr id="8" name="Text 6"/>
          <p:cNvSpPr txBox="1"/>
          <p:nvPr/>
        </p:nvSpPr>
        <p:spPr>
          <a:xfrm>
            <a:off x="822960" y="3657600"/>
            <a:ext cx="4480560" cy="1188720"/>
          </a:xfrm>
          <a:prstGeom prst="rect">
            <a:avLst/>
          </a:prstGeom>
          <a:noFill/>
          <a:ln/>
        </p:spPr>
        <p:txBody>
          <a:bodyPr wrap="square" lIns="0" tIns="0" rIns="0" bIns="0" rtlCol="0" anchor="t"/>
          <a:lstStyle/>
          <a:p>
            <a:pPr indent="0" marL="0">
              <a:buNone/>
            </a:pPr>
            <a:r>
              <a:rPr lang="en-US" sz="1900" dirty="0">
                <a:solidFill>
                  <a:srgbClr val="C9D1E0"/>
                </a:solidFill>
              </a:rPr>
              <a:t>El fabricante decide con experiencia que no está escrita en ningún lado.</a:t>
            </a:r>
            <a:endParaRPr lang="en-US" sz="1900" dirty="0"/>
          </a:p>
        </p:txBody>
      </p:sp>
      <p:sp>
        <p:nvSpPr>
          <p:cNvPr id="9" name="Shape 7"/>
          <p:cNvSpPr/>
          <p:nvPr/>
        </p:nvSpPr>
        <p:spPr>
          <a:xfrm>
            <a:off x="5760720" y="3337560"/>
            <a:ext cx="502920" cy="914"/>
          </a:xfrm>
          <a:prstGeom prst="line">
            <a:avLst/>
          </a:prstGeom>
          <a:noFill/>
          <a:ln w="31750">
            <a:solidFill>
              <a:srgbClr val="1A202C"/>
            </a:solidFill>
            <a:prstDash val="solid"/>
            <a:tailEnd type="triangle"/>
          </a:ln>
        </p:spPr>
      </p:sp>
      <p:sp>
        <p:nvSpPr>
          <p:cNvPr id="10" name="Text 8"/>
          <p:cNvSpPr txBox="1"/>
          <p:nvPr/>
        </p:nvSpPr>
        <p:spPr>
          <a:xfrm>
            <a:off x="6446520" y="1600200"/>
            <a:ext cx="5029200" cy="365760"/>
          </a:xfrm>
          <a:prstGeom prst="rect">
            <a:avLst/>
          </a:prstGeom>
          <a:noFill/>
          <a:ln/>
        </p:spPr>
        <p:txBody>
          <a:bodyPr wrap="square" lIns="0" tIns="0" rIns="0" bIns="0" rtlCol="0" anchor="ctr"/>
          <a:lstStyle/>
          <a:p>
            <a:pPr indent="0" marL="0">
              <a:buNone/>
            </a:pPr>
            <a:r>
              <a:rPr lang="en-US" sz="1500" b="1" spc="200" kern="0" dirty="0">
                <a:solidFill>
                  <a:srgbClr val="FF2E88"/>
                </a:solidFill>
              </a:rPr>
              <a:t>CON EL ASISTENTE</a:t>
            </a:r>
            <a:endParaRPr lang="en-US" sz="1500" dirty="0"/>
          </a:p>
        </p:txBody>
      </p:sp>
      <p:sp>
        <p:nvSpPr>
          <p:cNvPr id="11" name="Shape 9"/>
          <p:cNvSpPr/>
          <p:nvPr/>
        </p:nvSpPr>
        <p:spPr>
          <a:xfrm>
            <a:off x="6446520" y="2148840"/>
            <a:ext cx="640080" cy="640080"/>
          </a:xfrm>
          <a:prstGeom prst="ellipse">
            <a:avLst/>
          </a:prstGeom>
          <a:solidFill>
            <a:srgbClr val="FF2E88"/>
          </a:solidFill>
          <a:ln w="12700">
            <a:solidFill>
              <a:srgbClr val="FF2E88"/>
            </a:solidFill>
            <a:prstDash val="solid"/>
          </a:ln>
        </p:spPr>
      </p:sp>
      <p:sp>
        <p:nvSpPr>
          <p:cNvPr id="12" name="Text 10"/>
          <p:cNvSpPr txBox="1"/>
          <p:nvPr/>
        </p:nvSpPr>
        <p:spPr>
          <a:xfrm>
            <a:off x="6446520" y="21488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3" name="Text 11"/>
          <p:cNvSpPr txBox="1"/>
          <p:nvPr/>
        </p:nvSpPr>
        <p:spPr>
          <a:xfrm>
            <a:off x="7315200" y="2148840"/>
            <a:ext cx="4389120" cy="640080"/>
          </a:xfrm>
          <a:prstGeom prst="rect">
            <a:avLst/>
          </a:prstGeom>
          <a:noFill/>
          <a:ln/>
        </p:spPr>
        <p:txBody>
          <a:bodyPr wrap="square" lIns="0" tIns="0" rIns="0" bIns="0" rtlCol="0" anchor="ctr"/>
          <a:lstStyle/>
          <a:p>
            <a:pPr indent="0" marL="0">
              <a:buNone/>
            </a:pPr>
            <a:r>
              <a:rPr lang="en-US" sz="2000" dirty="0">
                <a:solidFill>
                  <a:srgbClr val="1A202C"/>
                </a:solidFill>
              </a:rPr>
              <a:t>Pregunta lo que falta, no lo supone</a:t>
            </a:r>
            <a:endParaRPr lang="en-US" sz="2000" dirty="0"/>
          </a:p>
        </p:txBody>
      </p:sp>
      <p:sp>
        <p:nvSpPr>
          <p:cNvPr id="14" name="Shape 12"/>
          <p:cNvSpPr/>
          <p:nvPr/>
        </p:nvSpPr>
        <p:spPr>
          <a:xfrm>
            <a:off x="6446520" y="3200400"/>
            <a:ext cx="640080" cy="640080"/>
          </a:xfrm>
          <a:prstGeom prst="ellipse">
            <a:avLst/>
          </a:prstGeom>
          <a:solidFill>
            <a:srgbClr val="FF2E88"/>
          </a:solidFill>
          <a:ln w="12700">
            <a:solidFill>
              <a:srgbClr val="FF2E88"/>
            </a:solidFill>
            <a:prstDash val="solid"/>
          </a:ln>
        </p:spPr>
      </p:sp>
      <p:sp>
        <p:nvSpPr>
          <p:cNvPr id="15" name="Text 13"/>
          <p:cNvSpPr txBox="1"/>
          <p:nvPr/>
        </p:nvSpPr>
        <p:spPr>
          <a:xfrm>
            <a:off x="6446520" y="32004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6" name="Text 14"/>
          <p:cNvSpPr txBox="1"/>
          <p:nvPr/>
        </p:nvSpPr>
        <p:spPr>
          <a:xfrm>
            <a:off x="7315200" y="3200400"/>
            <a:ext cx="4389120" cy="640080"/>
          </a:xfrm>
          <a:prstGeom prst="rect">
            <a:avLst/>
          </a:prstGeom>
          <a:noFill/>
          <a:ln/>
        </p:spPr>
        <p:txBody>
          <a:bodyPr wrap="square" lIns="0" tIns="0" rIns="0" bIns="0" rtlCol="0" anchor="ctr"/>
          <a:lstStyle/>
          <a:p>
            <a:pPr indent="0" marL="0">
              <a:buNone/>
            </a:pPr>
            <a:r>
              <a:rPr lang="en-US" sz="2000" dirty="0">
                <a:solidFill>
                  <a:srgbClr val="1A202C"/>
                </a:solidFill>
              </a:rPr>
              <a:t>Avisa lo que no se puede instalar o fabricar</a:t>
            </a:r>
            <a:endParaRPr lang="en-US" sz="2000" dirty="0"/>
          </a:p>
        </p:txBody>
      </p:sp>
      <p:sp>
        <p:nvSpPr>
          <p:cNvPr id="17" name="Shape 15"/>
          <p:cNvSpPr/>
          <p:nvPr/>
        </p:nvSpPr>
        <p:spPr>
          <a:xfrm>
            <a:off x="6446520" y="4251960"/>
            <a:ext cx="640080" cy="640080"/>
          </a:xfrm>
          <a:prstGeom prst="ellipse">
            <a:avLst/>
          </a:prstGeom>
          <a:solidFill>
            <a:srgbClr val="FF2E88"/>
          </a:solidFill>
          <a:ln w="12700">
            <a:solidFill>
              <a:srgbClr val="FF2E88"/>
            </a:solidFill>
            <a:prstDash val="solid"/>
          </a:ln>
        </p:spPr>
      </p:sp>
      <p:sp>
        <p:nvSpPr>
          <p:cNvPr id="18" name="Text 16"/>
          <p:cNvSpPr txBox="1"/>
          <p:nvPr/>
        </p:nvSpPr>
        <p:spPr>
          <a:xfrm>
            <a:off x="6446520" y="42519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9" name="Text 17"/>
          <p:cNvSpPr txBox="1"/>
          <p:nvPr/>
        </p:nvSpPr>
        <p:spPr>
          <a:xfrm>
            <a:off x="7315200" y="4251960"/>
            <a:ext cx="4389120" cy="640080"/>
          </a:xfrm>
          <a:prstGeom prst="rect">
            <a:avLst/>
          </a:prstGeom>
          <a:noFill/>
          <a:ln/>
        </p:spPr>
        <p:txBody>
          <a:bodyPr wrap="square" lIns="0" tIns="0" rIns="0" bIns="0" rtlCol="0" anchor="ctr"/>
          <a:lstStyle/>
          <a:p>
            <a:pPr indent="0" marL="0">
              <a:buNone/>
            </a:pPr>
            <a:r>
              <a:rPr lang="en-US" sz="2000" dirty="0">
                <a:solidFill>
                  <a:srgbClr val="1A202C"/>
                </a:solidFill>
              </a:rPr>
              <a:t>Propone alternativas y explica por qué</a:t>
            </a:r>
            <a:endParaRPr lang="en-US" sz="2000" dirty="0"/>
          </a:p>
        </p:txBody>
      </p:sp>
      <p:sp>
        <p:nvSpPr>
          <p:cNvPr id="20" name="Shape 18"/>
          <p:cNvSpPr/>
          <p:nvPr/>
        </p:nvSpPr>
        <p:spPr>
          <a:xfrm>
            <a:off x="502920" y="5532120"/>
            <a:ext cx="11155680" cy="640080"/>
          </a:xfrm>
          <a:prstGeom prst="roundRect">
            <a:avLst>
              <a:gd name="adj" fmla="val 11429"/>
            </a:avLst>
          </a:prstGeom>
          <a:solidFill>
            <a:srgbClr val="F4F6FA"/>
          </a:solidFill>
          <a:ln w="15875">
            <a:solidFill>
              <a:srgbClr val="F4F6FA"/>
            </a:solidFill>
            <a:prstDash val="solid"/>
          </a:ln>
        </p:spPr>
      </p:sp>
      <p:sp>
        <p:nvSpPr>
          <p:cNvPr id="21" name="Text 19"/>
          <p:cNvSpPr txBox="1"/>
          <p:nvPr/>
        </p:nvSpPr>
        <p:spPr>
          <a:xfrm>
            <a:off x="731520" y="5532120"/>
            <a:ext cx="10789920" cy="640080"/>
          </a:xfrm>
          <a:prstGeom prst="rect">
            <a:avLst/>
          </a:prstGeom>
          <a:noFill/>
          <a:ln/>
        </p:spPr>
        <p:txBody>
          <a:bodyPr wrap="square" lIns="0" tIns="0" rIns="0" bIns="0" rtlCol="0" anchor="ctr"/>
          <a:lstStyle/>
          <a:p>
            <a:pPr indent="0" marL="0">
              <a:buNone/>
            </a:pPr>
            <a:r>
              <a:rPr lang="en-US" sz="1700" b="1" dirty="0">
                <a:solidFill>
                  <a:srgbClr val="FF2E88"/>
                </a:solidFill>
              </a:rPr>
              <a:t>Decide el fabricante. </a:t>
            </a:r>
            <a:pPr indent="0" marL="0">
              <a:buNone/>
            </a:pPr>
            <a:r>
              <a:rPr lang="en-US" sz="1700" dirty="0">
                <a:solidFill>
                  <a:srgbClr val="1A202C"/>
                </a:solidFill>
              </a:rPr>
              <a:t>El LLM (tipo ChatGPT) solo entiende el mensaje del cliente y redacta la explicación.</a:t>
            </a:r>
            <a:endParaRPr lang="en-US" sz="17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Tres partes, tres preguntas</a:t>
            </a:r>
            <a:endParaRPr lang="en-US" sz="3400" dirty="0"/>
          </a:p>
        </p:txBody>
      </p:sp>
      <p:sp>
        <p:nvSpPr>
          <p:cNvPr id="3" name="Shape 1"/>
          <p:cNvSpPr/>
          <p:nvPr/>
        </p:nvSpPr>
        <p:spPr>
          <a:xfrm>
            <a:off x="9921240" y="438912"/>
            <a:ext cx="1783080" cy="457200"/>
          </a:xfrm>
          <a:prstGeom prst="roundRect">
            <a:avLst>
              <a:gd name="adj" fmla="val 50000"/>
            </a:avLst>
          </a:prstGeom>
          <a:solidFill>
            <a:srgbClr val="2A9D8F"/>
          </a:solidFill>
          <a:ln w="12700">
            <a:solidFill>
              <a:srgbClr val="2A9D8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Lautaro</a:t>
            </a:r>
            <a:pPr algn="ctr" indent="0" marL="0">
              <a:buNone/>
            </a:pPr>
            <a:r>
              <a:rPr lang="en-US" sz="1400" dirty="0">
                <a:solidFill>
                  <a:srgbClr val="FFFFFF"/>
                </a:solidFill>
              </a:rPr>
              <a:t>  ·  1:00</a:t>
            </a:r>
            <a:endParaRPr lang="en-US" sz="1400" dirty="0"/>
          </a:p>
        </p:txBody>
      </p:sp>
      <p:sp>
        <p:nvSpPr>
          <p:cNvPr id="5" name="Shape 3"/>
          <p:cNvSpPr/>
          <p:nvPr/>
        </p:nvSpPr>
        <p:spPr>
          <a:xfrm>
            <a:off x="502920" y="2148840"/>
            <a:ext cx="1600200" cy="1371600"/>
          </a:xfrm>
          <a:prstGeom prst="roundRect">
            <a:avLst>
              <a:gd name="adj" fmla="val 5333"/>
            </a:avLst>
          </a:prstGeom>
          <a:solidFill>
            <a:srgbClr val="F4F6FA"/>
          </a:solidFill>
          <a:ln w="15875">
            <a:solidFill>
              <a:srgbClr val="CBD5E0"/>
            </a:solidFill>
            <a:prstDash val="solid"/>
          </a:ln>
        </p:spPr>
      </p:sp>
      <p:sp>
        <p:nvSpPr>
          <p:cNvPr id="6" name="Text 4"/>
          <p:cNvSpPr txBox="1"/>
          <p:nvPr/>
        </p:nvSpPr>
        <p:spPr>
          <a:xfrm>
            <a:off x="502920" y="2148840"/>
            <a:ext cx="1600200" cy="1371600"/>
          </a:xfrm>
          <a:prstGeom prst="rect">
            <a:avLst/>
          </a:prstGeom>
          <a:noFill/>
          <a:ln/>
        </p:spPr>
        <p:txBody>
          <a:bodyPr wrap="square" lIns="0" tIns="0" rIns="0" bIns="0" rtlCol="0" anchor="ctr"/>
          <a:lstStyle/>
          <a:p>
            <a:pPr algn="ctr" indent="0" marL="0">
              <a:buNone/>
            </a:pPr>
            <a:r>
              <a:rPr lang="en-US" sz="1900" b="1" dirty="0">
                <a:solidFill>
                  <a:srgbClr val="1A202C"/>
                </a:solidFill>
              </a:rPr>
              <a:t>Pedido</a:t>
            </a:r>
            <a:endParaRPr lang="en-US" sz="1900" dirty="0"/>
          </a:p>
          <a:p>
            <a:pPr algn="ctr" indent="0" marL="0">
              <a:buNone/>
            </a:pPr>
            <a:r>
              <a:rPr lang="en-US" sz="1400" dirty="0">
                <a:solidFill>
                  <a:srgbClr val="5A6578"/>
                </a:solidFill>
              </a:rPr>
              <a:t>texto + foto</a:t>
            </a:r>
            <a:endParaRPr lang="en-US" sz="1900" dirty="0"/>
          </a:p>
        </p:txBody>
      </p:sp>
      <p:sp>
        <p:nvSpPr>
          <p:cNvPr id="7" name="Shape 5"/>
          <p:cNvSpPr/>
          <p:nvPr/>
        </p:nvSpPr>
        <p:spPr>
          <a:xfrm>
            <a:off x="2514600" y="1600200"/>
            <a:ext cx="2331720" cy="2468880"/>
          </a:xfrm>
          <a:prstGeom prst="roundRect">
            <a:avLst>
              <a:gd name="adj" fmla="val 3137"/>
            </a:avLst>
          </a:prstGeom>
          <a:solidFill>
            <a:srgbClr val="E3EEF9"/>
          </a:solidFill>
          <a:ln w="25400">
            <a:solidFill>
              <a:srgbClr val="2B6CB0"/>
            </a:solidFill>
            <a:prstDash val="solid"/>
          </a:ln>
        </p:spPr>
      </p:sp>
      <p:sp>
        <p:nvSpPr>
          <p:cNvPr id="8" name="Text 6"/>
          <p:cNvSpPr txBox="1"/>
          <p:nvPr/>
        </p:nvSpPr>
        <p:spPr>
          <a:xfrm>
            <a:off x="2697480" y="1737360"/>
            <a:ext cx="1965960" cy="685800"/>
          </a:xfrm>
          <a:prstGeom prst="rect">
            <a:avLst/>
          </a:prstGeom>
          <a:noFill/>
          <a:ln/>
        </p:spPr>
        <p:txBody>
          <a:bodyPr wrap="square" lIns="0" tIns="0" rIns="0" bIns="0" rtlCol="0" anchor="t"/>
          <a:lstStyle/>
          <a:p>
            <a:pPr indent="0" marL="0">
              <a:buNone/>
            </a:pPr>
            <a:r>
              <a:rPr lang="en-US" sz="1800" b="1" dirty="0">
                <a:solidFill>
                  <a:srgbClr val="2B6CB0"/>
                </a:solidFill>
              </a:rPr>
              <a:t>1 · Interpretación</a:t>
            </a:r>
            <a:endParaRPr lang="en-US" sz="1800" dirty="0"/>
          </a:p>
        </p:txBody>
      </p:sp>
      <p:sp>
        <p:nvSpPr>
          <p:cNvPr id="9" name="Text 7"/>
          <p:cNvSpPr txBox="1"/>
          <p:nvPr/>
        </p:nvSpPr>
        <p:spPr>
          <a:xfrm>
            <a:off x="2697480" y="2423160"/>
            <a:ext cx="1965960" cy="320040"/>
          </a:xfrm>
          <a:prstGeom prst="rect">
            <a:avLst/>
          </a:prstGeom>
          <a:noFill/>
          <a:ln/>
        </p:spPr>
        <p:txBody>
          <a:bodyPr wrap="square" lIns="0" tIns="0" rIns="0" bIns="0" rtlCol="0" anchor="ctr"/>
          <a:lstStyle/>
          <a:p>
            <a:pPr indent="0" marL="0">
              <a:buNone/>
            </a:pPr>
            <a:r>
              <a:rPr lang="en-US" sz="1400" dirty="0">
                <a:solidFill>
                  <a:srgbClr val="5A6578"/>
                </a:solidFill>
              </a:rPr>
              <a:t>Matías</a:t>
            </a:r>
            <a:endParaRPr lang="en-US" sz="1400" dirty="0"/>
          </a:p>
        </p:txBody>
      </p:sp>
      <p:sp>
        <p:nvSpPr>
          <p:cNvPr id="10" name="Text 8"/>
          <p:cNvSpPr txBox="1"/>
          <p:nvPr/>
        </p:nvSpPr>
        <p:spPr>
          <a:xfrm>
            <a:off x="2697480" y="2834640"/>
            <a:ext cx="1965960" cy="1097280"/>
          </a:xfrm>
          <a:prstGeom prst="rect">
            <a:avLst/>
          </a:prstGeom>
          <a:noFill/>
          <a:ln/>
        </p:spPr>
        <p:txBody>
          <a:bodyPr wrap="square" lIns="0" tIns="0" rIns="0" bIns="0" rtlCol="0" anchor="t"/>
          <a:lstStyle/>
          <a:p>
            <a:pPr indent="0" marL="0">
              <a:buNone/>
            </a:pPr>
            <a:r>
              <a:rPr lang="en-US" sz="1900" i="1" dirty="0">
                <a:solidFill>
                  <a:srgbClr val="1A202C"/>
                </a:solidFill>
              </a:rPr>
              <a:t>¿Qué pide realmente el cliente?</a:t>
            </a:r>
            <a:endParaRPr lang="en-US" sz="1900" dirty="0"/>
          </a:p>
        </p:txBody>
      </p:sp>
      <p:sp>
        <p:nvSpPr>
          <p:cNvPr id="11" name="Shape 9"/>
          <p:cNvSpPr/>
          <p:nvPr/>
        </p:nvSpPr>
        <p:spPr>
          <a:xfrm>
            <a:off x="5486400" y="1600200"/>
            <a:ext cx="2331720" cy="2468880"/>
          </a:xfrm>
          <a:prstGeom prst="roundRect">
            <a:avLst>
              <a:gd name="adj" fmla="val 3137"/>
            </a:avLst>
          </a:prstGeom>
          <a:solidFill>
            <a:srgbClr val="E0F4F1"/>
          </a:solidFill>
          <a:ln w="25400">
            <a:solidFill>
              <a:srgbClr val="2A9D8F"/>
            </a:solidFill>
            <a:prstDash val="solid"/>
          </a:ln>
        </p:spPr>
      </p:sp>
      <p:sp>
        <p:nvSpPr>
          <p:cNvPr id="12" name="Text 10"/>
          <p:cNvSpPr txBox="1"/>
          <p:nvPr/>
        </p:nvSpPr>
        <p:spPr>
          <a:xfrm>
            <a:off x="5669280" y="1737360"/>
            <a:ext cx="1965960" cy="685800"/>
          </a:xfrm>
          <a:prstGeom prst="rect">
            <a:avLst/>
          </a:prstGeom>
          <a:noFill/>
          <a:ln/>
        </p:spPr>
        <p:txBody>
          <a:bodyPr wrap="square" lIns="0" tIns="0" rIns="0" bIns="0" rtlCol="0" anchor="t"/>
          <a:lstStyle/>
          <a:p>
            <a:pPr indent="0" marL="0">
              <a:buNone/>
            </a:pPr>
            <a:r>
              <a:rPr lang="en-US" sz="1800" b="1" dirty="0">
                <a:solidFill>
                  <a:srgbClr val="2A9D8F"/>
                </a:solidFill>
              </a:rPr>
              <a:t>2 · Materiales e instalación</a:t>
            </a:r>
            <a:endParaRPr lang="en-US" sz="1800" dirty="0"/>
          </a:p>
        </p:txBody>
      </p:sp>
      <p:sp>
        <p:nvSpPr>
          <p:cNvPr id="13" name="Text 11"/>
          <p:cNvSpPr txBox="1"/>
          <p:nvPr/>
        </p:nvSpPr>
        <p:spPr>
          <a:xfrm>
            <a:off x="5669280" y="2423160"/>
            <a:ext cx="1965960" cy="320040"/>
          </a:xfrm>
          <a:prstGeom prst="rect">
            <a:avLst/>
          </a:prstGeom>
          <a:noFill/>
          <a:ln/>
        </p:spPr>
        <p:txBody>
          <a:bodyPr wrap="square" lIns="0" tIns="0" rIns="0" bIns="0" rtlCol="0" anchor="ctr"/>
          <a:lstStyle/>
          <a:p>
            <a:pPr indent="0" marL="0">
              <a:buNone/>
            </a:pPr>
            <a:r>
              <a:rPr lang="en-US" sz="1400" dirty="0">
                <a:solidFill>
                  <a:srgbClr val="5A6578"/>
                </a:solidFill>
              </a:rPr>
              <a:t>Lautaro</a:t>
            </a:r>
            <a:endParaRPr lang="en-US" sz="1400" dirty="0"/>
          </a:p>
        </p:txBody>
      </p:sp>
      <p:sp>
        <p:nvSpPr>
          <p:cNvPr id="14" name="Text 12"/>
          <p:cNvSpPr txBox="1"/>
          <p:nvPr/>
        </p:nvSpPr>
        <p:spPr>
          <a:xfrm>
            <a:off x="5669280" y="2834640"/>
            <a:ext cx="1965960" cy="1097280"/>
          </a:xfrm>
          <a:prstGeom prst="rect">
            <a:avLst/>
          </a:prstGeom>
          <a:noFill/>
          <a:ln/>
        </p:spPr>
        <p:txBody>
          <a:bodyPr wrap="square" lIns="0" tIns="0" rIns="0" bIns="0" rtlCol="0" anchor="t"/>
          <a:lstStyle/>
          <a:p>
            <a:pPr indent="0" marL="0">
              <a:buNone/>
            </a:pPr>
            <a:r>
              <a:rPr lang="en-US" sz="1900" i="1" dirty="0">
                <a:solidFill>
                  <a:srgbClr val="1A202C"/>
                </a:solidFill>
              </a:rPr>
              <a:t>¿Funciona y dura en ese lugar?</a:t>
            </a:r>
            <a:endParaRPr lang="en-US" sz="1900" dirty="0"/>
          </a:p>
        </p:txBody>
      </p:sp>
      <p:sp>
        <p:nvSpPr>
          <p:cNvPr id="15" name="Shape 13"/>
          <p:cNvSpPr/>
          <p:nvPr/>
        </p:nvSpPr>
        <p:spPr>
          <a:xfrm>
            <a:off x="8458200" y="1600200"/>
            <a:ext cx="2331720" cy="2468880"/>
          </a:xfrm>
          <a:prstGeom prst="roundRect">
            <a:avLst>
              <a:gd name="adj" fmla="val 3137"/>
            </a:avLst>
          </a:prstGeom>
          <a:solidFill>
            <a:srgbClr val="FDEBDD"/>
          </a:solidFill>
          <a:ln w="25400">
            <a:solidFill>
              <a:srgbClr val="D9480F"/>
            </a:solidFill>
            <a:prstDash val="solid"/>
          </a:ln>
        </p:spPr>
      </p:sp>
      <p:sp>
        <p:nvSpPr>
          <p:cNvPr id="16" name="Text 14"/>
          <p:cNvSpPr txBox="1"/>
          <p:nvPr/>
        </p:nvSpPr>
        <p:spPr>
          <a:xfrm>
            <a:off x="8641080" y="1737360"/>
            <a:ext cx="1965960" cy="685800"/>
          </a:xfrm>
          <a:prstGeom prst="rect">
            <a:avLst/>
          </a:prstGeom>
          <a:noFill/>
          <a:ln/>
        </p:spPr>
        <p:txBody>
          <a:bodyPr wrap="square" lIns="0" tIns="0" rIns="0" bIns="0" rtlCol="0" anchor="t"/>
          <a:lstStyle/>
          <a:p>
            <a:pPr indent="0" marL="0">
              <a:buNone/>
            </a:pPr>
            <a:r>
              <a:rPr lang="en-US" sz="1800" b="1" dirty="0">
                <a:solidFill>
                  <a:srgbClr val="D9480F"/>
                </a:solidFill>
              </a:rPr>
              <a:t>3 · Fabricación y rediseño</a:t>
            </a:r>
            <a:endParaRPr lang="en-US" sz="1800" dirty="0"/>
          </a:p>
        </p:txBody>
      </p:sp>
      <p:sp>
        <p:nvSpPr>
          <p:cNvPr id="17" name="Text 15"/>
          <p:cNvSpPr txBox="1"/>
          <p:nvPr/>
        </p:nvSpPr>
        <p:spPr>
          <a:xfrm>
            <a:off x="8641080" y="2423160"/>
            <a:ext cx="1965960" cy="320040"/>
          </a:xfrm>
          <a:prstGeom prst="rect">
            <a:avLst/>
          </a:prstGeom>
          <a:noFill/>
          <a:ln/>
        </p:spPr>
        <p:txBody>
          <a:bodyPr wrap="square" lIns="0" tIns="0" rIns="0" bIns="0" rtlCol="0" anchor="ctr"/>
          <a:lstStyle/>
          <a:p>
            <a:pPr indent="0" marL="0">
              <a:buNone/>
            </a:pPr>
            <a:r>
              <a:rPr lang="en-US" sz="1400" dirty="0">
                <a:solidFill>
                  <a:srgbClr val="5A6578"/>
                </a:solidFill>
              </a:rPr>
              <a:t>Luciano</a:t>
            </a:r>
            <a:endParaRPr lang="en-US" sz="1400" dirty="0"/>
          </a:p>
        </p:txBody>
      </p:sp>
      <p:sp>
        <p:nvSpPr>
          <p:cNvPr id="18" name="Text 16"/>
          <p:cNvSpPr txBox="1"/>
          <p:nvPr/>
        </p:nvSpPr>
        <p:spPr>
          <a:xfrm>
            <a:off x="8641080" y="2834640"/>
            <a:ext cx="1965960" cy="1097280"/>
          </a:xfrm>
          <a:prstGeom prst="rect">
            <a:avLst/>
          </a:prstGeom>
          <a:noFill/>
          <a:ln/>
        </p:spPr>
        <p:txBody>
          <a:bodyPr wrap="square" lIns="0" tIns="0" rIns="0" bIns="0" rtlCol="0" anchor="t"/>
          <a:lstStyle/>
          <a:p>
            <a:pPr indent="0" marL="0">
              <a:buNone/>
            </a:pPr>
            <a:r>
              <a:rPr lang="en-US" sz="1900" i="1" dirty="0">
                <a:solidFill>
                  <a:srgbClr val="1A202C"/>
                </a:solidFill>
              </a:rPr>
              <a:t>¿Se puede fabricar? Si no, ¿qué cambiamos?</a:t>
            </a:r>
            <a:endParaRPr lang="en-US" sz="1900" dirty="0"/>
          </a:p>
        </p:txBody>
      </p:sp>
      <p:sp>
        <p:nvSpPr>
          <p:cNvPr id="19" name="Shape 17"/>
          <p:cNvSpPr/>
          <p:nvPr/>
        </p:nvSpPr>
        <p:spPr>
          <a:xfrm>
            <a:off x="2148840" y="2834640"/>
            <a:ext cx="320040" cy="914"/>
          </a:xfrm>
          <a:prstGeom prst="line">
            <a:avLst/>
          </a:prstGeom>
          <a:noFill/>
          <a:ln w="31750">
            <a:solidFill>
              <a:srgbClr val="1A202C"/>
            </a:solidFill>
            <a:prstDash val="solid"/>
            <a:tailEnd type="triangle"/>
          </a:ln>
        </p:spPr>
      </p:sp>
      <p:sp>
        <p:nvSpPr>
          <p:cNvPr id="20" name="Shape 18"/>
          <p:cNvSpPr/>
          <p:nvPr/>
        </p:nvSpPr>
        <p:spPr>
          <a:xfrm>
            <a:off x="4882896" y="2834640"/>
            <a:ext cx="566928" cy="914"/>
          </a:xfrm>
          <a:prstGeom prst="line">
            <a:avLst/>
          </a:prstGeom>
          <a:noFill/>
          <a:ln w="31750">
            <a:solidFill>
              <a:srgbClr val="1A202C"/>
            </a:solidFill>
            <a:prstDash val="solid"/>
            <a:tailEnd type="triangle"/>
          </a:ln>
        </p:spPr>
      </p:sp>
      <p:sp>
        <p:nvSpPr>
          <p:cNvPr id="21" name="Text 19"/>
          <p:cNvSpPr txBox="1"/>
          <p:nvPr/>
        </p:nvSpPr>
        <p:spPr>
          <a:xfrm>
            <a:off x="4754880" y="2468880"/>
            <a:ext cx="822960" cy="274320"/>
          </a:xfrm>
          <a:prstGeom prst="rect">
            <a:avLst/>
          </a:prstGeom>
          <a:noFill/>
          <a:ln/>
        </p:spPr>
        <p:txBody>
          <a:bodyPr wrap="square" lIns="0" tIns="0" rIns="0" bIns="0" rtlCol="0" anchor="ctr"/>
          <a:lstStyle/>
          <a:p>
            <a:pPr algn="ctr" indent="0" marL="0">
              <a:buNone/>
            </a:pPr>
            <a:r>
              <a:rPr lang="en-US" sz="1200" b="1" dirty="0">
                <a:solidFill>
                  <a:srgbClr val="1A202C"/>
                </a:solidFill>
              </a:rPr>
              <a:t>ficha</a:t>
            </a:r>
            <a:endParaRPr lang="en-US" sz="1200" dirty="0"/>
          </a:p>
        </p:txBody>
      </p:sp>
      <p:sp>
        <p:nvSpPr>
          <p:cNvPr id="22" name="Shape 20"/>
          <p:cNvSpPr/>
          <p:nvPr/>
        </p:nvSpPr>
        <p:spPr>
          <a:xfrm>
            <a:off x="7854696" y="2834640"/>
            <a:ext cx="566928" cy="914"/>
          </a:xfrm>
          <a:prstGeom prst="line">
            <a:avLst/>
          </a:prstGeom>
          <a:noFill/>
          <a:ln w="31750">
            <a:solidFill>
              <a:srgbClr val="1A202C"/>
            </a:solidFill>
            <a:prstDash val="solid"/>
            <a:tailEnd type="triangle"/>
          </a:ln>
        </p:spPr>
      </p:sp>
      <p:sp>
        <p:nvSpPr>
          <p:cNvPr id="23" name="Text 21"/>
          <p:cNvSpPr txBox="1"/>
          <p:nvPr/>
        </p:nvSpPr>
        <p:spPr>
          <a:xfrm>
            <a:off x="7726680" y="2468880"/>
            <a:ext cx="822960" cy="274320"/>
          </a:xfrm>
          <a:prstGeom prst="rect">
            <a:avLst/>
          </a:prstGeom>
          <a:noFill/>
          <a:ln/>
        </p:spPr>
        <p:txBody>
          <a:bodyPr wrap="square" lIns="0" tIns="0" rIns="0" bIns="0" rtlCol="0" anchor="ctr"/>
          <a:lstStyle/>
          <a:p>
            <a:pPr algn="ctr" indent="0" marL="0">
              <a:buNone/>
            </a:pPr>
            <a:r>
              <a:rPr lang="en-US" sz="1200" b="1" dirty="0">
                <a:solidFill>
                  <a:srgbClr val="1A202C"/>
                </a:solidFill>
              </a:rPr>
              <a:t>dictamen</a:t>
            </a:r>
            <a:endParaRPr lang="en-US" sz="1200" dirty="0"/>
          </a:p>
        </p:txBody>
      </p:sp>
      <p:sp>
        <p:nvSpPr>
          <p:cNvPr id="24" name="Shape 22"/>
          <p:cNvSpPr/>
          <p:nvPr/>
        </p:nvSpPr>
        <p:spPr>
          <a:xfrm>
            <a:off x="9624060" y="4114800"/>
            <a:ext cx="914" cy="502920"/>
          </a:xfrm>
          <a:prstGeom prst="line">
            <a:avLst/>
          </a:prstGeom>
          <a:noFill/>
          <a:ln w="31750">
            <a:solidFill>
              <a:srgbClr val="1A202C"/>
            </a:solidFill>
            <a:prstDash val="solid"/>
            <a:tailEnd type="triangle"/>
          </a:ln>
        </p:spPr>
      </p:sp>
      <p:sp>
        <p:nvSpPr>
          <p:cNvPr id="25" name="Shape 23"/>
          <p:cNvSpPr/>
          <p:nvPr/>
        </p:nvSpPr>
        <p:spPr>
          <a:xfrm>
            <a:off x="8458200" y="4663440"/>
            <a:ext cx="3246120" cy="822960"/>
          </a:xfrm>
          <a:prstGeom prst="roundRect">
            <a:avLst>
              <a:gd name="adj" fmla="val 8889"/>
            </a:avLst>
          </a:prstGeom>
          <a:solidFill>
            <a:srgbClr val="141824"/>
          </a:solidFill>
          <a:ln w="15875">
            <a:solidFill>
              <a:srgbClr val="141824"/>
            </a:solidFill>
            <a:prstDash val="solid"/>
          </a:ln>
        </p:spPr>
      </p:sp>
      <p:sp>
        <p:nvSpPr>
          <p:cNvPr id="26" name="Text 24"/>
          <p:cNvSpPr txBox="1"/>
          <p:nvPr/>
        </p:nvSpPr>
        <p:spPr>
          <a:xfrm>
            <a:off x="8641080" y="4663440"/>
            <a:ext cx="2926080" cy="822960"/>
          </a:xfrm>
          <a:prstGeom prst="rect">
            <a:avLst/>
          </a:prstGeom>
          <a:noFill/>
          <a:ln/>
        </p:spPr>
        <p:txBody>
          <a:bodyPr wrap="square" lIns="0" tIns="0" rIns="0" bIns="0" rtlCol="0" anchor="ctr"/>
          <a:lstStyle/>
          <a:p>
            <a:pPr indent="0" marL="0">
              <a:buNone/>
            </a:pPr>
            <a:r>
              <a:rPr lang="en-US" sz="1600" b="1" dirty="0">
                <a:solidFill>
                  <a:srgbClr val="FFFFFF"/>
                </a:solidFill>
              </a:rPr>
              <a:t>Recomendación</a:t>
            </a:r>
            <a:endParaRPr lang="en-US" sz="1600" dirty="0"/>
          </a:p>
          <a:p>
            <a:pPr indent="0" marL="0">
              <a:buNone/>
            </a:pPr>
            <a:r>
              <a:rPr lang="en-US" sz="1600" dirty="0">
                <a:solidFill>
                  <a:srgbClr val="22D3EE"/>
                </a:solidFill>
              </a:rPr>
              <a:t>→ decide el fabricante</a:t>
            </a:r>
            <a:endParaRPr lang="en-US" sz="1600" dirty="0"/>
          </a:p>
        </p:txBody>
      </p:sp>
      <p:sp>
        <p:nvSpPr>
          <p:cNvPr id="27" name="Shape 25"/>
          <p:cNvSpPr/>
          <p:nvPr/>
        </p:nvSpPr>
        <p:spPr>
          <a:xfrm>
            <a:off x="3840480" y="4114800"/>
            <a:ext cx="0" cy="868680"/>
          </a:xfrm>
          <a:prstGeom prst="line">
            <a:avLst/>
          </a:prstGeom>
          <a:noFill/>
          <a:ln w="25400">
            <a:solidFill>
              <a:srgbClr val="FF2E88"/>
            </a:solidFill>
            <a:prstDash val="dash"/>
            <a:headEnd type="triangle"/>
          </a:ln>
        </p:spPr>
      </p:sp>
      <p:sp>
        <p:nvSpPr>
          <p:cNvPr id="28" name="Shape 26"/>
          <p:cNvSpPr/>
          <p:nvPr/>
        </p:nvSpPr>
        <p:spPr>
          <a:xfrm>
            <a:off x="3840480" y="4983480"/>
            <a:ext cx="2926080" cy="0"/>
          </a:xfrm>
          <a:prstGeom prst="line">
            <a:avLst/>
          </a:prstGeom>
          <a:noFill/>
          <a:ln w="25400">
            <a:solidFill>
              <a:srgbClr val="FF2E88"/>
            </a:solidFill>
            <a:prstDash val="dash"/>
          </a:ln>
        </p:spPr>
      </p:sp>
      <p:sp>
        <p:nvSpPr>
          <p:cNvPr id="29" name="Shape 27"/>
          <p:cNvSpPr/>
          <p:nvPr/>
        </p:nvSpPr>
        <p:spPr>
          <a:xfrm>
            <a:off x="6766560" y="4114800"/>
            <a:ext cx="0" cy="868680"/>
          </a:xfrm>
          <a:prstGeom prst="line">
            <a:avLst/>
          </a:prstGeom>
          <a:noFill/>
          <a:ln w="25400">
            <a:solidFill>
              <a:srgbClr val="FF2E88"/>
            </a:solidFill>
            <a:prstDash val="dash"/>
          </a:ln>
        </p:spPr>
      </p:sp>
      <p:sp>
        <p:nvSpPr>
          <p:cNvPr id="30" name="Text 28"/>
          <p:cNvSpPr txBox="1"/>
          <p:nvPr/>
        </p:nvSpPr>
        <p:spPr>
          <a:xfrm>
            <a:off x="914400" y="5120640"/>
            <a:ext cx="6583680" cy="365760"/>
          </a:xfrm>
          <a:prstGeom prst="rect">
            <a:avLst/>
          </a:prstGeom>
          <a:noFill/>
          <a:ln/>
        </p:spPr>
        <p:txBody>
          <a:bodyPr wrap="square" lIns="0" tIns="0" rIns="0" bIns="0" rtlCol="0" anchor="ctr"/>
          <a:lstStyle/>
          <a:p>
            <a:pPr algn="ctr" indent="0" marL="0">
              <a:buNone/>
            </a:pPr>
            <a:r>
              <a:rPr lang="en-US" sz="1600" i="1" dirty="0">
                <a:solidFill>
                  <a:srgbClr val="FF2E88"/>
                </a:solidFill>
              </a:rPr>
              <a:t>¿falta un dato? se le pregunta al cliente, nunca se inventa</a:t>
            </a:r>
            <a:endParaRPr lang="en-US" sz="1600" dirty="0"/>
          </a:p>
        </p:txBody>
      </p:sp>
      <p:sp>
        <p:nvSpPr>
          <p:cNvPr id="31" name="Text 29"/>
          <p:cNvSpPr txBox="1"/>
          <p:nvPr/>
        </p:nvSpPr>
        <p:spPr>
          <a:xfrm>
            <a:off x="502920" y="5897880"/>
            <a:ext cx="11155680" cy="365760"/>
          </a:xfrm>
          <a:prstGeom prst="rect">
            <a:avLst/>
          </a:prstGeom>
          <a:noFill/>
          <a:ln/>
        </p:spPr>
        <p:txBody>
          <a:bodyPr wrap="square" lIns="0" tIns="0" rIns="0" bIns="0" rtlCol="0" anchor="ctr"/>
          <a:lstStyle/>
          <a:p>
            <a:pPr indent="0" marL="0">
              <a:buNone/>
            </a:pPr>
            <a:r>
              <a:rPr lang="en-US" sz="1400" dirty="0">
                <a:solidFill>
                  <a:srgbClr val="5A6578"/>
                </a:solidFill>
              </a:rPr>
              <a:t>Ficha = el pedido ordenado y sin dudas · Dictamen = si el cartel sirve para ese lugar (apto / con condiciones / no apto)</a:t>
            </a:r>
            <a:endParaRPr lang="en-US" sz="14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Dos casos de uso guiaron el modelo</a:t>
            </a:r>
            <a:endParaRPr lang="en-US" sz="3400" dirty="0"/>
          </a:p>
        </p:txBody>
      </p:sp>
      <p:sp>
        <p:nvSpPr>
          <p:cNvPr id="3" name="Shape 1"/>
          <p:cNvSpPr/>
          <p:nvPr/>
        </p:nvSpPr>
        <p:spPr>
          <a:xfrm>
            <a:off x="9921240" y="438912"/>
            <a:ext cx="1783080" cy="457200"/>
          </a:xfrm>
          <a:prstGeom prst="roundRect">
            <a:avLst>
              <a:gd name="adj" fmla="val 50000"/>
            </a:avLst>
          </a:prstGeom>
          <a:solidFill>
            <a:srgbClr val="2B6CB0"/>
          </a:solidFill>
          <a:ln w="12700">
            <a:solidFill>
              <a:srgbClr val="2B6CB0"/>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Matías</a:t>
            </a:r>
            <a:pPr algn="ctr" indent="0" marL="0">
              <a:buNone/>
            </a:pPr>
            <a:r>
              <a:rPr lang="en-US" sz="1400" dirty="0">
                <a:solidFill>
                  <a:srgbClr val="FFFFFF"/>
                </a:solidFill>
              </a:rPr>
              <a:t>  ·  1:00</a:t>
            </a:r>
            <a:endParaRPr lang="en-US" sz="1400" dirty="0"/>
          </a:p>
        </p:txBody>
      </p:sp>
      <p:sp>
        <p:nvSpPr>
          <p:cNvPr id="5" name="Text 3"/>
          <p:cNvSpPr txBox="1"/>
          <p:nvPr/>
        </p:nvSpPr>
        <p:spPr>
          <a:xfrm>
            <a:off x="502920" y="1325880"/>
            <a:ext cx="5394960" cy="457200"/>
          </a:xfrm>
          <a:prstGeom prst="rect">
            <a:avLst/>
          </a:prstGeom>
          <a:noFill/>
          <a:ln/>
        </p:spPr>
        <p:txBody>
          <a:bodyPr wrap="square" lIns="0" tIns="0" rIns="0" bIns="0" rtlCol="0" anchor="ctr"/>
          <a:lstStyle/>
          <a:p>
            <a:pPr indent="0" marL="0">
              <a:buNone/>
            </a:pPr>
            <a:r>
              <a:rPr lang="en-US" sz="2300" b="1" dirty="0">
                <a:solidFill>
                  <a:srgbClr val="2B6CB0"/>
                </a:solidFill>
              </a:rPr>
              <a:t>CU1 · Café Andino</a:t>
            </a:r>
            <a:endParaRPr lang="en-US" sz="2300" dirty="0"/>
          </a:p>
        </p:txBody>
      </p:sp>
      <p:sp>
        <p:nvSpPr>
          <p:cNvPr id="6" name="Text 4"/>
          <p:cNvSpPr txBox="1"/>
          <p:nvPr/>
        </p:nvSpPr>
        <p:spPr>
          <a:xfrm>
            <a:off x="502920" y="1874520"/>
            <a:ext cx="1828800" cy="274320"/>
          </a:xfrm>
          <a:prstGeom prst="rect">
            <a:avLst/>
          </a:prstGeom>
          <a:noFill/>
          <a:ln/>
        </p:spPr>
        <p:txBody>
          <a:bodyPr wrap="square" lIns="0" tIns="0" rIns="0" bIns="0" rtlCol="0" anchor="ctr"/>
          <a:lstStyle/>
          <a:p>
            <a:pPr indent="0" marL="0">
              <a:buNone/>
            </a:pPr>
            <a:r>
              <a:rPr lang="en-US" sz="1200" b="1" spc="200" kern="0" dirty="0">
                <a:solidFill>
                  <a:srgbClr val="8A94A6"/>
                </a:solidFill>
              </a:rPr>
              <a:t>ENTRA</a:t>
            </a:r>
            <a:endParaRPr lang="en-US" sz="1200" dirty="0"/>
          </a:p>
        </p:txBody>
      </p:sp>
      <p:sp>
        <p:nvSpPr>
          <p:cNvPr id="7" name="Shape 5"/>
          <p:cNvSpPr/>
          <p:nvPr/>
        </p:nvSpPr>
        <p:spPr>
          <a:xfrm>
            <a:off x="502920" y="2194560"/>
            <a:ext cx="5394960" cy="1417320"/>
          </a:xfrm>
          <a:prstGeom prst="roundRect">
            <a:avLst>
              <a:gd name="adj" fmla="val 5161"/>
            </a:avLst>
          </a:prstGeom>
          <a:solidFill>
            <a:srgbClr val="F4F6FA"/>
          </a:solidFill>
          <a:ln w="15875">
            <a:solidFill>
              <a:srgbClr val="F4F6FA"/>
            </a:solidFill>
            <a:prstDash val="solid"/>
          </a:ln>
        </p:spPr>
      </p:sp>
      <p:sp>
        <p:nvSpPr>
          <p:cNvPr id="8" name="Text 6"/>
          <p:cNvSpPr txBox="1"/>
          <p:nvPr/>
        </p:nvSpPr>
        <p:spPr>
          <a:xfrm>
            <a:off x="731520" y="2240280"/>
            <a:ext cx="4937760" cy="1325880"/>
          </a:xfrm>
          <a:prstGeom prst="rect">
            <a:avLst/>
          </a:prstGeom>
          <a:noFill/>
          <a:ln/>
        </p:spPr>
        <p:txBody>
          <a:bodyPr wrap="square" lIns="0" tIns="0" rIns="0" bIns="0" rtlCol="0" anchor="ctr"/>
          <a:lstStyle/>
          <a:p>
            <a:pPr indent="0" marL="0">
              <a:buNone/>
            </a:pPr>
            <a:r>
              <a:rPr lang="en-US" sz="1800" i="1" dirty="0">
                <a:solidFill>
                  <a:srgbClr val="1A202C"/>
                </a:solidFill>
              </a:rPr>
              <a:t>«Quiero un cartel de neón con el nombre del café, para poner en la pared. Más o menos de un metro.»</a:t>
            </a:r>
            <a:endParaRPr lang="en-US" sz="1800" dirty="0"/>
          </a:p>
        </p:txBody>
      </p:sp>
      <p:sp>
        <p:nvSpPr>
          <p:cNvPr id="9" name="Shape 7"/>
          <p:cNvSpPr/>
          <p:nvPr/>
        </p:nvSpPr>
        <p:spPr>
          <a:xfrm>
            <a:off x="3200400" y="3703320"/>
            <a:ext cx="914" cy="411480"/>
          </a:xfrm>
          <a:prstGeom prst="line">
            <a:avLst/>
          </a:prstGeom>
          <a:noFill/>
          <a:ln w="31750">
            <a:solidFill>
              <a:srgbClr val="2B6CB0"/>
            </a:solidFill>
            <a:prstDash val="solid"/>
            <a:tailEnd type="triangle"/>
          </a:ln>
        </p:spPr>
      </p:sp>
      <p:sp>
        <p:nvSpPr>
          <p:cNvPr id="10" name="Text 8"/>
          <p:cNvSpPr txBox="1"/>
          <p:nvPr/>
        </p:nvSpPr>
        <p:spPr>
          <a:xfrm>
            <a:off x="502920" y="3840480"/>
            <a:ext cx="1828800" cy="274320"/>
          </a:xfrm>
          <a:prstGeom prst="rect">
            <a:avLst/>
          </a:prstGeom>
          <a:noFill/>
          <a:ln/>
        </p:spPr>
        <p:txBody>
          <a:bodyPr wrap="square" lIns="0" tIns="0" rIns="0" bIns="0" rtlCol="0" anchor="ctr"/>
          <a:lstStyle/>
          <a:p>
            <a:pPr indent="0" marL="0">
              <a:buNone/>
            </a:pPr>
            <a:r>
              <a:rPr lang="en-US" sz="1200" b="1" spc="200" kern="0" dirty="0">
                <a:solidFill>
                  <a:srgbClr val="2B6CB0"/>
                </a:solidFill>
              </a:rPr>
              <a:t>SALE</a:t>
            </a:r>
            <a:endParaRPr lang="en-US" sz="1200" dirty="0"/>
          </a:p>
        </p:txBody>
      </p:sp>
      <p:sp>
        <p:nvSpPr>
          <p:cNvPr id="11" name="Shape 9"/>
          <p:cNvSpPr/>
          <p:nvPr/>
        </p:nvSpPr>
        <p:spPr>
          <a:xfrm>
            <a:off x="502920" y="4206240"/>
            <a:ext cx="5394960" cy="1325880"/>
          </a:xfrm>
          <a:prstGeom prst="roundRect">
            <a:avLst>
              <a:gd name="adj" fmla="val 5517"/>
            </a:avLst>
          </a:prstGeom>
          <a:solidFill>
            <a:srgbClr val="FFFFFF"/>
          </a:solidFill>
          <a:ln w="25400">
            <a:solidFill>
              <a:srgbClr val="2B6CB0"/>
            </a:solidFill>
            <a:prstDash val="solid"/>
          </a:ln>
        </p:spPr>
      </p:sp>
      <p:sp>
        <p:nvSpPr>
          <p:cNvPr id="12" name="Text 10"/>
          <p:cNvSpPr txBox="1"/>
          <p:nvPr/>
        </p:nvSpPr>
        <p:spPr>
          <a:xfrm>
            <a:off x="731520" y="4251960"/>
            <a:ext cx="4937760" cy="1234440"/>
          </a:xfrm>
          <a:prstGeom prst="rect">
            <a:avLst/>
          </a:prstGeom>
          <a:noFill/>
          <a:ln/>
        </p:spPr>
        <p:txBody>
          <a:bodyPr wrap="square" lIns="0" tIns="0" rIns="0" bIns="0" rtlCol="0" anchor="ctr"/>
          <a:lstStyle/>
          <a:p>
            <a:pPr indent="0" marL="0">
              <a:buNone/>
            </a:pPr>
            <a:r>
              <a:rPr lang="en-US" sz="1800" b="1" dirty="0">
                <a:solidFill>
                  <a:srgbClr val="1A202C"/>
                </a:solidFill>
              </a:rPr>
              <a:t>Primero pregunta cómo se fija. Después: apto, pero hay que dividirlo en partes</a:t>
            </a:r>
            <a:endParaRPr lang="en-US" sz="1800" dirty="0"/>
          </a:p>
        </p:txBody>
      </p:sp>
      <p:sp>
        <p:nvSpPr>
          <p:cNvPr id="13" name="Text 11"/>
          <p:cNvSpPr txBox="1"/>
          <p:nvPr/>
        </p:nvSpPr>
        <p:spPr>
          <a:xfrm>
            <a:off x="6217920" y="1325880"/>
            <a:ext cx="5394960" cy="457200"/>
          </a:xfrm>
          <a:prstGeom prst="rect">
            <a:avLst/>
          </a:prstGeom>
          <a:noFill/>
          <a:ln/>
        </p:spPr>
        <p:txBody>
          <a:bodyPr wrap="square" lIns="0" tIns="0" rIns="0" bIns="0" rtlCol="0" anchor="ctr"/>
          <a:lstStyle/>
          <a:p>
            <a:pPr indent="0" marL="0">
              <a:buNone/>
            </a:pPr>
            <a:r>
              <a:rPr lang="en-US" sz="2300" b="1" dirty="0">
                <a:solidFill>
                  <a:srgbClr val="D9480F"/>
                </a:solidFill>
              </a:rPr>
              <a:t>CU2 · Letras para el frente</a:t>
            </a:r>
            <a:endParaRPr lang="en-US" sz="2300" dirty="0"/>
          </a:p>
        </p:txBody>
      </p:sp>
      <p:sp>
        <p:nvSpPr>
          <p:cNvPr id="14" name="Text 12"/>
          <p:cNvSpPr txBox="1"/>
          <p:nvPr/>
        </p:nvSpPr>
        <p:spPr>
          <a:xfrm>
            <a:off x="6217920" y="1874520"/>
            <a:ext cx="1828800" cy="274320"/>
          </a:xfrm>
          <a:prstGeom prst="rect">
            <a:avLst/>
          </a:prstGeom>
          <a:noFill/>
          <a:ln/>
        </p:spPr>
        <p:txBody>
          <a:bodyPr wrap="square" lIns="0" tIns="0" rIns="0" bIns="0" rtlCol="0" anchor="ctr"/>
          <a:lstStyle/>
          <a:p>
            <a:pPr indent="0" marL="0">
              <a:buNone/>
            </a:pPr>
            <a:r>
              <a:rPr lang="en-US" sz="1200" b="1" spc="200" kern="0" dirty="0">
                <a:solidFill>
                  <a:srgbClr val="8A94A6"/>
                </a:solidFill>
              </a:rPr>
              <a:t>ENTRA</a:t>
            </a:r>
            <a:endParaRPr lang="en-US" sz="1200" dirty="0"/>
          </a:p>
        </p:txBody>
      </p:sp>
      <p:sp>
        <p:nvSpPr>
          <p:cNvPr id="15" name="Shape 13"/>
          <p:cNvSpPr/>
          <p:nvPr/>
        </p:nvSpPr>
        <p:spPr>
          <a:xfrm>
            <a:off x="6217920" y="2194560"/>
            <a:ext cx="5394960" cy="1417320"/>
          </a:xfrm>
          <a:prstGeom prst="roundRect">
            <a:avLst>
              <a:gd name="adj" fmla="val 5161"/>
            </a:avLst>
          </a:prstGeom>
          <a:solidFill>
            <a:srgbClr val="F4F6FA"/>
          </a:solidFill>
          <a:ln w="15875">
            <a:solidFill>
              <a:srgbClr val="F4F6FA"/>
            </a:solidFill>
            <a:prstDash val="solid"/>
          </a:ln>
        </p:spPr>
      </p:sp>
      <p:sp>
        <p:nvSpPr>
          <p:cNvPr id="16" name="Text 14"/>
          <p:cNvSpPr txBox="1"/>
          <p:nvPr/>
        </p:nvSpPr>
        <p:spPr>
          <a:xfrm>
            <a:off x="6446520" y="2240280"/>
            <a:ext cx="4937760" cy="1325880"/>
          </a:xfrm>
          <a:prstGeom prst="rect">
            <a:avLst/>
          </a:prstGeom>
          <a:noFill/>
          <a:ln/>
        </p:spPr>
        <p:txBody>
          <a:bodyPr wrap="square" lIns="0" tIns="0" rIns="0" bIns="0" rtlCol="0" anchor="ctr"/>
          <a:lstStyle/>
          <a:p>
            <a:pPr indent="0" marL="0">
              <a:buNone/>
            </a:pPr>
            <a:r>
              <a:rPr lang="en-US" sz="1800" i="1" dirty="0">
                <a:solidFill>
                  <a:srgbClr val="1A202C"/>
                </a:solidFill>
              </a:rPr>
              <a:t>«Letras corpóreas con luz para el frente que da a la calle. 3 metros. Sí o sí antes de la inauguración.»</a:t>
            </a:r>
            <a:endParaRPr lang="en-US" sz="1800" dirty="0"/>
          </a:p>
        </p:txBody>
      </p:sp>
      <p:sp>
        <p:nvSpPr>
          <p:cNvPr id="17" name="Shape 15"/>
          <p:cNvSpPr/>
          <p:nvPr/>
        </p:nvSpPr>
        <p:spPr>
          <a:xfrm>
            <a:off x="8915400" y="3703320"/>
            <a:ext cx="914" cy="411480"/>
          </a:xfrm>
          <a:prstGeom prst="line">
            <a:avLst/>
          </a:prstGeom>
          <a:noFill/>
          <a:ln w="31750">
            <a:solidFill>
              <a:srgbClr val="D9480F"/>
            </a:solidFill>
            <a:prstDash val="solid"/>
            <a:tailEnd type="triangle"/>
          </a:ln>
        </p:spPr>
      </p:sp>
      <p:sp>
        <p:nvSpPr>
          <p:cNvPr id="18" name="Text 16"/>
          <p:cNvSpPr txBox="1"/>
          <p:nvPr/>
        </p:nvSpPr>
        <p:spPr>
          <a:xfrm>
            <a:off x="6217920" y="3840480"/>
            <a:ext cx="1828800" cy="274320"/>
          </a:xfrm>
          <a:prstGeom prst="rect">
            <a:avLst/>
          </a:prstGeom>
          <a:noFill/>
          <a:ln/>
        </p:spPr>
        <p:txBody>
          <a:bodyPr wrap="square" lIns="0" tIns="0" rIns="0" bIns="0" rtlCol="0" anchor="ctr"/>
          <a:lstStyle/>
          <a:p>
            <a:pPr indent="0" marL="0">
              <a:buNone/>
            </a:pPr>
            <a:r>
              <a:rPr lang="en-US" sz="1200" b="1" spc="200" kern="0" dirty="0">
                <a:solidFill>
                  <a:srgbClr val="D9480F"/>
                </a:solidFill>
              </a:rPr>
              <a:t>SALE</a:t>
            </a:r>
            <a:endParaRPr lang="en-US" sz="1200" dirty="0"/>
          </a:p>
        </p:txBody>
      </p:sp>
      <p:sp>
        <p:nvSpPr>
          <p:cNvPr id="19" name="Shape 17"/>
          <p:cNvSpPr/>
          <p:nvPr/>
        </p:nvSpPr>
        <p:spPr>
          <a:xfrm>
            <a:off x="6217920" y="4206240"/>
            <a:ext cx="5394960" cy="1325880"/>
          </a:xfrm>
          <a:prstGeom prst="roundRect">
            <a:avLst>
              <a:gd name="adj" fmla="val 5517"/>
            </a:avLst>
          </a:prstGeom>
          <a:solidFill>
            <a:srgbClr val="FFFFFF"/>
          </a:solidFill>
          <a:ln w="25400">
            <a:solidFill>
              <a:srgbClr val="D9480F"/>
            </a:solidFill>
            <a:prstDash val="solid"/>
          </a:ln>
        </p:spPr>
      </p:sp>
      <p:sp>
        <p:nvSpPr>
          <p:cNvPr id="20" name="Text 18"/>
          <p:cNvSpPr txBox="1"/>
          <p:nvPr/>
        </p:nvSpPr>
        <p:spPr>
          <a:xfrm>
            <a:off x="6446520" y="4251960"/>
            <a:ext cx="4937760" cy="1234440"/>
          </a:xfrm>
          <a:prstGeom prst="rect">
            <a:avLst/>
          </a:prstGeom>
          <a:noFill/>
          <a:ln/>
        </p:spPr>
        <p:txBody>
          <a:bodyPr wrap="square" lIns="0" tIns="0" rIns="0" bIns="0" rtlCol="0" anchor="ctr"/>
          <a:lstStyle/>
          <a:p>
            <a:pPr indent="0" marL="0">
              <a:buNone/>
            </a:pPr>
            <a:r>
              <a:rPr lang="en-US" sz="1800" b="1" dirty="0">
                <a:solidFill>
                  <a:srgbClr val="1A202C"/>
                </a:solidFill>
              </a:rPr>
              <a:t>Apto con condiciones: material para exterior (PETG), revisar la marquesina y fabricar letra por letra</a:t>
            </a:r>
            <a:endParaRPr lang="en-US" sz="1800" dirty="0"/>
          </a:p>
        </p:txBody>
      </p:sp>
      <p:sp>
        <p:nvSpPr>
          <p:cNvPr id="21" name="Text 19"/>
          <p:cNvSpPr txBox="1"/>
          <p:nvPr/>
        </p:nvSpPr>
        <p:spPr>
          <a:xfrm>
            <a:off x="502920" y="5897880"/>
            <a:ext cx="11155680" cy="365760"/>
          </a:xfrm>
          <a:prstGeom prst="rect">
            <a:avLst/>
          </a:prstGeom>
          <a:noFill/>
          <a:ln/>
        </p:spPr>
        <p:txBody>
          <a:bodyPr wrap="square" lIns="0" tIns="0" rIns="0" bIns="0" rtlCol="0" anchor="ctr"/>
          <a:lstStyle/>
          <a:p>
            <a:pPr indent="0" marL="0">
              <a:buNone/>
            </a:pPr>
            <a:r>
              <a:rPr lang="en-US" sz="1400" dirty="0">
                <a:solidFill>
                  <a:srgbClr val="5A6578"/>
                </a:solidFill>
              </a:rPr>
              <a:t>Corpóreas = letras con volumen · PETG = plástico de impresión 3D que aguanta sol y calor · Los dos casos pasan por los tres submódulos</a:t>
            </a:r>
            <a:endParaRPr lang="en-US" sz="14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CU1 paso a paso: Café Andino</a:t>
            </a:r>
            <a:endParaRPr lang="en-US" sz="3400" dirty="0"/>
          </a:p>
        </p:txBody>
      </p:sp>
      <p:sp>
        <p:nvSpPr>
          <p:cNvPr id="3" name="Shape 1"/>
          <p:cNvSpPr/>
          <p:nvPr/>
        </p:nvSpPr>
        <p:spPr>
          <a:xfrm>
            <a:off x="9921240" y="438912"/>
            <a:ext cx="1783080" cy="457200"/>
          </a:xfrm>
          <a:prstGeom prst="roundRect">
            <a:avLst>
              <a:gd name="adj" fmla="val 50000"/>
            </a:avLst>
          </a:prstGeom>
          <a:solidFill>
            <a:srgbClr val="2B6CB0"/>
          </a:solidFill>
          <a:ln w="12700">
            <a:solidFill>
              <a:srgbClr val="2B6CB0"/>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Matías</a:t>
            </a:r>
            <a:pPr algn="ctr" indent="0" marL="0">
              <a:buNone/>
            </a:pPr>
            <a:r>
              <a:rPr lang="en-US" sz="1400" dirty="0">
                <a:solidFill>
                  <a:srgbClr val="FFFFFF"/>
                </a:solidFill>
              </a:rPr>
              <a:t>  ·  1:00</a:t>
            </a:r>
            <a:endParaRPr lang="en-US" sz="1400" dirty="0"/>
          </a:p>
        </p:txBody>
      </p:sp>
      <p:sp>
        <p:nvSpPr>
          <p:cNvPr id="5" name="Shape 3"/>
          <p:cNvSpPr/>
          <p:nvPr/>
        </p:nvSpPr>
        <p:spPr>
          <a:xfrm>
            <a:off x="1188720" y="1371600"/>
            <a:ext cx="640080" cy="640080"/>
          </a:xfrm>
          <a:prstGeom prst="ellipse">
            <a:avLst/>
          </a:prstGeom>
          <a:solidFill>
            <a:srgbClr val="5A6578"/>
          </a:solidFill>
          <a:ln w="12700">
            <a:solidFill>
              <a:srgbClr val="5A6578"/>
            </a:solidFill>
            <a:prstDash val="solid"/>
          </a:ln>
        </p:spPr>
      </p:sp>
      <p:sp>
        <p:nvSpPr>
          <p:cNvPr id="6" name="Text 4"/>
          <p:cNvSpPr txBox="1"/>
          <p:nvPr/>
        </p:nvSpPr>
        <p:spPr>
          <a:xfrm>
            <a:off x="1188720" y="1371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7" name="Shape 5"/>
          <p:cNvSpPr/>
          <p:nvPr/>
        </p:nvSpPr>
        <p:spPr>
          <a:xfrm>
            <a:off x="502920" y="2240280"/>
            <a:ext cx="2011680" cy="2606040"/>
          </a:xfrm>
          <a:prstGeom prst="roundRect">
            <a:avLst>
              <a:gd name="adj" fmla="val 3636"/>
            </a:avLst>
          </a:prstGeom>
          <a:solidFill>
            <a:srgbClr val="F4F6FA"/>
          </a:solidFill>
          <a:ln w="25400">
            <a:solidFill>
              <a:srgbClr val="5A6578"/>
            </a:solidFill>
            <a:prstDash val="solid"/>
          </a:ln>
        </p:spPr>
      </p:sp>
      <p:sp>
        <p:nvSpPr>
          <p:cNvPr id="8" name="Text 6"/>
          <p:cNvSpPr txBox="1"/>
          <p:nvPr/>
        </p:nvSpPr>
        <p:spPr>
          <a:xfrm>
            <a:off x="612648" y="2377440"/>
            <a:ext cx="1792224" cy="411480"/>
          </a:xfrm>
          <a:prstGeom prst="rect">
            <a:avLst/>
          </a:prstGeom>
          <a:noFill/>
          <a:ln/>
        </p:spPr>
        <p:txBody>
          <a:bodyPr wrap="square" lIns="0" tIns="0" rIns="0" bIns="0" rtlCol="0" anchor="ctr"/>
          <a:lstStyle/>
          <a:p>
            <a:pPr algn="ctr" indent="0" marL="0">
              <a:buNone/>
            </a:pPr>
            <a:r>
              <a:rPr lang="en-US" sz="1800" b="1" dirty="0">
                <a:solidFill>
                  <a:srgbClr val="5A6578"/>
                </a:solidFill>
              </a:rPr>
              <a:t>Entra el pedido</a:t>
            </a:r>
            <a:endParaRPr lang="en-US" sz="1800" dirty="0"/>
          </a:p>
        </p:txBody>
      </p:sp>
      <p:sp>
        <p:nvSpPr>
          <p:cNvPr id="9" name="Text 7"/>
          <p:cNvSpPr txBox="1"/>
          <p:nvPr/>
        </p:nvSpPr>
        <p:spPr>
          <a:xfrm>
            <a:off x="640080" y="2880360"/>
            <a:ext cx="1737360" cy="1463040"/>
          </a:xfrm>
          <a:prstGeom prst="rect">
            <a:avLst/>
          </a:prstGeom>
          <a:noFill/>
          <a:ln/>
        </p:spPr>
        <p:txBody>
          <a:bodyPr wrap="square" lIns="0" tIns="0" rIns="0" bIns="0" rtlCol="0" anchor="t"/>
          <a:lstStyle/>
          <a:p>
            <a:pPr algn="ctr" indent="0" marL="0">
              <a:buNone/>
            </a:pPr>
            <a:r>
              <a:rPr lang="en-US" sz="1700" i="1" dirty="0">
                <a:solidFill>
                  <a:srgbClr val="1A202C"/>
                </a:solidFill>
              </a:rPr>
              <a:t>«neón con el nombre del café, para la pared, de un metro»</a:t>
            </a:r>
            <a:endParaRPr lang="en-US" sz="1700" dirty="0"/>
          </a:p>
        </p:txBody>
      </p:sp>
      <p:sp>
        <p:nvSpPr>
          <p:cNvPr id="10" name="Shape 8"/>
          <p:cNvSpPr/>
          <p:nvPr/>
        </p:nvSpPr>
        <p:spPr>
          <a:xfrm>
            <a:off x="2542032" y="3520440"/>
            <a:ext cx="219456" cy="914"/>
          </a:xfrm>
          <a:prstGeom prst="line">
            <a:avLst/>
          </a:prstGeom>
          <a:noFill/>
          <a:ln w="25400">
            <a:solidFill>
              <a:srgbClr val="1A202C"/>
            </a:solidFill>
            <a:prstDash val="solid"/>
            <a:tailEnd type="triangle"/>
          </a:ln>
        </p:spPr>
      </p:sp>
      <p:sp>
        <p:nvSpPr>
          <p:cNvPr id="11" name="Shape 9"/>
          <p:cNvSpPr/>
          <p:nvPr/>
        </p:nvSpPr>
        <p:spPr>
          <a:xfrm>
            <a:off x="3474720" y="1371600"/>
            <a:ext cx="640080" cy="640080"/>
          </a:xfrm>
          <a:prstGeom prst="ellipse">
            <a:avLst/>
          </a:prstGeom>
          <a:solidFill>
            <a:srgbClr val="2B6CB0"/>
          </a:solidFill>
          <a:ln w="12700">
            <a:solidFill>
              <a:srgbClr val="2B6CB0"/>
            </a:solidFill>
            <a:prstDash val="solid"/>
          </a:ln>
        </p:spPr>
      </p:sp>
      <p:sp>
        <p:nvSpPr>
          <p:cNvPr id="12" name="Text 10"/>
          <p:cNvSpPr txBox="1"/>
          <p:nvPr/>
        </p:nvSpPr>
        <p:spPr>
          <a:xfrm>
            <a:off x="3474720" y="1371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3" name="Shape 11"/>
          <p:cNvSpPr/>
          <p:nvPr/>
        </p:nvSpPr>
        <p:spPr>
          <a:xfrm>
            <a:off x="2788920" y="2240280"/>
            <a:ext cx="2011680" cy="2606040"/>
          </a:xfrm>
          <a:prstGeom prst="roundRect">
            <a:avLst>
              <a:gd name="adj" fmla="val 3636"/>
            </a:avLst>
          </a:prstGeom>
          <a:solidFill>
            <a:srgbClr val="FFFFFF"/>
          </a:solidFill>
          <a:ln w="25400">
            <a:solidFill>
              <a:srgbClr val="2B6CB0"/>
            </a:solidFill>
            <a:prstDash val="solid"/>
          </a:ln>
        </p:spPr>
      </p:sp>
      <p:sp>
        <p:nvSpPr>
          <p:cNvPr id="14" name="Text 12"/>
          <p:cNvSpPr txBox="1"/>
          <p:nvPr/>
        </p:nvSpPr>
        <p:spPr>
          <a:xfrm>
            <a:off x="2898648" y="2377440"/>
            <a:ext cx="1792224" cy="411480"/>
          </a:xfrm>
          <a:prstGeom prst="rect">
            <a:avLst/>
          </a:prstGeom>
          <a:noFill/>
          <a:ln/>
        </p:spPr>
        <p:txBody>
          <a:bodyPr wrap="square" lIns="0" tIns="0" rIns="0" bIns="0" rtlCol="0" anchor="ctr"/>
          <a:lstStyle/>
          <a:p>
            <a:pPr algn="ctr" indent="0" marL="0">
              <a:buNone/>
            </a:pPr>
            <a:r>
              <a:rPr lang="en-US" sz="1800" b="1" dirty="0">
                <a:solidFill>
                  <a:srgbClr val="2B6CB0"/>
                </a:solidFill>
              </a:rPr>
              <a:t>Interpretación</a:t>
            </a:r>
            <a:endParaRPr lang="en-US" sz="1800" dirty="0"/>
          </a:p>
        </p:txBody>
      </p:sp>
      <p:sp>
        <p:nvSpPr>
          <p:cNvPr id="15" name="Text 13"/>
          <p:cNvSpPr txBox="1"/>
          <p:nvPr/>
        </p:nvSpPr>
        <p:spPr>
          <a:xfrm>
            <a:off x="2926080" y="2880360"/>
            <a:ext cx="1737360" cy="1463040"/>
          </a:xfrm>
          <a:prstGeom prst="rect">
            <a:avLst/>
          </a:prstGeom>
          <a:noFill/>
          <a:ln/>
        </p:spPr>
        <p:txBody>
          <a:bodyPr wrap="square" lIns="0" tIns="0" rIns="0" bIns="0" rtlCol="0" anchor="t"/>
          <a:lstStyle/>
          <a:p>
            <a:pPr algn="ctr" indent="0" marL="0">
              <a:buNone/>
            </a:pPr>
            <a:r>
              <a:rPr lang="en-US" sz="1700" dirty="0">
                <a:solidFill>
                  <a:srgbClr val="1A202C"/>
                </a:solidFill>
              </a:rPr>
              <a:t>¿Adentro o afuera? ¿Cómo se fija? → le pregunta al cliente</a:t>
            </a:r>
            <a:endParaRPr lang="en-US" sz="1700" dirty="0"/>
          </a:p>
        </p:txBody>
      </p:sp>
      <p:sp>
        <p:nvSpPr>
          <p:cNvPr id="16" name="Text 14"/>
          <p:cNvSpPr txBox="1"/>
          <p:nvPr/>
        </p:nvSpPr>
        <p:spPr>
          <a:xfrm>
            <a:off x="2898648" y="4407408"/>
            <a:ext cx="1792224" cy="320040"/>
          </a:xfrm>
          <a:prstGeom prst="rect">
            <a:avLst/>
          </a:prstGeom>
          <a:noFill/>
          <a:ln/>
        </p:spPr>
        <p:txBody>
          <a:bodyPr wrap="square" lIns="0" tIns="0" rIns="0" bIns="0" rtlCol="0" anchor="ctr"/>
          <a:lstStyle/>
          <a:p>
            <a:pPr algn="ctr" indent="0" marL="0">
              <a:buNone/>
            </a:pPr>
            <a:r>
              <a:rPr lang="en-US" sz="1300" dirty="0">
                <a:solidFill>
                  <a:srgbClr val="8A94A6"/>
                </a:solidFill>
              </a:rPr>
              <a:t>INT-R01 · INT-R02</a:t>
            </a:r>
            <a:endParaRPr lang="en-US" sz="1300" dirty="0"/>
          </a:p>
        </p:txBody>
      </p:sp>
      <p:sp>
        <p:nvSpPr>
          <p:cNvPr id="17" name="Shape 15"/>
          <p:cNvSpPr/>
          <p:nvPr/>
        </p:nvSpPr>
        <p:spPr>
          <a:xfrm>
            <a:off x="4828032" y="3520440"/>
            <a:ext cx="219456" cy="914"/>
          </a:xfrm>
          <a:prstGeom prst="line">
            <a:avLst/>
          </a:prstGeom>
          <a:noFill/>
          <a:ln w="25400">
            <a:solidFill>
              <a:srgbClr val="1A202C"/>
            </a:solidFill>
            <a:prstDash val="solid"/>
            <a:tailEnd type="triangle"/>
          </a:ln>
        </p:spPr>
      </p:sp>
      <p:sp>
        <p:nvSpPr>
          <p:cNvPr id="18" name="Shape 16"/>
          <p:cNvSpPr/>
          <p:nvPr/>
        </p:nvSpPr>
        <p:spPr>
          <a:xfrm>
            <a:off x="5760720" y="1371600"/>
            <a:ext cx="640080" cy="640080"/>
          </a:xfrm>
          <a:prstGeom prst="ellipse">
            <a:avLst/>
          </a:prstGeom>
          <a:solidFill>
            <a:srgbClr val="2A9D8F"/>
          </a:solidFill>
          <a:ln w="12700">
            <a:solidFill>
              <a:srgbClr val="2A9D8F"/>
            </a:solidFill>
            <a:prstDash val="solid"/>
          </a:ln>
        </p:spPr>
      </p:sp>
      <p:sp>
        <p:nvSpPr>
          <p:cNvPr id="19" name="Text 17"/>
          <p:cNvSpPr txBox="1"/>
          <p:nvPr/>
        </p:nvSpPr>
        <p:spPr>
          <a:xfrm>
            <a:off x="5760720" y="1371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20" name="Shape 18"/>
          <p:cNvSpPr/>
          <p:nvPr/>
        </p:nvSpPr>
        <p:spPr>
          <a:xfrm>
            <a:off x="5074920" y="2240280"/>
            <a:ext cx="2011680" cy="2606040"/>
          </a:xfrm>
          <a:prstGeom prst="roundRect">
            <a:avLst>
              <a:gd name="adj" fmla="val 3636"/>
            </a:avLst>
          </a:prstGeom>
          <a:solidFill>
            <a:srgbClr val="FFFFFF"/>
          </a:solidFill>
          <a:ln w="25400">
            <a:solidFill>
              <a:srgbClr val="2A9D8F"/>
            </a:solidFill>
            <a:prstDash val="solid"/>
          </a:ln>
        </p:spPr>
      </p:sp>
      <p:sp>
        <p:nvSpPr>
          <p:cNvPr id="21" name="Text 19"/>
          <p:cNvSpPr txBox="1"/>
          <p:nvPr/>
        </p:nvSpPr>
        <p:spPr>
          <a:xfrm>
            <a:off x="5184648" y="2377440"/>
            <a:ext cx="1792224" cy="411480"/>
          </a:xfrm>
          <a:prstGeom prst="rect">
            <a:avLst/>
          </a:prstGeom>
          <a:noFill/>
          <a:ln/>
        </p:spPr>
        <p:txBody>
          <a:bodyPr wrap="square" lIns="0" tIns="0" rIns="0" bIns="0" rtlCol="0" anchor="ctr"/>
          <a:lstStyle/>
          <a:p>
            <a:pPr algn="ctr" indent="0" marL="0">
              <a:buNone/>
            </a:pPr>
            <a:r>
              <a:rPr lang="en-US" sz="1800" b="1" dirty="0">
                <a:solidFill>
                  <a:srgbClr val="2A9D8F"/>
                </a:solidFill>
              </a:rPr>
              <a:t>Materiales</a:t>
            </a:r>
            <a:endParaRPr lang="en-US" sz="1800" dirty="0"/>
          </a:p>
        </p:txBody>
      </p:sp>
      <p:sp>
        <p:nvSpPr>
          <p:cNvPr id="22" name="Text 20"/>
          <p:cNvSpPr txBox="1"/>
          <p:nvPr/>
        </p:nvSpPr>
        <p:spPr>
          <a:xfrm>
            <a:off x="5212080" y="2880360"/>
            <a:ext cx="1737360" cy="1463040"/>
          </a:xfrm>
          <a:prstGeom prst="rect">
            <a:avLst/>
          </a:prstGeom>
          <a:noFill/>
          <a:ln/>
        </p:spPr>
        <p:txBody>
          <a:bodyPr wrap="square" lIns="0" tIns="0" rIns="0" bIns="0" rtlCol="0" anchor="t"/>
          <a:lstStyle/>
          <a:p>
            <a:pPr algn="ctr" indent="0" marL="0">
              <a:buNone/>
            </a:pPr>
            <a:r>
              <a:rPr lang="en-US" sz="1700" dirty="0">
                <a:solidFill>
                  <a:srgbClr val="1A202C"/>
                </a:solidFill>
              </a:rPr>
              <a:t>Sin saber cómo se fija no se evalúa. Con la respuesta*: interior → apto</a:t>
            </a:r>
            <a:endParaRPr lang="en-US" sz="1700" dirty="0"/>
          </a:p>
        </p:txBody>
      </p:sp>
      <p:sp>
        <p:nvSpPr>
          <p:cNvPr id="23" name="Text 21"/>
          <p:cNvSpPr txBox="1"/>
          <p:nvPr/>
        </p:nvSpPr>
        <p:spPr>
          <a:xfrm>
            <a:off x="5184648" y="4407408"/>
            <a:ext cx="1792224" cy="320040"/>
          </a:xfrm>
          <a:prstGeom prst="rect">
            <a:avLst/>
          </a:prstGeom>
          <a:noFill/>
          <a:ln/>
        </p:spPr>
        <p:txBody>
          <a:bodyPr wrap="square" lIns="0" tIns="0" rIns="0" bIns="0" rtlCol="0" anchor="ctr"/>
          <a:lstStyle/>
          <a:p>
            <a:pPr algn="ctr" indent="0" marL="0">
              <a:buNone/>
            </a:pPr>
            <a:r>
              <a:rPr lang="en-US" sz="1300" dirty="0">
                <a:solidFill>
                  <a:srgbClr val="8A94A6"/>
                </a:solidFill>
              </a:rPr>
              <a:t>R-MI-01 · R-MI-10</a:t>
            </a:r>
            <a:endParaRPr lang="en-US" sz="1300" dirty="0"/>
          </a:p>
        </p:txBody>
      </p:sp>
      <p:sp>
        <p:nvSpPr>
          <p:cNvPr id="24" name="Shape 22"/>
          <p:cNvSpPr/>
          <p:nvPr/>
        </p:nvSpPr>
        <p:spPr>
          <a:xfrm>
            <a:off x="7114032" y="3520440"/>
            <a:ext cx="219456" cy="914"/>
          </a:xfrm>
          <a:prstGeom prst="line">
            <a:avLst/>
          </a:prstGeom>
          <a:noFill/>
          <a:ln w="25400">
            <a:solidFill>
              <a:srgbClr val="1A202C"/>
            </a:solidFill>
            <a:prstDash val="solid"/>
            <a:tailEnd type="triangle"/>
          </a:ln>
        </p:spPr>
      </p:sp>
      <p:sp>
        <p:nvSpPr>
          <p:cNvPr id="25" name="Shape 23"/>
          <p:cNvSpPr/>
          <p:nvPr/>
        </p:nvSpPr>
        <p:spPr>
          <a:xfrm>
            <a:off x="8046720" y="1371600"/>
            <a:ext cx="640080" cy="640080"/>
          </a:xfrm>
          <a:prstGeom prst="ellipse">
            <a:avLst/>
          </a:prstGeom>
          <a:solidFill>
            <a:srgbClr val="D9480F"/>
          </a:solidFill>
          <a:ln w="12700">
            <a:solidFill>
              <a:srgbClr val="D9480F"/>
            </a:solidFill>
            <a:prstDash val="solid"/>
          </a:ln>
        </p:spPr>
      </p:sp>
      <p:sp>
        <p:nvSpPr>
          <p:cNvPr id="26" name="Text 24"/>
          <p:cNvSpPr txBox="1"/>
          <p:nvPr/>
        </p:nvSpPr>
        <p:spPr>
          <a:xfrm>
            <a:off x="8046720" y="1371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7" name="Shape 25"/>
          <p:cNvSpPr/>
          <p:nvPr/>
        </p:nvSpPr>
        <p:spPr>
          <a:xfrm>
            <a:off x="7360920" y="2240280"/>
            <a:ext cx="2011680" cy="2606040"/>
          </a:xfrm>
          <a:prstGeom prst="roundRect">
            <a:avLst>
              <a:gd name="adj" fmla="val 3636"/>
            </a:avLst>
          </a:prstGeom>
          <a:solidFill>
            <a:srgbClr val="FFFFFF"/>
          </a:solidFill>
          <a:ln w="25400">
            <a:solidFill>
              <a:srgbClr val="D9480F"/>
            </a:solidFill>
            <a:prstDash val="solid"/>
          </a:ln>
        </p:spPr>
      </p:sp>
      <p:sp>
        <p:nvSpPr>
          <p:cNvPr id="28" name="Text 26"/>
          <p:cNvSpPr txBox="1"/>
          <p:nvPr/>
        </p:nvSpPr>
        <p:spPr>
          <a:xfrm>
            <a:off x="7470648" y="2377440"/>
            <a:ext cx="1792224" cy="411480"/>
          </a:xfrm>
          <a:prstGeom prst="rect">
            <a:avLst/>
          </a:prstGeom>
          <a:noFill/>
          <a:ln/>
        </p:spPr>
        <p:txBody>
          <a:bodyPr wrap="square" lIns="0" tIns="0" rIns="0" bIns="0" rtlCol="0" anchor="ctr"/>
          <a:lstStyle/>
          <a:p>
            <a:pPr algn="ctr" indent="0" marL="0">
              <a:buNone/>
            </a:pPr>
            <a:r>
              <a:rPr lang="en-US" sz="1800" b="1" dirty="0">
                <a:solidFill>
                  <a:srgbClr val="D9480F"/>
                </a:solidFill>
              </a:rPr>
              <a:t>Fabricación</a:t>
            </a:r>
            <a:endParaRPr lang="en-US" sz="1800" dirty="0"/>
          </a:p>
        </p:txBody>
      </p:sp>
      <p:sp>
        <p:nvSpPr>
          <p:cNvPr id="29" name="Text 27"/>
          <p:cNvSpPr txBox="1"/>
          <p:nvPr/>
        </p:nvSpPr>
        <p:spPr>
          <a:xfrm>
            <a:off x="7498080" y="2880360"/>
            <a:ext cx="1737360" cy="1463040"/>
          </a:xfrm>
          <a:prstGeom prst="rect">
            <a:avLst/>
          </a:prstGeom>
          <a:noFill/>
          <a:ln/>
        </p:spPr>
        <p:txBody>
          <a:bodyPr wrap="square" lIns="0" tIns="0" rIns="0" bIns="0" rtlCol="0" anchor="t"/>
          <a:lstStyle/>
          <a:p>
            <a:pPr algn="ctr" indent="0" marL="0">
              <a:buNone/>
            </a:pPr>
            <a:r>
              <a:rPr lang="en-US" sz="1700" dirty="0">
                <a:solidFill>
                  <a:srgbClr val="1A202C"/>
                </a:solidFill>
              </a:rPr>
              <a:t>1 m no entra en la impresora 3D (máx. 40 cm)</a:t>
            </a:r>
            <a:endParaRPr lang="en-US" sz="1700" dirty="0"/>
          </a:p>
        </p:txBody>
      </p:sp>
      <p:sp>
        <p:nvSpPr>
          <p:cNvPr id="30" name="Text 28"/>
          <p:cNvSpPr txBox="1"/>
          <p:nvPr/>
        </p:nvSpPr>
        <p:spPr>
          <a:xfrm>
            <a:off x="7470648" y="4407408"/>
            <a:ext cx="1792224" cy="320040"/>
          </a:xfrm>
          <a:prstGeom prst="rect">
            <a:avLst/>
          </a:prstGeom>
          <a:noFill/>
          <a:ln/>
        </p:spPr>
        <p:txBody>
          <a:bodyPr wrap="square" lIns="0" tIns="0" rIns="0" bIns="0" rtlCol="0" anchor="ctr"/>
          <a:lstStyle/>
          <a:p>
            <a:pPr algn="ctr" indent="0" marL="0">
              <a:buNone/>
            </a:pPr>
            <a:r>
              <a:rPr lang="en-US" sz="1300" dirty="0">
                <a:solidFill>
                  <a:srgbClr val="8A94A6"/>
                </a:solidFill>
              </a:rPr>
              <a:t>MAN-R3</a:t>
            </a:r>
            <a:endParaRPr lang="en-US" sz="1300" dirty="0"/>
          </a:p>
        </p:txBody>
      </p:sp>
      <p:sp>
        <p:nvSpPr>
          <p:cNvPr id="31" name="Shape 29"/>
          <p:cNvSpPr/>
          <p:nvPr/>
        </p:nvSpPr>
        <p:spPr>
          <a:xfrm>
            <a:off x="9400032" y="3520440"/>
            <a:ext cx="219456" cy="914"/>
          </a:xfrm>
          <a:prstGeom prst="line">
            <a:avLst/>
          </a:prstGeom>
          <a:noFill/>
          <a:ln w="25400">
            <a:solidFill>
              <a:srgbClr val="1A202C"/>
            </a:solidFill>
            <a:prstDash val="solid"/>
            <a:tailEnd type="triangle"/>
          </a:ln>
        </p:spPr>
      </p:sp>
      <p:sp>
        <p:nvSpPr>
          <p:cNvPr id="32" name="Shape 30"/>
          <p:cNvSpPr/>
          <p:nvPr/>
        </p:nvSpPr>
        <p:spPr>
          <a:xfrm>
            <a:off x="10332720" y="1371600"/>
            <a:ext cx="640080" cy="640080"/>
          </a:xfrm>
          <a:prstGeom prst="ellipse">
            <a:avLst/>
          </a:prstGeom>
          <a:solidFill>
            <a:srgbClr val="6B46C1"/>
          </a:solidFill>
          <a:ln w="12700">
            <a:solidFill>
              <a:srgbClr val="6B46C1"/>
            </a:solidFill>
            <a:prstDash val="solid"/>
          </a:ln>
        </p:spPr>
      </p:sp>
      <p:sp>
        <p:nvSpPr>
          <p:cNvPr id="33" name="Text 31"/>
          <p:cNvSpPr txBox="1"/>
          <p:nvPr/>
        </p:nvSpPr>
        <p:spPr>
          <a:xfrm>
            <a:off x="10332720" y="1371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34" name="Shape 32"/>
          <p:cNvSpPr/>
          <p:nvPr/>
        </p:nvSpPr>
        <p:spPr>
          <a:xfrm>
            <a:off x="9646920" y="2240280"/>
            <a:ext cx="2011680" cy="2606040"/>
          </a:xfrm>
          <a:prstGeom prst="roundRect">
            <a:avLst>
              <a:gd name="adj" fmla="val 3636"/>
            </a:avLst>
          </a:prstGeom>
          <a:solidFill>
            <a:srgbClr val="FFFFFF"/>
          </a:solidFill>
          <a:ln w="25400">
            <a:solidFill>
              <a:srgbClr val="6B46C1"/>
            </a:solidFill>
            <a:prstDash val="solid"/>
          </a:ln>
        </p:spPr>
      </p:sp>
      <p:sp>
        <p:nvSpPr>
          <p:cNvPr id="35" name="Text 33"/>
          <p:cNvSpPr txBox="1"/>
          <p:nvPr/>
        </p:nvSpPr>
        <p:spPr>
          <a:xfrm>
            <a:off x="9756648" y="2377440"/>
            <a:ext cx="1792224" cy="411480"/>
          </a:xfrm>
          <a:prstGeom prst="rect">
            <a:avLst/>
          </a:prstGeom>
          <a:noFill/>
          <a:ln/>
        </p:spPr>
        <p:txBody>
          <a:bodyPr wrap="square" lIns="0" tIns="0" rIns="0" bIns="0" rtlCol="0" anchor="ctr"/>
          <a:lstStyle/>
          <a:p>
            <a:pPr algn="ctr" indent="0" marL="0">
              <a:buNone/>
            </a:pPr>
            <a:r>
              <a:rPr lang="en-US" sz="1800" b="1" dirty="0">
                <a:solidFill>
                  <a:srgbClr val="6B46C1"/>
                </a:solidFill>
              </a:rPr>
              <a:t>Recomendación</a:t>
            </a:r>
            <a:endParaRPr lang="en-US" sz="1800" dirty="0"/>
          </a:p>
        </p:txBody>
      </p:sp>
      <p:sp>
        <p:nvSpPr>
          <p:cNvPr id="36" name="Text 34"/>
          <p:cNvSpPr txBox="1"/>
          <p:nvPr/>
        </p:nvSpPr>
        <p:spPr>
          <a:xfrm>
            <a:off x="9784080" y="2880360"/>
            <a:ext cx="1737360" cy="1463040"/>
          </a:xfrm>
          <a:prstGeom prst="rect">
            <a:avLst/>
          </a:prstGeom>
          <a:noFill/>
          <a:ln/>
        </p:spPr>
        <p:txBody>
          <a:bodyPr wrap="square" lIns="0" tIns="0" rIns="0" bIns="0" rtlCol="0" anchor="t"/>
          <a:lstStyle/>
          <a:p>
            <a:pPr algn="ctr" indent="0" marL="0">
              <a:buNone/>
            </a:pPr>
            <a:r>
              <a:rPr lang="en-US" sz="1700" dirty="0">
                <a:solidFill>
                  <a:srgbClr val="1A202C"/>
                </a:solidFill>
              </a:rPr>
              <a:t>Dividir en módulos y reforzar la unión → decide el fabricante</a:t>
            </a:r>
            <a:endParaRPr lang="en-US" sz="1700" dirty="0"/>
          </a:p>
        </p:txBody>
      </p:sp>
      <p:sp>
        <p:nvSpPr>
          <p:cNvPr id="37" name="Text 35"/>
          <p:cNvSpPr txBox="1"/>
          <p:nvPr/>
        </p:nvSpPr>
        <p:spPr>
          <a:xfrm>
            <a:off x="502920" y="5166360"/>
            <a:ext cx="11155680" cy="320040"/>
          </a:xfrm>
          <a:prstGeom prst="rect">
            <a:avLst/>
          </a:prstGeom>
          <a:noFill/>
          <a:ln/>
        </p:spPr>
        <p:txBody>
          <a:bodyPr wrap="square" lIns="0" tIns="0" rIns="0" bIns="0" rtlCol="0" anchor="ctr"/>
          <a:lstStyle/>
          <a:p>
            <a:pPr indent="0" marL="0">
              <a:buNone/>
            </a:pPr>
            <a:r>
              <a:rPr lang="en-US" sz="1500" i="1" dirty="0">
                <a:solidFill>
                  <a:srgbClr val="5A6578"/>
                </a:solidFill>
              </a:rPr>
              <a:t>* La respuesta del cliente sobre la pared es un dato de prueba simulado (está marcado así en el grafo).</a:t>
            </a:r>
            <a:endParaRPr lang="en-US" sz="15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Cómo lo construimos: 5 pasos</a:t>
            </a:r>
            <a:endParaRPr lang="en-US" sz="3400" dirty="0"/>
          </a:p>
        </p:txBody>
      </p:sp>
      <p:sp>
        <p:nvSpPr>
          <p:cNvPr id="3" name="Shape 1"/>
          <p:cNvSpPr/>
          <p:nvPr/>
        </p:nvSpPr>
        <p:spPr>
          <a:xfrm>
            <a:off x="9921240" y="438912"/>
            <a:ext cx="1783080" cy="457200"/>
          </a:xfrm>
          <a:prstGeom prst="roundRect">
            <a:avLst>
              <a:gd name="adj" fmla="val 50000"/>
            </a:avLst>
          </a:prstGeom>
          <a:solidFill>
            <a:srgbClr val="2A9D8F"/>
          </a:solidFill>
          <a:ln w="12700">
            <a:solidFill>
              <a:srgbClr val="2A9D8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Lautaro</a:t>
            </a:r>
            <a:pPr algn="ctr" indent="0" marL="0">
              <a:buNone/>
            </a:pPr>
            <a:r>
              <a:rPr lang="en-US" sz="1400" dirty="0">
                <a:solidFill>
                  <a:srgbClr val="FFFFFF"/>
                </a:solidFill>
              </a:rPr>
              <a:t>  ·  0:45</a:t>
            </a:r>
            <a:endParaRPr lang="en-US" sz="1400" dirty="0"/>
          </a:p>
        </p:txBody>
      </p:sp>
      <p:sp>
        <p:nvSpPr>
          <p:cNvPr id="5" name="Shape 3"/>
          <p:cNvSpPr/>
          <p:nvPr/>
        </p:nvSpPr>
        <p:spPr>
          <a:xfrm>
            <a:off x="502920" y="1463040"/>
            <a:ext cx="2011680" cy="2834640"/>
          </a:xfrm>
          <a:prstGeom prst="roundRect">
            <a:avLst>
              <a:gd name="adj" fmla="val 3636"/>
            </a:avLst>
          </a:prstGeom>
          <a:solidFill>
            <a:srgbClr val="F4F6FA"/>
          </a:solidFill>
          <a:ln w="19050">
            <a:solidFill>
              <a:srgbClr val="CBD5E0"/>
            </a:solidFill>
            <a:prstDash val="solid"/>
          </a:ln>
        </p:spPr>
      </p:sp>
      <p:sp>
        <p:nvSpPr>
          <p:cNvPr id="6" name="Shape 4"/>
          <p:cNvSpPr/>
          <p:nvPr/>
        </p:nvSpPr>
        <p:spPr>
          <a:xfrm>
            <a:off x="685800" y="1645920"/>
            <a:ext cx="548640" cy="548640"/>
          </a:xfrm>
          <a:prstGeom prst="ellipse">
            <a:avLst/>
          </a:prstGeom>
          <a:solidFill>
            <a:srgbClr val="1A202C"/>
          </a:solidFill>
          <a:ln w="12700">
            <a:solidFill>
              <a:srgbClr val="1A202C"/>
            </a:solidFill>
            <a:prstDash val="solid"/>
          </a:ln>
        </p:spPr>
      </p:sp>
      <p:sp>
        <p:nvSpPr>
          <p:cNvPr id="7" name="Text 5"/>
          <p:cNvSpPr txBox="1"/>
          <p:nvPr/>
        </p:nvSpPr>
        <p:spPr>
          <a:xfrm>
            <a:off x="68580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txBox="1"/>
          <p:nvPr/>
        </p:nvSpPr>
        <p:spPr>
          <a:xfrm>
            <a:off x="1417320" y="1645920"/>
            <a:ext cx="914400" cy="548640"/>
          </a:xfrm>
          <a:prstGeom prst="rect">
            <a:avLst/>
          </a:prstGeom>
          <a:noFill/>
          <a:ln/>
        </p:spPr>
        <p:txBody>
          <a:bodyPr wrap="square" lIns="0" tIns="0" rIns="0" bIns="0" rtlCol="0" anchor="ctr"/>
          <a:lstStyle/>
          <a:p>
            <a:pPr algn="r" indent="0" marL="0">
              <a:buNone/>
            </a:pPr>
            <a:r>
              <a:rPr lang="en-US" sz="1400" b="1" dirty="0">
                <a:solidFill>
                  <a:srgbClr val="5A6578"/>
                </a:solidFill>
              </a:rPr>
              <a:t>PI1</a:t>
            </a:r>
            <a:endParaRPr lang="en-US" sz="1400" dirty="0"/>
          </a:p>
        </p:txBody>
      </p:sp>
      <p:sp>
        <p:nvSpPr>
          <p:cNvPr id="9" name="Text 7"/>
          <p:cNvSpPr txBox="1"/>
          <p:nvPr/>
        </p:nvSpPr>
        <p:spPr>
          <a:xfrm>
            <a:off x="685800" y="2423160"/>
            <a:ext cx="1737360" cy="457200"/>
          </a:xfrm>
          <a:prstGeom prst="rect">
            <a:avLst/>
          </a:prstGeom>
          <a:noFill/>
          <a:ln/>
        </p:spPr>
        <p:txBody>
          <a:bodyPr wrap="square" lIns="0" tIns="0" rIns="0" bIns="0" rtlCol="0" anchor="ctr"/>
          <a:lstStyle/>
          <a:p>
            <a:pPr indent="0" marL="0">
              <a:buNone/>
            </a:pPr>
            <a:r>
              <a:rPr lang="en-US" sz="2100" b="1" dirty="0">
                <a:solidFill>
                  <a:srgbClr val="1A202C"/>
                </a:solidFill>
              </a:rPr>
              <a:t>Experto</a:t>
            </a:r>
            <a:endParaRPr lang="en-US" sz="2100" dirty="0"/>
          </a:p>
        </p:txBody>
      </p:sp>
      <p:sp>
        <p:nvSpPr>
          <p:cNvPr id="10" name="Text 8"/>
          <p:cNvSpPr txBox="1"/>
          <p:nvPr/>
        </p:nvSpPr>
        <p:spPr>
          <a:xfrm>
            <a:off x="685800" y="2926080"/>
            <a:ext cx="1645920" cy="1188720"/>
          </a:xfrm>
          <a:prstGeom prst="rect">
            <a:avLst/>
          </a:prstGeom>
          <a:noFill/>
          <a:ln/>
        </p:spPr>
        <p:txBody>
          <a:bodyPr wrap="square" lIns="0" tIns="0" rIns="0" bIns="0" rtlCol="0" anchor="t"/>
          <a:lstStyle/>
          <a:p>
            <a:pPr indent="0" marL="0">
              <a:buNone/>
            </a:pPr>
            <a:r>
              <a:rPr lang="en-US" sz="1700" dirty="0">
                <a:solidFill>
                  <a:srgbClr val="1A202C"/>
                </a:solidFill>
              </a:rPr>
              <a:t>Entrevistas con Luciano: cómo decide</a:t>
            </a:r>
            <a:endParaRPr lang="en-US" sz="1700" dirty="0"/>
          </a:p>
        </p:txBody>
      </p:sp>
      <p:sp>
        <p:nvSpPr>
          <p:cNvPr id="11" name="Shape 9"/>
          <p:cNvSpPr/>
          <p:nvPr/>
        </p:nvSpPr>
        <p:spPr>
          <a:xfrm>
            <a:off x="2542032" y="2880360"/>
            <a:ext cx="219456" cy="914"/>
          </a:xfrm>
          <a:prstGeom prst="line">
            <a:avLst/>
          </a:prstGeom>
          <a:noFill/>
          <a:ln w="25400">
            <a:solidFill>
              <a:srgbClr val="1A202C"/>
            </a:solidFill>
            <a:prstDash val="solid"/>
            <a:tailEnd type="triangle"/>
          </a:ln>
        </p:spPr>
      </p:sp>
      <p:sp>
        <p:nvSpPr>
          <p:cNvPr id="12" name="Shape 10"/>
          <p:cNvSpPr/>
          <p:nvPr/>
        </p:nvSpPr>
        <p:spPr>
          <a:xfrm>
            <a:off x="2788920" y="1463040"/>
            <a:ext cx="2011680" cy="2834640"/>
          </a:xfrm>
          <a:prstGeom prst="roundRect">
            <a:avLst>
              <a:gd name="adj" fmla="val 3636"/>
            </a:avLst>
          </a:prstGeom>
          <a:solidFill>
            <a:srgbClr val="F4F6FA"/>
          </a:solidFill>
          <a:ln w="19050">
            <a:solidFill>
              <a:srgbClr val="CBD5E0"/>
            </a:solidFill>
            <a:prstDash val="solid"/>
          </a:ln>
        </p:spPr>
      </p:sp>
      <p:sp>
        <p:nvSpPr>
          <p:cNvPr id="13" name="Shape 11"/>
          <p:cNvSpPr/>
          <p:nvPr/>
        </p:nvSpPr>
        <p:spPr>
          <a:xfrm>
            <a:off x="2971800" y="1645920"/>
            <a:ext cx="548640" cy="548640"/>
          </a:xfrm>
          <a:prstGeom prst="ellipse">
            <a:avLst/>
          </a:prstGeom>
          <a:solidFill>
            <a:srgbClr val="1A202C"/>
          </a:solidFill>
          <a:ln w="12700">
            <a:solidFill>
              <a:srgbClr val="1A202C"/>
            </a:solidFill>
            <a:prstDash val="solid"/>
          </a:ln>
        </p:spPr>
      </p:sp>
      <p:sp>
        <p:nvSpPr>
          <p:cNvPr id="14" name="Text 12"/>
          <p:cNvSpPr txBox="1"/>
          <p:nvPr/>
        </p:nvSpPr>
        <p:spPr>
          <a:xfrm>
            <a:off x="297180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5" name="Text 13"/>
          <p:cNvSpPr txBox="1"/>
          <p:nvPr/>
        </p:nvSpPr>
        <p:spPr>
          <a:xfrm>
            <a:off x="3703320" y="1645920"/>
            <a:ext cx="914400" cy="548640"/>
          </a:xfrm>
          <a:prstGeom prst="rect">
            <a:avLst/>
          </a:prstGeom>
          <a:noFill/>
          <a:ln/>
        </p:spPr>
        <p:txBody>
          <a:bodyPr wrap="square" lIns="0" tIns="0" rIns="0" bIns="0" rtlCol="0" anchor="ctr"/>
          <a:lstStyle/>
          <a:p>
            <a:pPr algn="r" indent="0" marL="0">
              <a:buNone/>
            </a:pPr>
            <a:r>
              <a:rPr lang="en-US" sz="1400" b="1" dirty="0">
                <a:solidFill>
                  <a:srgbClr val="5A6578"/>
                </a:solidFill>
              </a:rPr>
              <a:t>PI2</a:t>
            </a:r>
            <a:endParaRPr lang="en-US" sz="1400" dirty="0"/>
          </a:p>
        </p:txBody>
      </p:sp>
      <p:sp>
        <p:nvSpPr>
          <p:cNvPr id="16" name="Text 14"/>
          <p:cNvSpPr txBox="1"/>
          <p:nvPr/>
        </p:nvSpPr>
        <p:spPr>
          <a:xfrm>
            <a:off x="2971800" y="2423160"/>
            <a:ext cx="1737360" cy="457200"/>
          </a:xfrm>
          <a:prstGeom prst="rect">
            <a:avLst/>
          </a:prstGeom>
          <a:noFill/>
          <a:ln/>
        </p:spPr>
        <p:txBody>
          <a:bodyPr wrap="square" lIns="0" tIns="0" rIns="0" bIns="0" rtlCol="0" anchor="ctr"/>
          <a:lstStyle/>
          <a:p>
            <a:pPr indent="0" marL="0">
              <a:buNone/>
            </a:pPr>
            <a:r>
              <a:rPr lang="en-US" sz="2100" b="1" dirty="0">
                <a:solidFill>
                  <a:srgbClr val="1A202C"/>
                </a:solidFill>
              </a:rPr>
              <a:t>Red semántica</a:t>
            </a:r>
            <a:endParaRPr lang="en-US" sz="2100" dirty="0"/>
          </a:p>
        </p:txBody>
      </p:sp>
      <p:sp>
        <p:nvSpPr>
          <p:cNvPr id="17" name="Text 15"/>
          <p:cNvSpPr txBox="1"/>
          <p:nvPr/>
        </p:nvSpPr>
        <p:spPr>
          <a:xfrm>
            <a:off x="2971800" y="2926080"/>
            <a:ext cx="1645920" cy="1188720"/>
          </a:xfrm>
          <a:prstGeom prst="rect">
            <a:avLst/>
          </a:prstGeom>
          <a:noFill/>
          <a:ln/>
        </p:spPr>
        <p:txBody>
          <a:bodyPr wrap="square" lIns="0" tIns="0" rIns="0" bIns="0" rtlCol="0" anchor="t"/>
          <a:lstStyle/>
          <a:p>
            <a:pPr indent="0" marL="0">
              <a:buNone/>
            </a:pPr>
            <a:r>
              <a:rPr lang="en-US" sz="1700" dirty="0">
                <a:solidFill>
                  <a:srgbClr val="1A202C"/>
                </a:solidFill>
              </a:rPr>
              <a:t>Conceptos unidos por verbos</a:t>
            </a:r>
            <a:endParaRPr lang="en-US" sz="1700" dirty="0"/>
          </a:p>
        </p:txBody>
      </p:sp>
      <p:sp>
        <p:nvSpPr>
          <p:cNvPr id="18" name="Shape 16"/>
          <p:cNvSpPr/>
          <p:nvPr/>
        </p:nvSpPr>
        <p:spPr>
          <a:xfrm>
            <a:off x="4828032" y="2880360"/>
            <a:ext cx="219456" cy="914"/>
          </a:xfrm>
          <a:prstGeom prst="line">
            <a:avLst/>
          </a:prstGeom>
          <a:noFill/>
          <a:ln w="25400">
            <a:solidFill>
              <a:srgbClr val="1A202C"/>
            </a:solidFill>
            <a:prstDash val="solid"/>
            <a:tailEnd type="triangle"/>
          </a:ln>
        </p:spPr>
      </p:sp>
      <p:sp>
        <p:nvSpPr>
          <p:cNvPr id="19" name="Shape 17"/>
          <p:cNvSpPr/>
          <p:nvPr/>
        </p:nvSpPr>
        <p:spPr>
          <a:xfrm>
            <a:off x="5074920" y="1463040"/>
            <a:ext cx="2011680" cy="2834640"/>
          </a:xfrm>
          <a:prstGeom prst="roundRect">
            <a:avLst>
              <a:gd name="adj" fmla="val 3636"/>
            </a:avLst>
          </a:prstGeom>
          <a:solidFill>
            <a:srgbClr val="F4F6FA"/>
          </a:solidFill>
          <a:ln w="19050">
            <a:solidFill>
              <a:srgbClr val="CBD5E0"/>
            </a:solidFill>
            <a:prstDash val="solid"/>
          </a:ln>
        </p:spPr>
      </p:sp>
      <p:sp>
        <p:nvSpPr>
          <p:cNvPr id="20" name="Shape 18"/>
          <p:cNvSpPr/>
          <p:nvPr/>
        </p:nvSpPr>
        <p:spPr>
          <a:xfrm>
            <a:off x="5257800" y="1645920"/>
            <a:ext cx="548640" cy="548640"/>
          </a:xfrm>
          <a:prstGeom prst="ellipse">
            <a:avLst/>
          </a:prstGeom>
          <a:solidFill>
            <a:srgbClr val="1A202C"/>
          </a:solidFill>
          <a:ln w="12700">
            <a:solidFill>
              <a:srgbClr val="1A202C"/>
            </a:solidFill>
            <a:prstDash val="solid"/>
          </a:ln>
        </p:spPr>
      </p:sp>
      <p:sp>
        <p:nvSpPr>
          <p:cNvPr id="21" name="Text 19"/>
          <p:cNvSpPr txBox="1"/>
          <p:nvPr/>
        </p:nvSpPr>
        <p:spPr>
          <a:xfrm>
            <a:off x="525780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989320" y="1645920"/>
            <a:ext cx="914400" cy="548640"/>
          </a:xfrm>
          <a:prstGeom prst="rect">
            <a:avLst/>
          </a:prstGeom>
          <a:noFill/>
          <a:ln/>
        </p:spPr>
        <p:txBody>
          <a:bodyPr wrap="square" lIns="0" tIns="0" rIns="0" bIns="0" rtlCol="0" anchor="ctr"/>
          <a:lstStyle/>
          <a:p>
            <a:pPr algn="r" indent="0" marL="0">
              <a:buNone/>
            </a:pPr>
            <a:r>
              <a:rPr lang="en-US" sz="1400" b="1" dirty="0">
                <a:solidFill>
                  <a:srgbClr val="5A6578"/>
                </a:solidFill>
              </a:rPr>
              <a:t>PI2</a:t>
            </a:r>
            <a:endParaRPr lang="en-US" sz="1400" dirty="0"/>
          </a:p>
        </p:txBody>
      </p:sp>
      <p:sp>
        <p:nvSpPr>
          <p:cNvPr id="23" name="Text 21"/>
          <p:cNvSpPr txBox="1"/>
          <p:nvPr/>
        </p:nvSpPr>
        <p:spPr>
          <a:xfrm>
            <a:off x="5257800" y="2423160"/>
            <a:ext cx="1737360" cy="457200"/>
          </a:xfrm>
          <a:prstGeom prst="rect">
            <a:avLst/>
          </a:prstGeom>
          <a:noFill/>
          <a:ln/>
        </p:spPr>
        <p:txBody>
          <a:bodyPr wrap="square" lIns="0" tIns="0" rIns="0" bIns="0" rtlCol="0" anchor="ctr"/>
          <a:lstStyle/>
          <a:p>
            <a:pPr indent="0" marL="0">
              <a:buNone/>
            </a:pPr>
            <a:r>
              <a:rPr lang="en-US" sz="2100" b="1" dirty="0">
                <a:solidFill>
                  <a:srgbClr val="1A202C"/>
                </a:solidFill>
              </a:rPr>
              <a:t>Frames</a:t>
            </a:r>
            <a:endParaRPr lang="en-US" sz="2100" dirty="0"/>
          </a:p>
        </p:txBody>
      </p:sp>
      <p:sp>
        <p:nvSpPr>
          <p:cNvPr id="24" name="Text 22"/>
          <p:cNvSpPr txBox="1"/>
          <p:nvPr/>
        </p:nvSpPr>
        <p:spPr>
          <a:xfrm>
            <a:off x="5257800" y="2926080"/>
            <a:ext cx="1645920" cy="1188720"/>
          </a:xfrm>
          <a:prstGeom prst="rect">
            <a:avLst/>
          </a:prstGeom>
          <a:noFill/>
          <a:ln/>
        </p:spPr>
        <p:txBody>
          <a:bodyPr wrap="square" lIns="0" tIns="0" rIns="0" bIns="0" rtlCol="0" anchor="t"/>
          <a:lstStyle/>
          <a:p>
            <a:pPr indent="0" marL="0">
              <a:buNone/>
            </a:pPr>
            <a:r>
              <a:rPr lang="en-US" sz="1700" dirty="0">
                <a:solidFill>
                  <a:srgbClr val="1A202C"/>
                </a:solidFill>
              </a:rPr>
              <a:t>Una ficha con casilleros por concepto</a:t>
            </a:r>
            <a:endParaRPr lang="en-US" sz="1700" dirty="0"/>
          </a:p>
        </p:txBody>
      </p:sp>
      <p:sp>
        <p:nvSpPr>
          <p:cNvPr id="25" name="Shape 23"/>
          <p:cNvSpPr/>
          <p:nvPr/>
        </p:nvSpPr>
        <p:spPr>
          <a:xfrm>
            <a:off x="7114032" y="2880360"/>
            <a:ext cx="219456" cy="914"/>
          </a:xfrm>
          <a:prstGeom prst="line">
            <a:avLst/>
          </a:prstGeom>
          <a:noFill/>
          <a:ln w="25400">
            <a:solidFill>
              <a:srgbClr val="1A202C"/>
            </a:solidFill>
            <a:prstDash val="solid"/>
            <a:tailEnd type="triangle"/>
          </a:ln>
        </p:spPr>
      </p:sp>
      <p:sp>
        <p:nvSpPr>
          <p:cNvPr id="26" name="Shape 24"/>
          <p:cNvSpPr/>
          <p:nvPr/>
        </p:nvSpPr>
        <p:spPr>
          <a:xfrm>
            <a:off x="7360920" y="1463040"/>
            <a:ext cx="2011680" cy="2834640"/>
          </a:xfrm>
          <a:prstGeom prst="roundRect">
            <a:avLst>
              <a:gd name="adj" fmla="val 3636"/>
            </a:avLst>
          </a:prstGeom>
          <a:solidFill>
            <a:srgbClr val="F4F6FA"/>
          </a:solidFill>
          <a:ln w="19050">
            <a:solidFill>
              <a:srgbClr val="CBD5E0"/>
            </a:solidFill>
            <a:prstDash val="solid"/>
          </a:ln>
        </p:spPr>
      </p:sp>
      <p:sp>
        <p:nvSpPr>
          <p:cNvPr id="27" name="Shape 25"/>
          <p:cNvSpPr/>
          <p:nvPr/>
        </p:nvSpPr>
        <p:spPr>
          <a:xfrm>
            <a:off x="7543800" y="1645920"/>
            <a:ext cx="548640" cy="548640"/>
          </a:xfrm>
          <a:prstGeom prst="ellipse">
            <a:avLst/>
          </a:prstGeom>
          <a:solidFill>
            <a:srgbClr val="1A202C"/>
          </a:solidFill>
          <a:ln w="12700">
            <a:solidFill>
              <a:srgbClr val="1A202C"/>
            </a:solidFill>
            <a:prstDash val="solid"/>
          </a:ln>
        </p:spPr>
      </p:sp>
      <p:sp>
        <p:nvSpPr>
          <p:cNvPr id="28" name="Text 26"/>
          <p:cNvSpPr txBox="1"/>
          <p:nvPr/>
        </p:nvSpPr>
        <p:spPr>
          <a:xfrm>
            <a:off x="754380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9" name="Text 27"/>
          <p:cNvSpPr txBox="1"/>
          <p:nvPr/>
        </p:nvSpPr>
        <p:spPr>
          <a:xfrm>
            <a:off x="8275320" y="1645920"/>
            <a:ext cx="914400" cy="548640"/>
          </a:xfrm>
          <a:prstGeom prst="rect">
            <a:avLst/>
          </a:prstGeom>
          <a:noFill/>
          <a:ln/>
        </p:spPr>
        <p:txBody>
          <a:bodyPr wrap="square" lIns="0" tIns="0" rIns="0" bIns="0" rtlCol="0" anchor="ctr"/>
          <a:lstStyle/>
          <a:p>
            <a:pPr algn="r" indent="0" marL="0">
              <a:buNone/>
            </a:pPr>
            <a:r>
              <a:rPr lang="en-US" sz="1400" b="1" dirty="0">
                <a:solidFill>
                  <a:srgbClr val="5A6578"/>
                </a:solidFill>
              </a:rPr>
              <a:t>PI2</a:t>
            </a:r>
            <a:endParaRPr lang="en-US" sz="1400" dirty="0"/>
          </a:p>
        </p:txBody>
      </p:sp>
      <p:sp>
        <p:nvSpPr>
          <p:cNvPr id="30" name="Text 28"/>
          <p:cNvSpPr txBox="1"/>
          <p:nvPr/>
        </p:nvSpPr>
        <p:spPr>
          <a:xfrm>
            <a:off x="7543800" y="2423160"/>
            <a:ext cx="1737360" cy="457200"/>
          </a:xfrm>
          <a:prstGeom prst="rect">
            <a:avLst/>
          </a:prstGeom>
          <a:noFill/>
          <a:ln/>
        </p:spPr>
        <p:txBody>
          <a:bodyPr wrap="square" lIns="0" tIns="0" rIns="0" bIns="0" rtlCol="0" anchor="ctr"/>
          <a:lstStyle/>
          <a:p>
            <a:pPr indent="0" marL="0">
              <a:buNone/>
            </a:pPr>
            <a:r>
              <a:rPr lang="en-US" sz="2100" b="1" dirty="0">
                <a:solidFill>
                  <a:srgbClr val="1A202C"/>
                </a:solidFill>
              </a:rPr>
              <a:t>Reglas</a:t>
            </a:r>
            <a:endParaRPr lang="en-US" sz="2100" dirty="0"/>
          </a:p>
        </p:txBody>
      </p:sp>
      <p:sp>
        <p:nvSpPr>
          <p:cNvPr id="31" name="Text 29"/>
          <p:cNvSpPr txBox="1"/>
          <p:nvPr/>
        </p:nvSpPr>
        <p:spPr>
          <a:xfrm>
            <a:off x="7543800" y="2926080"/>
            <a:ext cx="1645920" cy="1188720"/>
          </a:xfrm>
          <a:prstGeom prst="rect">
            <a:avLst/>
          </a:prstGeom>
          <a:noFill/>
          <a:ln/>
        </p:spPr>
        <p:txBody>
          <a:bodyPr wrap="square" lIns="0" tIns="0" rIns="0" bIns="0" rtlCol="0" anchor="t"/>
          <a:lstStyle/>
          <a:p>
            <a:pPr indent="0" marL="0">
              <a:buNone/>
            </a:pPr>
            <a:r>
              <a:rPr lang="en-US" sz="1700" dirty="0">
                <a:solidFill>
                  <a:srgbClr val="1A202C"/>
                </a:solidFill>
              </a:rPr>
              <a:t>SI pasa esto… ENTONCES…</a:t>
            </a:r>
            <a:endParaRPr lang="en-US" sz="1700" dirty="0"/>
          </a:p>
        </p:txBody>
      </p:sp>
      <p:sp>
        <p:nvSpPr>
          <p:cNvPr id="32" name="Shape 30"/>
          <p:cNvSpPr/>
          <p:nvPr/>
        </p:nvSpPr>
        <p:spPr>
          <a:xfrm>
            <a:off x="9400032" y="2880360"/>
            <a:ext cx="219456" cy="914"/>
          </a:xfrm>
          <a:prstGeom prst="line">
            <a:avLst/>
          </a:prstGeom>
          <a:noFill/>
          <a:ln w="25400">
            <a:solidFill>
              <a:srgbClr val="1A202C"/>
            </a:solidFill>
            <a:prstDash val="solid"/>
            <a:tailEnd type="triangle"/>
          </a:ln>
        </p:spPr>
      </p:sp>
      <p:sp>
        <p:nvSpPr>
          <p:cNvPr id="33" name="Shape 31"/>
          <p:cNvSpPr/>
          <p:nvPr/>
        </p:nvSpPr>
        <p:spPr>
          <a:xfrm>
            <a:off x="9646920" y="1463040"/>
            <a:ext cx="2011680" cy="2834640"/>
          </a:xfrm>
          <a:prstGeom prst="roundRect">
            <a:avLst>
              <a:gd name="adj" fmla="val 3636"/>
            </a:avLst>
          </a:prstGeom>
          <a:solidFill>
            <a:srgbClr val="FFF0F6"/>
          </a:solidFill>
          <a:ln w="19050">
            <a:solidFill>
              <a:srgbClr val="FF2E88"/>
            </a:solidFill>
            <a:prstDash val="solid"/>
          </a:ln>
        </p:spPr>
      </p:sp>
      <p:sp>
        <p:nvSpPr>
          <p:cNvPr id="34" name="Shape 32"/>
          <p:cNvSpPr/>
          <p:nvPr/>
        </p:nvSpPr>
        <p:spPr>
          <a:xfrm>
            <a:off x="9829800" y="1645920"/>
            <a:ext cx="548640" cy="548640"/>
          </a:xfrm>
          <a:prstGeom prst="ellipse">
            <a:avLst/>
          </a:prstGeom>
          <a:solidFill>
            <a:srgbClr val="FF2E88"/>
          </a:solidFill>
          <a:ln w="12700">
            <a:solidFill>
              <a:srgbClr val="FF2E88"/>
            </a:solidFill>
            <a:prstDash val="solid"/>
          </a:ln>
        </p:spPr>
      </p:sp>
      <p:sp>
        <p:nvSpPr>
          <p:cNvPr id="35" name="Text 33"/>
          <p:cNvSpPr txBox="1"/>
          <p:nvPr/>
        </p:nvSpPr>
        <p:spPr>
          <a:xfrm>
            <a:off x="982980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6" name="Text 34"/>
          <p:cNvSpPr txBox="1"/>
          <p:nvPr/>
        </p:nvSpPr>
        <p:spPr>
          <a:xfrm>
            <a:off x="10561320" y="1645920"/>
            <a:ext cx="914400" cy="548640"/>
          </a:xfrm>
          <a:prstGeom prst="rect">
            <a:avLst/>
          </a:prstGeom>
          <a:noFill/>
          <a:ln/>
        </p:spPr>
        <p:txBody>
          <a:bodyPr wrap="square" lIns="0" tIns="0" rIns="0" bIns="0" rtlCol="0" anchor="ctr"/>
          <a:lstStyle/>
          <a:p>
            <a:pPr algn="r" indent="0" marL="0">
              <a:buNone/>
            </a:pPr>
            <a:r>
              <a:rPr lang="en-US" sz="1400" b="1" dirty="0">
                <a:solidFill>
                  <a:srgbClr val="5A6578"/>
                </a:solidFill>
              </a:rPr>
              <a:t>hoy</a:t>
            </a:r>
            <a:endParaRPr lang="en-US" sz="1400" dirty="0"/>
          </a:p>
        </p:txBody>
      </p:sp>
      <p:sp>
        <p:nvSpPr>
          <p:cNvPr id="37" name="Text 35"/>
          <p:cNvSpPr txBox="1"/>
          <p:nvPr/>
        </p:nvSpPr>
        <p:spPr>
          <a:xfrm>
            <a:off x="9829800" y="2423160"/>
            <a:ext cx="1737360" cy="457200"/>
          </a:xfrm>
          <a:prstGeom prst="rect">
            <a:avLst/>
          </a:prstGeom>
          <a:noFill/>
          <a:ln/>
        </p:spPr>
        <p:txBody>
          <a:bodyPr wrap="square" lIns="0" tIns="0" rIns="0" bIns="0" rtlCol="0" anchor="ctr"/>
          <a:lstStyle/>
          <a:p>
            <a:pPr indent="0" marL="0">
              <a:buNone/>
            </a:pPr>
            <a:r>
              <a:rPr lang="en-US" sz="2100" b="1" dirty="0">
                <a:solidFill>
                  <a:srgbClr val="FF2E88"/>
                </a:solidFill>
              </a:rPr>
              <a:t>Neo4j</a:t>
            </a:r>
            <a:endParaRPr lang="en-US" sz="2100" dirty="0"/>
          </a:p>
        </p:txBody>
      </p:sp>
      <p:sp>
        <p:nvSpPr>
          <p:cNvPr id="38" name="Text 36"/>
          <p:cNvSpPr txBox="1"/>
          <p:nvPr/>
        </p:nvSpPr>
        <p:spPr>
          <a:xfrm>
            <a:off x="9829800" y="2926080"/>
            <a:ext cx="1645920" cy="1188720"/>
          </a:xfrm>
          <a:prstGeom prst="rect">
            <a:avLst/>
          </a:prstGeom>
          <a:noFill/>
          <a:ln/>
        </p:spPr>
        <p:txBody>
          <a:bodyPr wrap="square" lIns="0" tIns="0" rIns="0" bIns="0" rtlCol="0" anchor="t"/>
          <a:lstStyle/>
          <a:p>
            <a:pPr indent="0" marL="0">
              <a:buNone/>
            </a:pPr>
            <a:r>
              <a:rPr lang="en-US" sz="1700" dirty="0">
                <a:solidFill>
                  <a:srgbClr val="1A202C"/>
                </a:solidFill>
              </a:rPr>
              <a:t>Todo junto en una base de grafos</a:t>
            </a:r>
            <a:endParaRPr lang="en-US" sz="1700" dirty="0"/>
          </a:p>
        </p:txBody>
      </p:sp>
      <p:sp>
        <p:nvSpPr>
          <p:cNvPr id="39" name="Shape 37"/>
          <p:cNvSpPr/>
          <p:nvPr/>
        </p:nvSpPr>
        <p:spPr>
          <a:xfrm>
            <a:off x="502920" y="4663440"/>
            <a:ext cx="11155680" cy="685800"/>
          </a:xfrm>
          <a:prstGeom prst="roundRect">
            <a:avLst>
              <a:gd name="adj" fmla="val 10667"/>
            </a:avLst>
          </a:prstGeom>
          <a:solidFill>
            <a:srgbClr val="FFFFFF"/>
          </a:solidFill>
          <a:ln w="15875">
            <a:solidFill>
              <a:srgbClr val="8A94A6"/>
            </a:solidFill>
            <a:prstDash val="dash"/>
          </a:ln>
        </p:spPr>
      </p:sp>
      <p:sp>
        <p:nvSpPr>
          <p:cNvPr id="40" name="Text 38"/>
          <p:cNvSpPr txBox="1"/>
          <p:nvPr/>
        </p:nvSpPr>
        <p:spPr>
          <a:xfrm>
            <a:off x="731520" y="4663440"/>
            <a:ext cx="10515600" cy="685800"/>
          </a:xfrm>
          <a:prstGeom prst="rect">
            <a:avLst/>
          </a:prstGeom>
          <a:noFill/>
          <a:ln/>
        </p:spPr>
        <p:txBody>
          <a:bodyPr wrap="square" lIns="0" tIns="0" rIns="0" bIns="0" rtlCol="0" anchor="ctr"/>
          <a:lstStyle/>
          <a:p>
            <a:pPr indent="0" marL="0">
              <a:buNone/>
            </a:pPr>
            <a:r>
              <a:rPr lang="en-US" sz="1700" b="1" dirty="0">
                <a:solidFill>
                  <a:srgbClr val="5A6578"/>
                </a:solidFill>
              </a:rPr>
              <a:t>6 · Lógica difusa: </a:t>
            </a:r>
            <a:pPr indent="0" marL="0">
              <a:buNone/>
            </a:pPr>
            <a:r>
              <a:rPr lang="en-US" sz="1700" dirty="0">
                <a:solidFill>
                  <a:srgbClr val="5A6578"/>
                </a:solidFill>
              </a:rPr>
              <a:t>la mostramos con un ejemplo; se completa en el PI3</a:t>
            </a:r>
            <a:endParaRPr lang="en-US" sz="1700" dirty="0"/>
          </a:p>
        </p:txBody>
      </p:sp>
      <p:sp>
        <p:nvSpPr>
          <p:cNvPr id="41" name="Text 39"/>
          <p:cNvSpPr txBox="1"/>
          <p:nvPr/>
        </p:nvSpPr>
        <p:spPr>
          <a:xfrm>
            <a:off x="502920" y="5669280"/>
            <a:ext cx="11155680" cy="365760"/>
          </a:xfrm>
          <a:prstGeom prst="rect">
            <a:avLst/>
          </a:prstGeom>
          <a:noFill/>
          <a:ln/>
        </p:spPr>
        <p:txBody>
          <a:bodyPr wrap="square" lIns="0" tIns="0" rIns="0" bIns="0" rtlCol="0" anchor="ctr"/>
          <a:lstStyle/>
          <a:p>
            <a:pPr indent="0" marL="0">
              <a:buNone/>
            </a:pPr>
            <a:r>
              <a:rPr lang="en-US" sz="1700" dirty="0">
                <a:solidFill>
                  <a:srgbClr val="1A202C"/>
                </a:solidFill>
              </a:rPr>
              <a:t>Lo que el experto todavía no definió queda marcado </a:t>
            </a:r>
            <a:pPr indent="0" marL="0">
              <a:buNone/>
            </a:pPr>
            <a:r>
              <a:rPr lang="en-US" sz="1700" b="1" dirty="0">
                <a:solidFill>
                  <a:srgbClr val="FF2E88"/>
                </a:solidFill>
              </a:rPr>
              <a:t>«a validar»</a:t>
            </a:r>
            <a:pPr indent="0" marL="0">
              <a:buNone/>
            </a:pPr>
            <a:r>
              <a:rPr lang="en-US" sz="1700" dirty="0">
                <a:solidFill>
                  <a:srgbClr val="1A202C"/>
                </a:solidFill>
              </a:rPr>
              <a:t>: no inventamos números.</a:t>
            </a:r>
            <a:endParaRPr lang="en-US" sz="17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Red semántica: se lee como oraciones</a:t>
            </a:r>
            <a:endParaRPr lang="en-US" sz="3400" dirty="0"/>
          </a:p>
        </p:txBody>
      </p:sp>
      <p:sp>
        <p:nvSpPr>
          <p:cNvPr id="3" name="Shape 1"/>
          <p:cNvSpPr/>
          <p:nvPr/>
        </p:nvSpPr>
        <p:spPr>
          <a:xfrm>
            <a:off x="9921240" y="438912"/>
            <a:ext cx="1783080" cy="457200"/>
          </a:xfrm>
          <a:prstGeom prst="roundRect">
            <a:avLst>
              <a:gd name="adj" fmla="val 50000"/>
            </a:avLst>
          </a:prstGeom>
          <a:solidFill>
            <a:srgbClr val="2A9D8F"/>
          </a:solidFill>
          <a:ln w="12700">
            <a:solidFill>
              <a:srgbClr val="2A9D8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Lautaro</a:t>
            </a:r>
            <a:pPr algn="ctr" indent="0" marL="0">
              <a:buNone/>
            </a:pPr>
            <a:r>
              <a:rPr lang="en-US" sz="1400" dirty="0">
                <a:solidFill>
                  <a:srgbClr val="FFFFFF"/>
                </a:solidFill>
              </a:rPr>
              <a:t>  ·  1:15</a:t>
            </a:r>
            <a:endParaRPr lang="en-US" sz="1400" dirty="0"/>
          </a:p>
        </p:txBody>
      </p:sp>
      <p:sp>
        <p:nvSpPr>
          <p:cNvPr id="5" name="Shape 3"/>
          <p:cNvSpPr/>
          <p:nvPr/>
        </p:nvSpPr>
        <p:spPr>
          <a:xfrm>
            <a:off x="502920" y="1316736"/>
            <a:ext cx="1645920" cy="566928"/>
          </a:xfrm>
          <a:prstGeom prst="roundRect">
            <a:avLst>
              <a:gd name="adj" fmla="val 16129"/>
            </a:avLst>
          </a:prstGeom>
          <a:solidFill>
            <a:srgbClr val="E3EEF9"/>
          </a:solidFill>
          <a:ln w="22225">
            <a:solidFill>
              <a:srgbClr val="2B6CB0"/>
            </a:solidFill>
            <a:prstDash val="solid"/>
          </a:ln>
        </p:spPr>
      </p:sp>
      <p:sp>
        <p:nvSpPr>
          <p:cNvPr id="6" name="Text 4"/>
          <p:cNvSpPr txBox="1"/>
          <p:nvPr/>
        </p:nvSpPr>
        <p:spPr>
          <a:xfrm>
            <a:off x="502920" y="131673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Cliente</a:t>
            </a:r>
            <a:endParaRPr lang="en-US" sz="1500" dirty="0"/>
          </a:p>
        </p:txBody>
      </p:sp>
      <p:sp>
        <p:nvSpPr>
          <p:cNvPr id="7" name="Shape 5"/>
          <p:cNvSpPr/>
          <p:nvPr/>
        </p:nvSpPr>
        <p:spPr>
          <a:xfrm>
            <a:off x="502920" y="2414016"/>
            <a:ext cx="1645920" cy="566928"/>
          </a:xfrm>
          <a:prstGeom prst="roundRect">
            <a:avLst>
              <a:gd name="adj" fmla="val 16129"/>
            </a:avLst>
          </a:prstGeom>
          <a:solidFill>
            <a:srgbClr val="E3EEF9"/>
          </a:solidFill>
          <a:ln w="22225">
            <a:solidFill>
              <a:srgbClr val="2B6CB0"/>
            </a:solidFill>
            <a:prstDash val="solid"/>
          </a:ln>
        </p:spPr>
      </p:sp>
      <p:sp>
        <p:nvSpPr>
          <p:cNvPr id="8" name="Text 6"/>
          <p:cNvSpPr txBox="1"/>
          <p:nvPr/>
        </p:nvSpPr>
        <p:spPr>
          <a:xfrm>
            <a:off x="502920" y="241401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Pedido</a:t>
            </a:r>
            <a:endParaRPr lang="en-US" sz="1500" dirty="0"/>
          </a:p>
        </p:txBody>
      </p:sp>
      <p:sp>
        <p:nvSpPr>
          <p:cNvPr id="9" name="Shape 7"/>
          <p:cNvSpPr/>
          <p:nvPr/>
        </p:nvSpPr>
        <p:spPr>
          <a:xfrm>
            <a:off x="2743200" y="1316736"/>
            <a:ext cx="1645920" cy="566928"/>
          </a:xfrm>
          <a:prstGeom prst="roundRect">
            <a:avLst>
              <a:gd name="adj" fmla="val 16129"/>
            </a:avLst>
          </a:prstGeom>
          <a:solidFill>
            <a:srgbClr val="E3EEF9"/>
          </a:solidFill>
          <a:ln w="22225">
            <a:solidFill>
              <a:srgbClr val="2B6CB0"/>
            </a:solidFill>
            <a:prstDash val="solid"/>
          </a:ln>
        </p:spPr>
      </p:sp>
      <p:sp>
        <p:nvSpPr>
          <p:cNvPr id="10" name="Text 8"/>
          <p:cNvSpPr txBox="1"/>
          <p:nvPr/>
        </p:nvSpPr>
        <p:spPr>
          <a:xfrm>
            <a:off x="2743200" y="131673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Aclaración</a:t>
            </a:r>
            <a:endParaRPr lang="en-US" sz="1500" dirty="0"/>
          </a:p>
        </p:txBody>
      </p:sp>
      <p:sp>
        <p:nvSpPr>
          <p:cNvPr id="11" name="Shape 9"/>
          <p:cNvSpPr/>
          <p:nvPr/>
        </p:nvSpPr>
        <p:spPr>
          <a:xfrm>
            <a:off x="2743200" y="2414016"/>
            <a:ext cx="1645920" cy="566928"/>
          </a:xfrm>
          <a:prstGeom prst="roundRect">
            <a:avLst>
              <a:gd name="adj" fmla="val 16129"/>
            </a:avLst>
          </a:prstGeom>
          <a:solidFill>
            <a:srgbClr val="EEE8FA"/>
          </a:solidFill>
          <a:ln w="22225">
            <a:solidFill>
              <a:srgbClr val="6B46C1"/>
            </a:solidFill>
            <a:prstDash val="solid"/>
          </a:ln>
        </p:spPr>
      </p:sp>
      <p:sp>
        <p:nvSpPr>
          <p:cNvPr id="12" name="Text 10"/>
          <p:cNvSpPr txBox="1"/>
          <p:nvPr/>
        </p:nvSpPr>
        <p:spPr>
          <a:xfrm>
            <a:off x="2743200" y="241401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Ficha</a:t>
            </a:r>
            <a:endParaRPr lang="en-US" sz="1500" dirty="0"/>
          </a:p>
        </p:txBody>
      </p:sp>
      <p:sp>
        <p:nvSpPr>
          <p:cNvPr id="13" name="Shape 11"/>
          <p:cNvSpPr/>
          <p:nvPr/>
        </p:nvSpPr>
        <p:spPr>
          <a:xfrm>
            <a:off x="4983480" y="2414016"/>
            <a:ext cx="1645920" cy="566928"/>
          </a:xfrm>
          <a:prstGeom prst="roundRect">
            <a:avLst>
              <a:gd name="adj" fmla="val 16129"/>
            </a:avLst>
          </a:prstGeom>
          <a:solidFill>
            <a:srgbClr val="EEE8FA"/>
          </a:solidFill>
          <a:ln w="22225">
            <a:solidFill>
              <a:srgbClr val="6B46C1"/>
            </a:solidFill>
            <a:prstDash val="solid"/>
          </a:ln>
        </p:spPr>
      </p:sp>
      <p:sp>
        <p:nvSpPr>
          <p:cNvPr id="14" name="Text 12"/>
          <p:cNvSpPr txBox="1"/>
          <p:nvPr/>
        </p:nvSpPr>
        <p:spPr>
          <a:xfrm>
            <a:off x="4983480" y="241401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Cartel</a:t>
            </a:r>
            <a:endParaRPr lang="en-US" sz="1500" dirty="0"/>
          </a:p>
        </p:txBody>
      </p:sp>
      <p:sp>
        <p:nvSpPr>
          <p:cNvPr id="15" name="Shape 13"/>
          <p:cNvSpPr/>
          <p:nvPr/>
        </p:nvSpPr>
        <p:spPr>
          <a:xfrm>
            <a:off x="4983480" y="1316736"/>
            <a:ext cx="1645920" cy="566928"/>
          </a:xfrm>
          <a:prstGeom prst="roundRect">
            <a:avLst>
              <a:gd name="adj" fmla="val 16129"/>
            </a:avLst>
          </a:prstGeom>
          <a:solidFill>
            <a:srgbClr val="E0F4F1"/>
          </a:solidFill>
          <a:ln w="22225">
            <a:solidFill>
              <a:srgbClr val="2A9D8F"/>
            </a:solidFill>
            <a:prstDash val="solid"/>
          </a:ln>
        </p:spPr>
      </p:sp>
      <p:sp>
        <p:nvSpPr>
          <p:cNvPr id="16" name="Text 14"/>
          <p:cNvSpPr txBox="1"/>
          <p:nvPr/>
        </p:nvSpPr>
        <p:spPr>
          <a:xfrm>
            <a:off x="4983480" y="131673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Entorno</a:t>
            </a:r>
            <a:endParaRPr lang="en-US" sz="1500" dirty="0"/>
          </a:p>
        </p:txBody>
      </p:sp>
      <p:sp>
        <p:nvSpPr>
          <p:cNvPr id="17" name="Shape 15"/>
          <p:cNvSpPr/>
          <p:nvPr/>
        </p:nvSpPr>
        <p:spPr>
          <a:xfrm>
            <a:off x="7223760" y="2414016"/>
            <a:ext cx="1645920" cy="566928"/>
          </a:xfrm>
          <a:prstGeom prst="roundRect">
            <a:avLst>
              <a:gd name="adj" fmla="val 16129"/>
            </a:avLst>
          </a:prstGeom>
          <a:solidFill>
            <a:srgbClr val="E0F4F1"/>
          </a:solidFill>
          <a:ln w="22225">
            <a:solidFill>
              <a:srgbClr val="2A9D8F"/>
            </a:solidFill>
            <a:prstDash val="solid"/>
          </a:ln>
        </p:spPr>
      </p:sp>
      <p:sp>
        <p:nvSpPr>
          <p:cNvPr id="18" name="Text 16"/>
          <p:cNvSpPr txBox="1"/>
          <p:nvPr/>
        </p:nvSpPr>
        <p:spPr>
          <a:xfrm>
            <a:off x="7223760" y="241401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Dictamen</a:t>
            </a:r>
            <a:endParaRPr lang="en-US" sz="1500" dirty="0"/>
          </a:p>
        </p:txBody>
      </p:sp>
      <p:sp>
        <p:nvSpPr>
          <p:cNvPr id="19" name="Shape 17"/>
          <p:cNvSpPr/>
          <p:nvPr/>
        </p:nvSpPr>
        <p:spPr>
          <a:xfrm>
            <a:off x="7223760" y="1316736"/>
            <a:ext cx="1645920" cy="566928"/>
          </a:xfrm>
          <a:prstGeom prst="roundRect">
            <a:avLst>
              <a:gd name="adj" fmla="val 16129"/>
            </a:avLst>
          </a:prstGeom>
          <a:solidFill>
            <a:srgbClr val="E0F4F1"/>
          </a:solidFill>
          <a:ln w="22225">
            <a:solidFill>
              <a:srgbClr val="2A9D8F"/>
            </a:solidFill>
            <a:prstDash val="solid"/>
          </a:ln>
        </p:spPr>
      </p:sp>
      <p:sp>
        <p:nvSpPr>
          <p:cNvPr id="20" name="Text 18"/>
          <p:cNvSpPr txBox="1"/>
          <p:nvPr/>
        </p:nvSpPr>
        <p:spPr>
          <a:xfrm>
            <a:off x="7223760" y="131673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Condición</a:t>
            </a:r>
            <a:endParaRPr lang="en-US" sz="1500" dirty="0"/>
          </a:p>
        </p:txBody>
      </p:sp>
      <p:sp>
        <p:nvSpPr>
          <p:cNvPr id="21" name="Shape 19"/>
          <p:cNvSpPr/>
          <p:nvPr/>
        </p:nvSpPr>
        <p:spPr>
          <a:xfrm>
            <a:off x="4983480" y="3511296"/>
            <a:ext cx="1645920" cy="566928"/>
          </a:xfrm>
          <a:prstGeom prst="roundRect">
            <a:avLst>
              <a:gd name="adj" fmla="val 16129"/>
            </a:avLst>
          </a:prstGeom>
          <a:solidFill>
            <a:srgbClr val="FDEBDD"/>
          </a:solidFill>
          <a:ln w="22225">
            <a:solidFill>
              <a:srgbClr val="D9480F"/>
            </a:solidFill>
            <a:prstDash val="solid"/>
          </a:ln>
        </p:spPr>
      </p:sp>
      <p:sp>
        <p:nvSpPr>
          <p:cNvPr id="22" name="Text 20"/>
          <p:cNvSpPr txBox="1"/>
          <p:nvPr/>
        </p:nvSpPr>
        <p:spPr>
          <a:xfrm>
            <a:off x="4983480" y="351129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Geometría</a:t>
            </a:r>
            <a:endParaRPr lang="en-US" sz="1500" dirty="0"/>
          </a:p>
        </p:txBody>
      </p:sp>
      <p:sp>
        <p:nvSpPr>
          <p:cNvPr id="23" name="Shape 21"/>
          <p:cNvSpPr/>
          <p:nvPr/>
        </p:nvSpPr>
        <p:spPr>
          <a:xfrm>
            <a:off x="4983480" y="4608576"/>
            <a:ext cx="1645920" cy="566928"/>
          </a:xfrm>
          <a:prstGeom prst="roundRect">
            <a:avLst>
              <a:gd name="adj" fmla="val 16129"/>
            </a:avLst>
          </a:prstGeom>
          <a:solidFill>
            <a:srgbClr val="FDEBDD"/>
          </a:solidFill>
          <a:ln w="22225">
            <a:solidFill>
              <a:srgbClr val="D9480F"/>
            </a:solidFill>
            <a:prstDash val="solid"/>
          </a:ln>
        </p:spPr>
      </p:sp>
      <p:sp>
        <p:nvSpPr>
          <p:cNvPr id="24" name="Text 22"/>
          <p:cNvSpPr txBox="1"/>
          <p:nvPr/>
        </p:nvSpPr>
        <p:spPr>
          <a:xfrm>
            <a:off x="4983480" y="460857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Límite técnico</a:t>
            </a:r>
            <a:endParaRPr lang="en-US" sz="1500" dirty="0"/>
          </a:p>
        </p:txBody>
      </p:sp>
      <p:sp>
        <p:nvSpPr>
          <p:cNvPr id="25" name="Shape 23"/>
          <p:cNvSpPr/>
          <p:nvPr/>
        </p:nvSpPr>
        <p:spPr>
          <a:xfrm>
            <a:off x="7223760" y="3511296"/>
            <a:ext cx="1645920" cy="566928"/>
          </a:xfrm>
          <a:prstGeom prst="roundRect">
            <a:avLst>
              <a:gd name="adj" fmla="val 16129"/>
            </a:avLst>
          </a:prstGeom>
          <a:solidFill>
            <a:srgbClr val="EEE8FA"/>
          </a:solidFill>
          <a:ln w="22225">
            <a:solidFill>
              <a:srgbClr val="6B46C1"/>
            </a:solidFill>
            <a:prstDash val="solid"/>
          </a:ln>
        </p:spPr>
      </p:sp>
      <p:sp>
        <p:nvSpPr>
          <p:cNvPr id="26" name="Text 24"/>
          <p:cNvSpPr txBox="1"/>
          <p:nvPr/>
        </p:nvSpPr>
        <p:spPr>
          <a:xfrm>
            <a:off x="7223760" y="351129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Conflicto</a:t>
            </a:r>
            <a:endParaRPr lang="en-US" sz="1500" dirty="0"/>
          </a:p>
        </p:txBody>
      </p:sp>
      <p:sp>
        <p:nvSpPr>
          <p:cNvPr id="27" name="Shape 25"/>
          <p:cNvSpPr/>
          <p:nvPr/>
        </p:nvSpPr>
        <p:spPr>
          <a:xfrm>
            <a:off x="9464040" y="3511296"/>
            <a:ext cx="1645920" cy="566928"/>
          </a:xfrm>
          <a:prstGeom prst="roundRect">
            <a:avLst>
              <a:gd name="adj" fmla="val 16129"/>
            </a:avLst>
          </a:prstGeom>
          <a:solidFill>
            <a:srgbClr val="FDEBDD"/>
          </a:solidFill>
          <a:ln w="22225">
            <a:solidFill>
              <a:srgbClr val="D9480F"/>
            </a:solidFill>
            <a:prstDash val="solid"/>
          </a:ln>
        </p:spPr>
      </p:sp>
      <p:sp>
        <p:nvSpPr>
          <p:cNvPr id="28" name="Text 26"/>
          <p:cNvSpPr txBox="1"/>
          <p:nvPr/>
        </p:nvSpPr>
        <p:spPr>
          <a:xfrm>
            <a:off x="9464040" y="351129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Alternativa</a:t>
            </a:r>
            <a:endParaRPr lang="en-US" sz="1500" dirty="0"/>
          </a:p>
        </p:txBody>
      </p:sp>
      <p:sp>
        <p:nvSpPr>
          <p:cNvPr id="29" name="Shape 27"/>
          <p:cNvSpPr/>
          <p:nvPr/>
        </p:nvSpPr>
        <p:spPr>
          <a:xfrm>
            <a:off x="9464040" y="4608576"/>
            <a:ext cx="1645920" cy="566928"/>
          </a:xfrm>
          <a:prstGeom prst="roundRect">
            <a:avLst>
              <a:gd name="adj" fmla="val 16129"/>
            </a:avLst>
          </a:prstGeom>
          <a:solidFill>
            <a:srgbClr val="FDEBDD"/>
          </a:solidFill>
          <a:ln w="22225">
            <a:solidFill>
              <a:srgbClr val="D9480F"/>
            </a:solidFill>
            <a:prstDash val="solid"/>
          </a:ln>
        </p:spPr>
      </p:sp>
      <p:sp>
        <p:nvSpPr>
          <p:cNvPr id="30" name="Text 28"/>
          <p:cNvSpPr txBox="1"/>
          <p:nvPr/>
        </p:nvSpPr>
        <p:spPr>
          <a:xfrm>
            <a:off x="9464040" y="4608576"/>
            <a:ext cx="1645920" cy="566928"/>
          </a:xfrm>
          <a:prstGeom prst="rect">
            <a:avLst/>
          </a:prstGeom>
          <a:noFill/>
          <a:ln/>
        </p:spPr>
        <p:txBody>
          <a:bodyPr wrap="square" lIns="0" tIns="0" rIns="0" bIns="0" rtlCol="0" anchor="ctr"/>
          <a:lstStyle/>
          <a:p>
            <a:pPr algn="ctr" indent="0" marL="0">
              <a:buNone/>
            </a:pPr>
            <a:r>
              <a:rPr lang="en-US" sz="1500" b="1" dirty="0">
                <a:solidFill>
                  <a:srgbClr val="1A202C"/>
                </a:solidFill>
              </a:rPr>
              <a:t>Recomendación</a:t>
            </a:r>
            <a:endParaRPr lang="en-US" sz="1500" dirty="0"/>
          </a:p>
        </p:txBody>
      </p:sp>
      <p:sp>
        <p:nvSpPr>
          <p:cNvPr id="31" name="Shape 29"/>
          <p:cNvSpPr/>
          <p:nvPr/>
        </p:nvSpPr>
        <p:spPr>
          <a:xfrm>
            <a:off x="1325880" y="1883664"/>
            <a:ext cx="914" cy="530352"/>
          </a:xfrm>
          <a:prstGeom prst="line">
            <a:avLst/>
          </a:prstGeom>
          <a:noFill/>
          <a:ln w="19050">
            <a:solidFill>
              <a:srgbClr val="4A5568"/>
            </a:solidFill>
            <a:prstDash val="solid"/>
            <a:tailEnd type="triangle"/>
          </a:ln>
        </p:spPr>
      </p:sp>
      <p:sp>
        <p:nvSpPr>
          <p:cNvPr id="32" name="Text 30"/>
          <p:cNvSpPr txBox="1"/>
          <p:nvPr/>
        </p:nvSpPr>
        <p:spPr>
          <a:xfrm>
            <a:off x="1399032" y="2002536"/>
            <a:ext cx="627278" cy="292608"/>
          </a:xfrm>
          <a:prstGeom prst="rect">
            <a:avLst/>
          </a:prstGeom>
          <a:noFill/>
          <a:ln/>
        </p:spPr>
        <p:txBody>
          <a:bodyPr wrap="square" lIns="0" tIns="0" rIns="0" bIns="0" rtlCol="0" anchor="ctr"/>
          <a:lstStyle/>
          <a:p>
            <a:pPr indent="0" marL="0">
              <a:buNone/>
            </a:pPr>
            <a:r>
              <a:rPr lang="en-US" sz="1300" i="1" dirty="0">
                <a:solidFill>
                  <a:srgbClr val="5A6578"/>
                </a:solidFill>
              </a:rPr>
              <a:t>formula</a:t>
            </a:r>
            <a:endParaRPr lang="en-US" sz="1300" dirty="0"/>
          </a:p>
        </p:txBody>
      </p:sp>
      <p:sp>
        <p:nvSpPr>
          <p:cNvPr id="33" name="Shape 31"/>
          <p:cNvSpPr/>
          <p:nvPr/>
        </p:nvSpPr>
        <p:spPr>
          <a:xfrm flipH="1">
            <a:off x="2148840" y="1600200"/>
            <a:ext cx="594360" cy="914"/>
          </a:xfrm>
          <a:prstGeom prst="line">
            <a:avLst/>
          </a:prstGeom>
          <a:noFill/>
          <a:ln w="19050">
            <a:solidFill>
              <a:srgbClr val="4A5568"/>
            </a:solidFill>
            <a:prstDash val="solid"/>
            <a:tailEnd type="triangle"/>
          </a:ln>
        </p:spPr>
      </p:sp>
      <p:sp>
        <p:nvSpPr>
          <p:cNvPr id="34" name="Text 32"/>
          <p:cNvSpPr txBox="1"/>
          <p:nvPr/>
        </p:nvSpPr>
        <p:spPr>
          <a:xfrm>
            <a:off x="1989734" y="1453896"/>
            <a:ext cx="912571" cy="292608"/>
          </a:xfrm>
          <a:prstGeom prst="rect">
            <a:avLst/>
          </a:prstGeom>
          <a:solidFill>
            <a:srgbClr val="FFFFFF"/>
          </a:solidFill>
          <a:ln/>
        </p:spPr>
        <p:txBody>
          <a:bodyPr wrap="square" lIns="0" tIns="0" rIns="0" bIns="0" rtlCol="0" anchor="ctr"/>
          <a:lstStyle/>
          <a:p>
            <a:pPr algn="ctr" indent="0" marL="0">
              <a:buNone/>
            </a:pPr>
            <a:r>
              <a:rPr lang="en-US" sz="1200" i="1" dirty="0">
                <a:solidFill>
                  <a:srgbClr val="5A6578"/>
                </a:solidFill>
              </a:rPr>
              <a:t>se dirige a</a:t>
            </a:r>
            <a:endParaRPr lang="en-US" sz="1200" dirty="0"/>
          </a:p>
        </p:txBody>
      </p:sp>
      <p:sp>
        <p:nvSpPr>
          <p:cNvPr id="35" name="Shape 33"/>
          <p:cNvSpPr/>
          <p:nvPr/>
        </p:nvSpPr>
        <p:spPr>
          <a:xfrm flipH="1">
            <a:off x="2148840" y="2697480"/>
            <a:ext cx="594360" cy="914"/>
          </a:xfrm>
          <a:prstGeom prst="line">
            <a:avLst/>
          </a:prstGeom>
          <a:noFill/>
          <a:ln w="19050">
            <a:solidFill>
              <a:srgbClr val="4A5568"/>
            </a:solidFill>
            <a:prstDash val="solid"/>
            <a:tailEnd type="triangle"/>
          </a:ln>
        </p:spPr>
      </p:sp>
      <p:sp>
        <p:nvSpPr>
          <p:cNvPr id="36" name="Text 34"/>
          <p:cNvSpPr txBox="1"/>
          <p:nvPr/>
        </p:nvSpPr>
        <p:spPr>
          <a:xfrm>
            <a:off x="1918411" y="2551176"/>
            <a:ext cx="1055218" cy="292608"/>
          </a:xfrm>
          <a:prstGeom prst="rect">
            <a:avLst/>
          </a:prstGeom>
          <a:solidFill>
            <a:srgbClr val="FFFFFF"/>
          </a:solidFill>
          <a:ln/>
        </p:spPr>
        <p:txBody>
          <a:bodyPr wrap="square" lIns="0" tIns="0" rIns="0" bIns="0" rtlCol="0" anchor="ctr"/>
          <a:lstStyle/>
          <a:p>
            <a:pPr algn="ctr" indent="0" marL="0">
              <a:buNone/>
            </a:pPr>
            <a:r>
              <a:rPr lang="en-US" sz="1200" i="1" dirty="0">
                <a:solidFill>
                  <a:srgbClr val="5A6578"/>
                </a:solidFill>
              </a:rPr>
              <a:t>corresponde a</a:t>
            </a:r>
            <a:endParaRPr lang="en-US" sz="1200" dirty="0"/>
          </a:p>
        </p:txBody>
      </p:sp>
      <p:sp>
        <p:nvSpPr>
          <p:cNvPr id="37" name="Shape 35"/>
          <p:cNvSpPr/>
          <p:nvPr/>
        </p:nvSpPr>
        <p:spPr>
          <a:xfrm>
            <a:off x="4389120" y="2697480"/>
            <a:ext cx="594360" cy="914"/>
          </a:xfrm>
          <a:prstGeom prst="line">
            <a:avLst/>
          </a:prstGeom>
          <a:noFill/>
          <a:ln w="19050">
            <a:solidFill>
              <a:srgbClr val="4A5568"/>
            </a:solidFill>
            <a:prstDash val="solid"/>
            <a:tailEnd type="triangle"/>
          </a:ln>
        </p:spPr>
      </p:sp>
      <p:sp>
        <p:nvSpPr>
          <p:cNvPr id="38" name="Text 36"/>
          <p:cNvSpPr txBox="1"/>
          <p:nvPr/>
        </p:nvSpPr>
        <p:spPr>
          <a:xfrm>
            <a:off x="4336999" y="2551176"/>
            <a:ext cx="698602" cy="292608"/>
          </a:xfrm>
          <a:prstGeom prst="rect">
            <a:avLst/>
          </a:prstGeom>
          <a:solidFill>
            <a:srgbClr val="FFFFFF"/>
          </a:solidFill>
          <a:ln/>
        </p:spPr>
        <p:txBody>
          <a:bodyPr wrap="square" lIns="0" tIns="0" rIns="0" bIns="0" rtlCol="0" anchor="ctr"/>
          <a:lstStyle/>
          <a:p>
            <a:pPr algn="ctr" indent="0" marL="0">
              <a:buNone/>
            </a:pPr>
            <a:r>
              <a:rPr lang="en-US" sz="1200" i="1" dirty="0">
                <a:solidFill>
                  <a:srgbClr val="5A6578"/>
                </a:solidFill>
              </a:rPr>
              <a:t>describe</a:t>
            </a:r>
            <a:endParaRPr lang="en-US" sz="1200" dirty="0"/>
          </a:p>
        </p:txBody>
      </p:sp>
      <p:sp>
        <p:nvSpPr>
          <p:cNvPr id="39" name="Shape 37"/>
          <p:cNvSpPr/>
          <p:nvPr/>
        </p:nvSpPr>
        <p:spPr>
          <a:xfrm flipV="1">
            <a:off x="5806440" y="1883664"/>
            <a:ext cx="914" cy="530352"/>
          </a:xfrm>
          <a:prstGeom prst="line">
            <a:avLst/>
          </a:prstGeom>
          <a:noFill/>
          <a:ln w="19050">
            <a:solidFill>
              <a:srgbClr val="4A5568"/>
            </a:solidFill>
            <a:prstDash val="solid"/>
            <a:tailEnd type="triangle"/>
          </a:ln>
        </p:spPr>
      </p:sp>
      <p:sp>
        <p:nvSpPr>
          <p:cNvPr id="40" name="Text 38"/>
          <p:cNvSpPr txBox="1"/>
          <p:nvPr/>
        </p:nvSpPr>
        <p:spPr>
          <a:xfrm>
            <a:off x="5879592" y="2002536"/>
            <a:ext cx="1055218" cy="292608"/>
          </a:xfrm>
          <a:prstGeom prst="rect">
            <a:avLst/>
          </a:prstGeom>
          <a:noFill/>
          <a:ln/>
        </p:spPr>
        <p:txBody>
          <a:bodyPr wrap="square" lIns="0" tIns="0" rIns="0" bIns="0" rtlCol="0" anchor="ctr"/>
          <a:lstStyle/>
          <a:p>
            <a:pPr indent="0" marL="0">
              <a:buNone/>
            </a:pPr>
            <a:r>
              <a:rPr lang="en-US" sz="1300" i="1" dirty="0">
                <a:solidFill>
                  <a:srgbClr val="5A6578"/>
                </a:solidFill>
              </a:rPr>
              <a:t>se instala en</a:t>
            </a:r>
            <a:endParaRPr lang="en-US" sz="1300" dirty="0"/>
          </a:p>
        </p:txBody>
      </p:sp>
      <p:sp>
        <p:nvSpPr>
          <p:cNvPr id="41" name="Shape 39"/>
          <p:cNvSpPr/>
          <p:nvPr/>
        </p:nvSpPr>
        <p:spPr>
          <a:xfrm flipH="1">
            <a:off x="6629400" y="2697480"/>
            <a:ext cx="594360" cy="914"/>
          </a:xfrm>
          <a:prstGeom prst="line">
            <a:avLst/>
          </a:prstGeom>
          <a:noFill/>
          <a:ln w="19050">
            <a:solidFill>
              <a:srgbClr val="4A5568"/>
            </a:solidFill>
            <a:prstDash val="solid"/>
            <a:tailEnd type="triangle"/>
          </a:ln>
        </p:spPr>
      </p:sp>
      <p:sp>
        <p:nvSpPr>
          <p:cNvPr id="42" name="Text 40"/>
          <p:cNvSpPr txBox="1"/>
          <p:nvPr/>
        </p:nvSpPr>
        <p:spPr>
          <a:xfrm>
            <a:off x="6648602" y="2551176"/>
            <a:ext cx="555955" cy="292608"/>
          </a:xfrm>
          <a:prstGeom prst="rect">
            <a:avLst/>
          </a:prstGeom>
          <a:solidFill>
            <a:srgbClr val="FFFFFF"/>
          </a:solidFill>
          <a:ln/>
        </p:spPr>
        <p:txBody>
          <a:bodyPr wrap="square" lIns="0" tIns="0" rIns="0" bIns="0" rtlCol="0" anchor="ctr"/>
          <a:lstStyle/>
          <a:p>
            <a:pPr algn="ctr" indent="0" marL="0">
              <a:buNone/>
            </a:pPr>
            <a:r>
              <a:rPr lang="en-US" sz="1200" i="1" dirty="0">
                <a:solidFill>
                  <a:srgbClr val="5A6578"/>
                </a:solidFill>
              </a:rPr>
              <a:t>evalúa</a:t>
            </a:r>
            <a:endParaRPr lang="en-US" sz="1200" dirty="0"/>
          </a:p>
        </p:txBody>
      </p:sp>
      <p:sp>
        <p:nvSpPr>
          <p:cNvPr id="43" name="Shape 41"/>
          <p:cNvSpPr/>
          <p:nvPr/>
        </p:nvSpPr>
        <p:spPr>
          <a:xfrm flipV="1">
            <a:off x="8046720" y="1883664"/>
            <a:ext cx="914" cy="530352"/>
          </a:xfrm>
          <a:prstGeom prst="line">
            <a:avLst/>
          </a:prstGeom>
          <a:noFill/>
          <a:ln w="19050">
            <a:solidFill>
              <a:srgbClr val="4A5568"/>
            </a:solidFill>
            <a:prstDash val="solid"/>
            <a:tailEnd type="triangle"/>
          </a:ln>
        </p:spPr>
      </p:sp>
      <p:sp>
        <p:nvSpPr>
          <p:cNvPr id="44" name="Text 42"/>
          <p:cNvSpPr txBox="1"/>
          <p:nvPr/>
        </p:nvSpPr>
        <p:spPr>
          <a:xfrm>
            <a:off x="8119872" y="2002536"/>
            <a:ext cx="555955" cy="292608"/>
          </a:xfrm>
          <a:prstGeom prst="rect">
            <a:avLst/>
          </a:prstGeom>
          <a:noFill/>
          <a:ln/>
        </p:spPr>
        <p:txBody>
          <a:bodyPr wrap="square" lIns="0" tIns="0" rIns="0" bIns="0" rtlCol="0" anchor="ctr"/>
          <a:lstStyle/>
          <a:p>
            <a:pPr indent="0" marL="0">
              <a:buNone/>
            </a:pPr>
            <a:r>
              <a:rPr lang="en-US" sz="1300" i="1" dirty="0">
                <a:solidFill>
                  <a:srgbClr val="5A6578"/>
                </a:solidFill>
              </a:rPr>
              <a:t>impone</a:t>
            </a:r>
            <a:endParaRPr lang="en-US" sz="1300" dirty="0"/>
          </a:p>
        </p:txBody>
      </p:sp>
      <p:sp>
        <p:nvSpPr>
          <p:cNvPr id="45" name="Shape 43"/>
          <p:cNvSpPr/>
          <p:nvPr/>
        </p:nvSpPr>
        <p:spPr>
          <a:xfrm>
            <a:off x="5806440" y="2980944"/>
            <a:ext cx="914" cy="530352"/>
          </a:xfrm>
          <a:prstGeom prst="line">
            <a:avLst/>
          </a:prstGeom>
          <a:noFill/>
          <a:ln w="19050">
            <a:solidFill>
              <a:srgbClr val="4A5568"/>
            </a:solidFill>
            <a:prstDash val="solid"/>
            <a:tailEnd type="triangle"/>
          </a:ln>
        </p:spPr>
      </p:sp>
      <p:sp>
        <p:nvSpPr>
          <p:cNvPr id="46" name="Text 44"/>
          <p:cNvSpPr txBox="1"/>
          <p:nvPr/>
        </p:nvSpPr>
        <p:spPr>
          <a:xfrm>
            <a:off x="5879592" y="3099816"/>
            <a:ext cx="548640" cy="292608"/>
          </a:xfrm>
          <a:prstGeom prst="rect">
            <a:avLst/>
          </a:prstGeom>
          <a:noFill/>
          <a:ln/>
        </p:spPr>
        <p:txBody>
          <a:bodyPr wrap="square" lIns="0" tIns="0" rIns="0" bIns="0" rtlCol="0" anchor="ctr"/>
          <a:lstStyle/>
          <a:p>
            <a:pPr indent="0" marL="0">
              <a:buNone/>
            </a:pPr>
            <a:r>
              <a:rPr lang="en-US" sz="1300" i="1" dirty="0">
                <a:solidFill>
                  <a:srgbClr val="5A6578"/>
                </a:solidFill>
              </a:rPr>
              <a:t>tiene</a:t>
            </a:r>
            <a:endParaRPr lang="en-US" sz="1300" dirty="0"/>
          </a:p>
        </p:txBody>
      </p:sp>
      <p:sp>
        <p:nvSpPr>
          <p:cNvPr id="47" name="Shape 45"/>
          <p:cNvSpPr/>
          <p:nvPr/>
        </p:nvSpPr>
        <p:spPr>
          <a:xfrm>
            <a:off x="5806440" y="4078224"/>
            <a:ext cx="914" cy="530352"/>
          </a:xfrm>
          <a:prstGeom prst="line">
            <a:avLst/>
          </a:prstGeom>
          <a:noFill/>
          <a:ln w="19050">
            <a:solidFill>
              <a:srgbClr val="4A5568"/>
            </a:solidFill>
            <a:prstDash val="solid"/>
            <a:tailEnd type="triangle"/>
          </a:ln>
        </p:spPr>
      </p:sp>
      <p:sp>
        <p:nvSpPr>
          <p:cNvPr id="48" name="Text 46"/>
          <p:cNvSpPr txBox="1"/>
          <p:nvPr/>
        </p:nvSpPr>
        <p:spPr>
          <a:xfrm>
            <a:off x="5879592" y="4197096"/>
            <a:ext cx="548640" cy="292608"/>
          </a:xfrm>
          <a:prstGeom prst="rect">
            <a:avLst/>
          </a:prstGeom>
          <a:noFill/>
          <a:ln/>
        </p:spPr>
        <p:txBody>
          <a:bodyPr wrap="square" lIns="0" tIns="0" rIns="0" bIns="0" rtlCol="0" anchor="ctr"/>
          <a:lstStyle/>
          <a:p>
            <a:pPr indent="0" marL="0">
              <a:buNone/>
            </a:pPr>
            <a:r>
              <a:rPr lang="en-US" sz="1300" i="1" dirty="0">
                <a:solidFill>
                  <a:srgbClr val="5A6578"/>
                </a:solidFill>
              </a:rPr>
              <a:t>viola</a:t>
            </a:r>
            <a:endParaRPr lang="en-US" sz="1300" dirty="0"/>
          </a:p>
        </p:txBody>
      </p:sp>
      <p:sp>
        <p:nvSpPr>
          <p:cNvPr id="49" name="Shape 47"/>
          <p:cNvSpPr/>
          <p:nvPr/>
        </p:nvSpPr>
        <p:spPr>
          <a:xfrm flipV="1">
            <a:off x="6385179" y="4078224"/>
            <a:ext cx="1082802" cy="530352"/>
          </a:xfrm>
          <a:prstGeom prst="line">
            <a:avLst/>
          </a:prstGeom>
          <a:noFill/>
          <a:ln w="19050">
            <a:solidFill>
              <a:srgbClr val="4A5568"/>
            </a:solidFill>
            <a:prstDash val="solid"/>
            <a:tailEnd type="triangle"/>
          </a:ln>
        </p:spPr>
      </p:sp>
      <p:sp>
        <p:nvSpPr>
          <p:cNvPr id="50" name="Text 48"/>
          <p:cNvSpPr txBox="1"/>
          <p:nvPr/>
        </p:nvSpPr>
        <p:spPr>
          <a:xfrm>
            <a:off x="6648602" y="4197096"/>
            <a:ext cx="555955" cy="292608"/>
          </a:xfrm>
          <a:prstGeom prst="rect">
            <a:avLst/>
          </a:prstGeom>
          <a:solidFill>
            <a:srgbClr val="FFFFFF"/>
          </a:solidFill>
          <a:ln/>
        </p:spPr>
        <p:txBody>
          <a:bodyPr wrap="square" lIns="0" tIns="0" rIns="0" bIns="0" rtlCol="0" anchor="ctr"/>
          <a:lstStyle/>
          <a:p>
            <a:pPr algn="ctr" indent="0" marL="0">
              <a:buNone/>
            </a:pPr>
            <a:r>
              <a:rPr lang="en-US" sz="1200" i="1" dirty="0">
                <a:solidFill>
                  <a:srgbClr val="5A6578"/>
                </a:solidFill>
              </a:rPr>
              <a:t>genera</a:t>
            </a:r>
            <a:endParaRPr lang="en-US" sz="1200" dirty="0"/>
          </a:p>
        </p:txBody>
      </p:sp>
      <p:sp>
        <p:nvSpPr>
          <p:cNvPr id="51" name="Shape 49"/>
          <p:cNvSpPr/>
          <p:nvPr/>
        </p:nvSpPr>
        <p:spPr>
          <a:xfrm>
            <a:off x="8046720" y="2980944"/>
            <a:ext cx="914" cy="530352"/>
          </a:xfrm>
          <a:prstGeom prst="line">
            <a:avLst/>
          </a:prstGeom>
          <a:noFill/>
          <a:ln w="19050">
            <a:solidFill>
              <a:srgbClr val="4A5568"/>
            </a:solidFill>
            <a:prstDash val="solid"/>
            <a:tailEnd type="triangle"/>
          </a:ln>
        </p:spPr>
      </p:sp>
      <p:sp>
        <p:nvSpPr>
          <p:cNvPr id="52" name="Text 50"/>
          <p:cNvSpPr txBox="1"/>
          <p:nvPr/>
        </p:nvSpPr>
        <p:spPr>
          <a:xfrm>
            <a:off x="8119872" y="3099816"/>
            <a:ext cx="548640" cy="292608"/>
          </a:xfrm>
          <a:prstGeom prst="rect">
            <a:avLst/>
          </a:prstGeom>
          <a:noFill/>
          <a:ln/>
        </p:spPr>
        <p:txBody>
          <a:bodyPr wrap="square" lIns="0" tIns="0" rIns="0" bIns="0" rtlCol="0" anchor="ctr"/>
          <a:lstStyle/>
          <a:p>
            <a:pPr indent="0" marL="0">
              <a:buNone/>
            </a:pPr>
            <a:r>
              <a:rPr lang="en-US" sz="1300" i="1" dirty="0">
                <a:solidFill>
                  <a:srgbClr val="5A6578"/>
                </a:solidFill>
              </a:rPr>
              <a:t>reúne</a:t>
            </a:r>
            <a:endParaRPr lang="en-US" sz="1300" dirty="0"/>
          </a:p>
        </p:txBody>
      </p:sp>
      <p:sp>
        <p:nvSpPr>
          <p:cNvPr id="53" name="Shape 51"/>
          <p:cNvSpPr/>
          <p:nvPr/>
        </p:nvSpPr>
        <p:spPr>
          <a:xfrm>
            <a:off x="8869680" y="3794760"/>
            <a:ext cx="594360" cy="914"/>
          </a:xfrm>
          <a:prstGeom prst="line">
            <a:avLst/>
          </a:prstGeom>
          <a:noFill/>
          <a:ln w="19050">
            <a:solidFill>
              <a:srgbClr val="4A5568"/>
            </a:solidFill>
            <a:prstDash val="solid"/>
            <a:tailEnd type="triangle"/>
          </a:ln>
        </p:spPr>
      </p:sp>
      <p:sp>
        <p:nvSpPr>
          <p:cNvPr id="54" name="Text 52"/>
          <p:cNvSpPr txBox="1"/>
          <p:nvPr/>
        </p:nvSpPr>
        <p:spPr>
          <a:xfrm>
            <a:off x="8892540" y="3648456"/>
            <a:ext cx="548640" cy="292608"/>
          </a:xfrm>
          <a:prstGeom prst="rect">
            <a:avLst/>
          </a:prstGeom>
          <a:solidFill>
            <a:srgbClr val="FFFFFF"/>
          </a:solidFill>
          <a:ln/>
        </p:spPr>
        <p:txBody>
          <a:bodyPr wrap="square" lIns="0" tIns="0" rIns="0" bIns="0" rtlCol="0" anchor="ctr"/>
          <a:lstStyle/>
          <a:p>
            <a:pPr algn="ctr" indent="0" marL="0">
              <a:buNone/>
            </a:pPr>
            <a:r>
              <a:rPr lang="en-US" sz="1200" i="1" dirty="0">
                <a:solidFill>
                  <a:srgbClr val="5A6578"/>
                </a:solidFill>
              </a:rPr>
              <a:t>exige</a:t>
            </a:r>
            <a:endParaRPr lang="en-US" sz="1200" dirty="0"/>
          </a:p>
        </p:txBody>
      </p:sp>
      <p:sp>
        <p:nvSpPr>
          <p:cNvPr id="55" name="Shape 53"/>
          <p:cNvSpPr/>
          <p:nvPr/>
        </p:nvSpPr>
        <p:spPr>
          <a:xfrm>
            <a:off x="10287000" y="4078224"/>
            <a:ext cx="914" cy="530352"/>
          </a:xfrm>
          <a:prstGeom prst="line">
            <a:avLst/>
          </a:prstGeom>
          <a:noFill/>
          <a:ln w="19050">
            <a:solidFill>
              <a:srgbClr val="4A5568"/>
            </a:solidFill>
            <a:prstDash val="solid"/>
            <a:tailEnd type="triangle"/>
          </a:ln>
        </p:spPr>
      </p:sp>
      <p:sp>
        <p:nvSpPr>
          <p:cNvPr id="56" name="Text 54"/>
          <p:cNvSpPr txBox="1"/>
          <p:nvPr/>
        </p:nvSpPr>
        <p:spPr>
          <a:xfrm>
            <a:off x="10360152" y="4197096"/>
            <a:ext cx="698602" cy="292608"/>
          </a:xfrm>
          <a:prstGeom prst="rect">
            <a:avLst/>
          </a:prstGeom>
          <a:noFill/>
          <a:ln/>
        </p:spPr>
        <p:txBody>
          <a:bodyPr wrap="square" lIns="0" tIns="0" rIns="0" bIns="0" rtlCol="0" anchor="ctr"/>
          <a:lstStyle/>
          <a:p>
            <a:pPr indent="0" marL="0">
              <a:buNone/>
            </a:pPr>
            <a:r>
              <a:rPr lang="en-US" sz="1300" i="1" dirty="0">
                <a:solidFill>
                  <a:srgbClr val="5A6578"/>
                </a:solidFill>
              </a:rPr>
              <a:t>conforma</a:t>
            </a:r>
            <a:endParaRPr lang="en-US" sz="1300" dirty="0"/>
          </a:p>
        </p:txBody>
      </p:sp>
      <p:sp>
        <p:nvSpPr>
          <p:cNvPr id="57" name="Shape 55"/>
          <p:cNvSpPr/>
          <p:nvPr/>
        </p:nvSpPr>
        <p:spPr>
          <a:xfrm>
            <a:off x="502920" y="3474720"/>
            <a:ext cx="320040" cy="219456"/>
          </a:xfrm>
          <a:prstGeom prst="roundRect">
            <a:avLst>
              <a:gd name="adj" fmla="val 20833"/>
            </a:avLst>
          </a:prstGeom>
          <a:solidFill>
            <a:srgbClr val="E3EEF9"/>
          </a:solidFill>
          <a:ln w="19050">
            <a:solidFill>
              <a:srgbClr val="2B6CB0"/>
            </a:solidFill>
            <a:prstDash val="solid"/>
          </a:ln>
        </p:spPr>
      </p:sp>
      <p:sp>
        <p:nvSpPr>
          <p:cNvPr id="58" name="Text 56"/>
          <p:cNvSpPr txBox="1"/>
          <p:nvPr/>
        </p:nvSpPr>
        <p:spPr>
          <a:xfrm>
            <a:off x="914400" y="3429000"/>
            <a:ext cx="1508760" cy="310896"/>
          </a:xfrm>
          <a:prstGeom prst="rect">
            <a:avLst/>
          </a:prstGeom>
          <a:noFill/>
          <a:ln/>
        </p:spPr>
        <p:txBody>
          <a:bodyPr wrap="square" lIns="0" tIns="0" rIns="0" bIns="0" rtlCol="0" anchor="ctr"/>
          <a:lstStyle/>
          <a:p>
            <a:pPr indent="0" marL="0">
              <a:buNone/>
            </a:pPr>
            <a:r>
              <a:rPr lang="en-US" sz="1400" dirty="0">
                <a:solidFill>
                  <a:srgbClr val="1A202C"/>
                </a:solidFill>
              </a:rPr>
              <a:t>Interpretación</a:t>
            </a:r>
            <a:endParaRPr lang="en-US" sz="1400" dirty="0"/>
          </a:p>
        </p:txBody>
      </p:sp>
      <p:sp>
        <p:nvSpPr>
          <p:cNvPr id="59" name="Shape 57"/>
          <p:cNvSpPr/>
          <p:nvPr/>
        </p:nvSpPr>
        <p:spPr>
          <a:xfrm>
            <a:off x="2468880" y="3474720"/>
            <a:ext cx="320040" cy="219456"/>
          </a:xfrm>
          <a:prstGeom prst="roundRect">
            <a:avLst>
              <a:gd name="adj" fmla="val 20833"/>
            </a:avLst>
          </a:prstGeom>
          <a:solidFill>
            <a:srgbClr val="E0F4F1"/>
          </a:solidFill>
          <a:ln w="19050">
            <a:solidFill>
              <a:srgbClr val="2A9D8F"/>
            </a:solidFill>
            <a:prstDash val="solid"/>
          </a:ln>
        </p:spPr>
      </p:sp>
      <p:sp>
        <p:nvSpPr>
          <p:cNvPr id="60" name="Text 58"/>
          <p:cNvSpPr txBox="1"/>
          <p:nvPr/>
        </p:nvSpPr>
        <p:spPr>
          <a:xfrm>
            <a:off x="2880360" y="3429000"/>
            <a:ext cx="1508760" cy="310896"/>
          </a:xfrm>
          <a:prstGeom prst="rect">
            <a:avLst/>
          </a:prstGeom>
          <a:noFill/>
          <a:ln/>
        </p:spPr>
        <p:txBody>
          <a:bodyPr wrap="square" lIns="0" tIns="0" rIns="0" bIns="0" rtlCol="0" anchor="ctr"/>
          <a:lstStyle/>
          <a:p>
            <a:pPr indent="0" marL="0">
              <a:buNone/>
            </a:pPr>
            <a:r>
              <a:rPr lang="en-US" sz="1400" dirty="0">
                <a:solidFill>
                  <a:srgbClr val="1A202C"/>
                </a:solidFill>
              </a:rPr>
              <a:t>Materiales</a:t>
            </a:r>
            <a:endParaRPr lang="en-US" sz="1400" dirty="0"/>
          </a:p>
        </p:txBody>
      </p:sp>
      <p:sp>
        <p:nvSpPr>
          <p:cNvPr id="61" name="Shape 59"/>
          <p:cNvSpPr/>
          <p:nvPr/>
        </p:nvSpPr>
        <p:spPr>
          <a:xfrm>
            <a:off x="502920" y="3840480"/>
            <a:ext cx="320040" cy="219456"/>
          </a:xfrm>
          <a:prstGeom prst="roundRect">
            <a:avLst>
              <a:gd name="adj" fmla="val 20833"/>
            </a:avLst>
          </a:prstGeom>
          <a:solidFill>
            <a:srgbClr val="FDEBDD"/>
          </a:solidFill>
          <a:ln w="19050">
            <a:solidFill>
              <a:srgbClr val="D9480F"/>
            </a:solidFill>
            <a:prstDash val="solid"/>
          </a:ln>
        </p:spPr>
      </p:sp>
      <p:sp>
        <p:nvSpPr>
          <p:cNvPr id="62" name="Text 60"/>
          <p:cNvSpPr txBox="1"/>
          <p:nvPr/>
        </p:nvSpPr>
        <p:spPr>
          <a:xfrm>
            <a:off x="914400" y="3794760"/>
            <a:ext cx="1508760" cy="310896"/>
          </a:xfrm>
          <a:prstGeom prst="rect">
            <a:avLst/>
          </a:prstGeom>
          <a:noFill/>
          <a:ln/>
        </p:spPr>
        <p:txBody>
          <a:bodyPr wrap="square" lIns="0" tIns="0" rIns="0" bIns="0" rtlCol="0" anchor="ctr"/>
          <a:lstStyle/>
          <a:p>
            <a:pPr indent="0" marL="0">
              <a:buNone/>
            </a:pPr>
            <a:r>
              <a:rPr lang="en-US" sz="1400" dirty="0">
                <a:solidFill>
                  <a:srgbClr val="1A202C"/>
                </a:solidFill>
              </a:rPr>
              <a:t>Fabricación</a:t>
            </a:r>
            <a:endParaRPr lang="en-US" sz="1400" dirty="0"/>
          </a:p>
        </p:txBody>
      </p:sp>
      <p:sp>
        <p:nvSpPr>
          <p:cNvPr id="63" name="Shape 61"/>
          <p:cNvSpPr/>
          <p:nvPr/>
        </p:nvSpPr>
        <p:spPr>
          <a:xfrm>
            <a:off x="2468880" y="3840480"/>
            <a:ext cx="320040" cy="219456"/>
          </a:xfrm>
          <a:prstGeom prst="roundRect">
            <a:avLst>
              <a:gd name="adj" fmla="val 20833"/>
            </a:avLst>
          </a:prstGeom>
          <a:solidFill>
            <a:srgbClr val="EEE8FA"/>
          </a:solidFill>
          <a:ln w="19050">
            <a:solidFill>
              <a:srgbClr val="6B46C1"/>
            </a:solidFill>
            <a:prstDash val="solid"/>
          </a:ln>
        </p:spPr>
      </p:sp>
      <p:sp>
        <p:nvSpPr>
          <p:cNvPr id="64" name="Text 62"/>
          <p:cNvSpPr txBox="1"/>
          <p:nvPr/>
        </p:nvSpPr>
        <p:spPr>
          <a:xfrm>
            <a:off x="2880360" y="3794760"/>
            <a:ext cx="1508760" cy="310896"/>
          </a:xfrm>
          <a:prstGeom prst="rect">
            <a:avLst/>
          </a:prstGeom>
          <a:noFill/>
          <a:ln/>
        </p:spPr>
        <p:txBody>
          <a:bodyPr wrap="square" lIns="0" tIns="0" rIns="0" bIns="0" rtlCol="0" anchor="ctr"/>
          <a:lstStyle/>
          <a:p>
            <a:pPr indent="0" marL="0">
              <a:buNone/>
            </a:pPr>
            <a:r>
              <a:rPr lang="en-US" sz="1400" dirty="0">
                <a:solidFill>
                  <a:srgbClr val="1A202C"/>
                </a:solidFill>
              </a:rPr>
              <a:t>Compartido</a:t>
            </a:r>
            <a:endParaRPr lang="en-US" sz="1400" dirty="0"/>
          </a:p>
        </p:txBody>
      </p:sp>
      <p:sp>
        <p:nvSpPr>
          <p:cNvPr id="65" name="Shape 63"/>
          <p:cNvSpPr/>
          <p:nvPr/>
        </p:nvSpPr>
        <p:spPr>
          <a:xfrm>
            <a:off x="502920" y="4297680"/>
            <a:ext cx="3886200" cy="960120"/>
          </a:xfrm>
          <a:prstGeom prst="roundRect">
            <a:avLst>
              <a:gd name="adj" fmla="val 7619"/>
            </a:avLst>
          </a:prstGeom>
          <a:solidFill>
            <a:srgbClr val="F4F6FA"/>
          </a:solidFill>
          <a:ln w="15875">
            <a:solidFill>
              <a:srgbClr val="F4F6FA"/>
            </a:solidFill>
            <a:prstDash val="solid"/>
          </a:ln>
        </p:spPr>
      </p:sp>
      <p:sp>
        <p:nvSpPr>
          <p:cNvPr id="66" name="Text 64"/>
          <p:cNvSpPr txBox="1"/>
          <p:nvPr/>
        </p:nvSpPr>
        <p:spPr>
          <a:xfrm>
            <a:off x="685800" y="4297680"/>
            <a:ext cx="3566160" cy="960120"/>
          </a:xfrm>
          <a:prstGeom prst="rect">
            <a:avLst/>
          </a:prstGeom>
          <a:noFill/>
          <a:ln/>
        </p:spPr>
        <p:txBody>
          <a:bodyPr wrap="square" lIns="0" tIns="0" rIns="0" bIns="0" rtlCol="0" anchor="ctr"/>
          <a:lstStyle/>
          <a:p>
            <a:pPr indent="0" marL="0">
              <a:buNone/>
            </a:pPr>
            <a:r>
              <a:rPr lang="en-US" sz="1400" dirty="0">
                <a:solidFill>
                  <a:srgbClr val="1A202C"/>
                </a:solidFill>
              </a:rPr>
              <a:t>Cada uno hizo su red (PI2) y las unimos en una sola. Esta es la vista corta; la completa está en el anexo.</a:t>
            </a:r>
            <a:endParaRPr lang="en-US" sz="1400" dirty="0"/>
          </a:p>
        </p:txBody>
      </p:sp>
      <p:sp>
        <p:nvSpPr>
          <p:cNvPr id="67" name="Text 65"/>
          <p:cNvSpPr txBox="1"/>
          <p:nvPr/>
        </p:nvSpPr>
        <p:spPr>
          <a:xfrm>
            <a:off x="502920" y="5440680"/>
            <a:ext cx="2743200" cy="320040"/>
          </a:xfrm>
          <a:prstGeom prst="rect">
            <a:avLst/>
          </a:prstGeom>
          <a:noFill/>
          <a:ln/>
        </p:spPr>
        <p:txBody>
          <a:bodyPr wrap="square" lIns="0" tIns="0" rIns="0" bIns="0" rtlCol="0" anchor="ctr"/>
          <a:lstStyle/>
          <a:p>
            <a:pPr indent="0" marL="0">
              <a:buNone/>
            </a:pPr>
            <a:r>
              <a:rPr lang="en-US" sz="1500" b="1" dirty="0">
                <a:solidFill>
                  <a:srgbClr val="FF2E88"/>
                </a:solidFill>
              </a:rPr>
              <a:t>Reglas de diseño</a:t>
            </a:r>
            <a:endParaRPr lang="en-US" sz="1500" dirty="0"/>
          </a:p>
        </p:txBody>
      </p:sp>
      <p:sp>
        <p:nvSpPr>
          <p:cNvPr id="68" name="Shape 66"/>
          <p:cNvSpPr/>
          <p:nvPr/>
        </p:nvSpPr>
        <p:spPr>
          <a:xfrm>
            <a:off x="502920" y="5779008"/>
            <a:ext cx="3584448" cy="457200"/>
          </a:xfrm>
          <a:prstGeom prst="roundRect">
            <a:avLst>
              <a:gd name="adj" fmla="val 50000"/>
            </a:avLst>
          </a:prstGeom>
          <a:solidFill>
            <a:srgbClr val="FFF0F6"/>
          </a:solidFill>
          <a:ln w="15875">
            <a:solidFill>
              <a:srgbClr val="FF2E88"/>
            </a:solidFill>
            <a:prstDash val="solid"/>
          </a:ln>
        </p:spPr>
      </p:sp>
      <p:sp>
        <p:nvSpPr>
          <p:cNvPr id="69" name="Text 67"/>
          <p:cNvSpPr txBox="1"/>
          <p:nvPr/>
        </p:nvSpPr>
        <p:spPr>
          <a:xfrm>
            <a:off x="502920" y="5779008"/>
            <a:ext cx="3584448" cy="457200"/>
          </a:xfrm>
          <a:prstGeom prst="rect">
            <a:avLst/>
          </a:prstGeom>
          <a:noFill/>
          <a:ln/>
        </p:spPr>
        <p:txBody>
          <a:bodyPr wrap="square" lIns="0" tIns="0" rIns="0" bIns="0" rtlCol="0" anchor="ctr"/>
          <a:lstStyle/>
          <a:p>
            <a:pPr algn="ctr" indent="0" marL="0">
              <a:buNone/>
            </a:pPr>
            <a:r>
              <a:rPr lang="en-US" sz="1500" b="1" dirty="0">
                <a:solidFill>
                  <a:srgbClr val="1A202C"/>
                </a:solidFill>
              </a:rPr>
              <a:t>Cada relación con verbo y dirección</a:t>
            </a:r>
            <a:endParaRPr lang="en-US" sz="1500" dirty="0"/>
          </a:p>
        </p:txBody>
      </p:sp>
      <p:sp>
        <p:nvSpPr>
          <p:cNvPr id="70" name="Shape 68"/>
          <p:cNvSpPr/>
          <p:nvPr/>
        </p:nvSpPr>
        <p:spPr>
          <a:xfrm>
            <a:off x="4270248" y="5779008"/>
            <a:ext cx="3584448" cy="457200"/>
          </a:xfrm>
          <a:prstGeom prst="roundRect">
            <a:avLst>
              <a:gd name="adj" fmla="val 50000"/>
            </a:avLst>
          </a:prstGeom>
          <a:solidFill>
            <a:srgbClr val="FFF0F6"/>
          </a:solidFill>
          <a:ln w="15875">
            <a:solidFill>
              <a:srgbClr val="FF2E88"/>
            </a:solidFill>
            <a:prstDash val="solid"/>
          </a:ln>
        </p:spPr>
      </p:sp>
      <p:sp>
        <p:nvSpPr>
          <p:cNvPr id="71" name="Text 69"/>
          <p:cNvSpPr txBox="1"/>
          <p:nvPr/>
        </p:nvSpPr>
        <p:spPr>
          <a:xfrm>
            <a:off x="4270248" y="5779008"/>
            <a:ext cx="3584448" cy="457200"/>
          </a:xfrm>
          <a:prstGeom prst="rect">
            <a:avLst/>
          </a:prstGeom>
          <a:noFill/>
          <a:ln/>
        </p:spPr>
        <p:txBody>
          <a:bodyPr wrap="square" lIns="0" tIns="0" rIns="0" bIns="0" rtlCol="0" anchor="ctr"/>
          <a:lstStyle/>
          <a:p>
            <a:pPr algn="ctr" indent="0" marL="0">
              <a:buNone/>
            </a:pPr>
            <a:r>
              <a:rPr lang="en-US" sz="1500" b="1" dirty="0">
                <a:solidFill>
                  <a:srgbClr val="1A202C"/>
                </a:solidFill>
              </a:rPr>
              <a:t>Un concepto = un solo nombre</a:t>
            </a:r>
            <a:endParaRPr lang="en-US" sz="1500" dirty="0"/>
          </a:p>
        </p:txBody>
      </p:sp>
      <p:sp>
        <p:nvSpPr>
          <p:cNvPr id="72" name="Shape 70"/>
          <p:cNvSpPr/>
          <p:nvPr/>
        </p:nvSpPr>
        <p:spPr>
          <a:xfrm>
            <a:off x="8037576" y="5779008"/>
            <a:ext cx="3584448" cy="457200"/>
          </a:xfrm>
          <a:prstGeom prst="roundRect">
            <a:avLst>
              <a:gd name="adj" fmla="val 50000"/>
            </a:avLst>
          </a:prstGeom>
          <a:solidFill>
            <a:srgbClr val="FFF0F6"/>
          </a:solidFill>
          <a:ln w="15875">
            <a:solidFill>
              <a:srgbClr val="FF2E88"/>
            </a:solidFill>
            <a:prstDash val="solid"/>
          </a:ln>
        </p:spPr>
      </p:sp>
      <p:sp>
        <p:nvSpPr>
          <p:cNvPr id="73" name="Text 71"/>
          <p:cNvSpPr txBox="1"/>
          <p:nvPr/>
        </p:nvSpPr>
        <p:spPr>
          <a:xfrm>
            <a:off x="8037576" y="5779008"/>
            <a:ext cx="3584448" cy="457200"/>
          </a:xfrm>
          <a:prstGeom prst="rect">
            <a:avLst/>
          </a:prstGeom>
          <a:noFill/>
          <a:ln/>
        </p:spPr>
        <p:txBody>
          <a:bodyPr wrap="square" lIns="0" tIns="0" rIns="0" bIns="0" rtlCol="0" anchor="ctr"/>
          <a:lstStyle/>
          <a:p>
            <a:pPr algn="ctr" indent="0" marL="0">
              <a:buNone/>
            </a:pPr>
            <a:r>
              <a:rPr lang="en-US" sz="1500" b="1" dirty="0">
                <a:solidFill>
                  <a:srgbClr val="1A202C"/>
                </a:solidFill>
              </a:rPr>
              <a:t>Lo compartido une los submódulos</a:t>
            </a:r>
            <a:endParaRPr lang="en-US" sz="15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De la red a los frames: una ficha con casilleros</a:t>
            </a:r>
            <a:endParaRPr lang="en-US" sz="3400" dirty="0"/>
          </a:p>
        </p:txBody>
      </p:sp>
      <p:sp>
        <p:nvSpPr>
          <p:cNvPr id="3" name="Shape 1"/>
          <p:cNvSpPr/>
          <p:nvPr/>
        </p:nvSpPr>
        <p:spPr>
          <a:xfrm>
            <a:off x="9921240" y="438912"/>
            <a:ext cx="1783080" cy="457200"/>
          </a:xfrm>
          <a:prstGeom prst="roundRect">
            <a:avLst>
              <a:gd name="adj" fmla="val 50000"/>
            </a:avLst>
          </a:prstGeom>
          <a:solidFill>
            <a:srgbClr val="2A9D8F"/>
          </a:solidFill>
          <a:ln w="12700">
            <a:solidFill>
              <a:srgbClr val="2A9D8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Lautaro</a:t>
            </a:r>
            <a:pPr algn="ctr" indent="0" marL="0">
              <a:buNone/>
            </a:pPr>
            <a:r>
              <a:rPr lang="en-US" sz="1400" dirty="0">
                <a:solidFill>
                  <a:srgbClr val="FFFFFF"/>
                </a:solidFill>
              </a:rPr>
              <a:t>  ·  1:15</a:t>
            </a:r>
            <a:endParaRPr lang="en-US" sz="1400" dirty="0"/>
          </a:p>
        </p:txBody>
      </p:sp>
      <p:sp>
        <p:nvSpPr>
          <p:cNvPr id="5" name="Text 3"/>
          <p:cNvSpPr txBox="1"/>
          <p:nvPr/>
        </p:nvSpPr>
        <p:spPr>
          <a:xfrm>
            <a:off x="502920" y="1280160"/>
            <a:ext cx="3931920" cy="365760"/>
          </a:xfrm>
          <a:prstGeom prst="rect">
            <a:avLst/>
          </a:prstGeom>
          <a:noFill/>
          <a:ln/>
        </p:spPr>
        <p:txBody>
          <a:bodyPr wrap="square" lIns="0" tIns="0" rIns="0" bIns="0" rtlCol="0" anchor="ctr"/>
          <a:lstStyle/>
          <a:p>
            <a:pPr indent="0" marL="0">
              <a:buNone/>
            </a:pPr>
            <a:r>
              <a:rPr lang="en-US" sz="1700" b="1" dirty="0">
                <a:solidFill>
                  <a:srgbClr val="5A6578"/>
                </a:solidFill>
              </a:rPr>
              <a:t>Cómo se transforma</a:t>
            </a:r>
            <a:endParaRPr lang="en-US" sz="1700" dirty="0"/>
          </a:p>
        </p:txBody>
      </p:sp>
      <p:sp>
        <p:nvSpPr>
          <p:cNvPr id="6" name="Shape 4"/>
          <p:cNvSpPr/>
          <p:nvPr/>
        </p:nvSpPr>
        <p:spPr>
          <a:xfrm>
            <a:off x="502920" y="1783080"/>
            <a:ext cx="1417320" cy="548640"/>
          </a:xfrm>
          <a:prstGeom prst="roundRect">
            <a:avLst>
              <a:gd name="adj" fmla="val 13333"/>
            </a:avLst>
          </a:prstGeom>
          <a:solidFill>
            <a:srgbClr val="F4F6FA"/>
          </a:solidFill>
          <a:ln w="15875">
            <a:solidFill>
              <a:srgbClr val="CBD5E0"/>
            </a:solidFill>
            <a:prstDash val="solid"/>
          </a:ln>
        </p:spPr>
      </p:sp>
      <p:sp>
        <p:nvSpPr>
          <p:cNvPr id="7" name="Text 5"/>
          <p:cNvSpPr txBox="1"/>
          <p:nvPr/>
        </p:nvSpPr>
        <p:spPr>
          <a:xfrm>
            <a:off x="502920" y="1783080"/>
            <a:ext cx="1417320" cy="548640"/>
          </a:xfrm>
          <a:prstGeom prst="rect">
            <a:avLst/>
          </a:prstGeom>
          <a:noFill/>
          <a:ln/>
        </p:spPr>
        <p:txBody>
          <a:bodyPr wrap="square" lIns="0" tIns="0" rIns="0" bIns="0" rtlCol="0" anchor="ctr"/>
          <a:lstStyle/>
          <a:p>
            <a:pPr algn="ctr" indent="0" marL="0">
              <a:buNone/>
            </a:pPr>
            <a:r>
              <a:rPr lang="en-US" sz="1700" b="1" dirty="0">
                <a:solidFill>
                  <a:srgbClr val="1A202C"/>
                </a:solidFill>
              </a:rPr>
              <a:t>Concepto</a:t>
            </a:r>
            <a:endParaRPr lang="en-US" sz="1700" dirty="0"/>
          </a:p>
        </p:txBody>
      </p:sp>
      <p:sp>
        <p:nvSpPr>
          <p:cNvPr id="8" name="Shape 6"/>
          <p:cNvSpPr/>
          <p:nvPr/>
        </p:nvSpPr>
        <p:spPr>
          <a:xfrm>
            <a:off x="1965960" y="2057400"/>
            <a:ext cx="411480" cy="914"/>
          </a:xfrm>
          <a:prstGeom prst="line">
            <a:avLst/>
          </a:prstGeom>
          <a:noFill/>
          <a:ln w="25400">
            <a:solidFill>
              <a:srgbClr val="1A202C"/>
            </a:solidFill>
            <a:prstDash val="solid"/>
            <a:tailEnd type="triangle"/>
          </a:ln>
        </p:spPr>
      </p:sp>
      <p:sp>
        <p:nvSpPr>
          <p:cNvPr id="9" name="Shape 7"/>
          <p:cNvSpPr/>
          <p:nvPr/>
        </p:nvSpPr>
        <p:spPr>
          <a:xfrm>
            <a:off x="2423160" y="1783080"/>
            <a:ext cx="1417320" cy="548640"/>
          </a:xfrm>
          <a:prstGeom prst="roundRect">
            <a:avLst>
              <a:gd name="adj" fmla="val 13333"/>
            </a:avLst>
          </a:prstGeom>
          <a:solidFill>
            <a:srgbClr val="E0F4F1"/>
          </a:solidFill>
          <a:ln w="15875">
            <a:solidFill>
              <a:srgbClr val="2A9D8F"/>
            </a:solidFill>
            <a:prstDash val="solid"/>
          </a:ln>
        </p:spPr>
      </p:sp>
      <p:sp>
        <p:nvSpPr>
          <p:cNvPr id="10" name="Text 8"/>
          <p:cNvSpPr txBox="1"/>
          <p:nvPr/>
        </p:nvSpPr>
        <p:spPr>
          <a:xfrm>
            <a:off x="2423160" y="1783080"/>
            <a:ext cx="1417320" cy="548640"/>
          </a:xfrm>
          <a:prstGeom prst="rect">
            <a:avLst/>
          </a:prstGeom>
          <a:noFill/>
          <a:ln/>
        </p:spPr>
        <p:txBody>
          <a:bodyPr wrap="square" lIns="0" tIns="0" rIns="0" bIns="0" rtlCol="0" anchor="ctr"/>
          <a:lstStyle/>
          <a:p>
            <a:pPr algn="ctr" indent="0" marL="0">
              <a:buNone/>
            </a:pPr>
            <a:r>
              <a:rPr lang="en-US" sz="1700" b="1" dirty="0">
                <a:solidFill>
                  <a:srgbClr val="2A9D8F"/>
                </a:solidFill>
              </a:rPr>
              <a:t>Frame</a:t>
            </a:r>
            <a:endParaRPr lang="en-US" sz="1700" dirty="0"/>
          </a:p>
        </p:txBody>
      </p:sp>
      <p:sp>
        <p:nvSpPr>
          <p:cNvPr id="11" name="Text 9"/>
          <p:cNvSpPr txBox="1"/>
          <p:nvPr/>
        </p:nvSpPr>
        <p:spPr>
          <a:xfrm>
            <a:off x="502920" y="2377440"/>
            <a:ext cx="3931920" cy="320040"/>
          </a:xfrm>
          <a:prstGeom prst="rect">
            <a:avLst/>
          </a:prstGeom>
          <a:noFill/>
          <a:ln/>
        </p:spPr>
        <p:txBody>
          <a:bodyPr wrap="square" lIns="0" tIns="0" rIns="0" bIns="0" rtlCol="0" anchor="ctr"/>
          <a:lstStyle/>
          <a:p>
            <a:pPr indent="0" marL="0">
              <a:buNone/>
            </a:pPr>
            <a:r>
              <a:rPr lang="en-US" sz="1400" i="1" dirty="0">
                <a:solidFill>
                  <a:srgbClr val="5A6578"/>
                </a:solidFill>
              </a:rPr>
              <a:t>una ficha del concepto</a:t>
            </a:r>
            <a:endParaRPr lang="en-US" sz="1400" dirty="0"/>
          </a:p>
        </p:txBody>
      </p:sp>
      <p:sp>
        <p:nvSpPr>
          <p:cNvPr id="12" name="Shape 10"/>
          <p:cNvSpPr/>
          <p:nvPr/>
        </p:nvSpPr>
        <p:spPr>
          <a:xfrm>
            <a:off x="502920" y="2971800"/>
            <a:ext cx="1417320" cy="548640"/>
          </a:xfrm>
          <a:prstGeom prst="roundRect">
            <a:avLst>
              <a:gd name="adj" fmla="val 13333"/>
            </a:avLst>
          </a:prstGeom>
          <a:solidFill>
            <a:srgbClr val="F4F6FA"/>
          </a:solidFill>
          <a:ln w="15875">
            <a:solidFill>
              <a:srgbClr val="CBD5E0"/>
            </a:solidFill>
            <a:prstDash val="solid"/>
          </a:ln>
        </p:spPr>
      </p:sp>
      <p:sp>
        <p:nvSpPr>
          <p:cNvPr id="13" name="Text 11"/>
          <p:cNvSpPr txBox="1"/>
          <p:nvPr/>
        </p:nvSpPr>
        <p:spPr>
          <a:xfrm>
            <a:off x="502920" y="2971800"/>
            <a:ext cx="1417320" cy="548640"/>
          </a:xfrm>
          <a:prstGeom prst="rect">
            <a:avLst/>
          </a:prstGeom>
          <a:noFill/>
          <a:ln/>
        </p:spPr>
        <p:txBody>
          <a:bodyPr wrap="square" lIns="0" tIns="0" rIns="0" bIns="0" rtlCol="0" anchor="ctr"/>
          <a:lstStyle/>
          <a:p>
            <a:pPr algn="ctr" indent="0" marL="0">
              <a:buNone/>
            </a:pPr>
            <a:r>
              <a:rPr lang="en-US" sz="1700" b="1" dirty="0">
                <a:solidFill>
                  <a:srgbClr val="1A202C"/>
                </a:solidFill>
              </a:rPr>
              <a:t>Atributo</a:t>
            </a:r>
            <a:endParaRPr lang="en-US" sz="1700" dirty="0"/>
          </a:p>
        </p:txBody>
      </p:sp>
      <p:sp>
        <p:nvSpPr>
          <p:cNvPr id="14" name="Shape 12"/>
          <p:cNvSpPr/>
          <p:nvPr/>
        </p:nvSpPr>
        <p:spPr>
          <a:xfrm>
            <a:off x="1965960" y="3246120"/>
            <a:ext cx="411480" cy="914"/>
          </a:xfrm>
          <a:prstGeom prst="line">
            <a:avLst/>
          </a:prstGeom>
          <a:noFill/>
          <a:ln w="25400">
            <a:solidFill>
              <a:srgbClr val="1A202C"/>
            </a:solidFill>
            <a:prstDash val="solid"/>
            <a:tailEnd type="triangle"/>
          </a:ln>
        </p:spPr>
      </p:sp>
      <p:sp>
        <p:nvSpPr>
          <p:cNvPr id="15" name="Shape 13"/>
          <p:cNvSpPr/>
          <p:nvPr/>
        </p:nvSpPr>
        <p:spPr>
          <a:xfrm>
            <a:off x="2423160" y="2971800"/>
            <a:ext cx="1417320" cy="548640"/>
          </a:xfrm>
          <a:prstGeom prst="roundRect">
            <a:avLst>
              <a:gd name="adj" fmla="val 13333"/>
            </a:avLst>
          </a:prstGeom>
          <a:solidFill>
            <a:srgbClr val="E0F4F1"/>
          </a:solidFill>
          <a:ln w="15875">
            <a:solidFill>
              <a:srgbClr val="2A9D8F"/>
            </a:solidFill>
            <a:prstDash val="solid"/>
          </a:ln>
        </p:spPr>
      </p:sp>
      <p:sp>
        <p:nvSpPr>
          <p:cNvPr id="16" name="Text 14"/>
          <p:cNvSpPr txBox="1"/>
          <p:nvPr/>
        </p:nvSpPr>
        <p:spPr>
          <a:xfrm>
            <a:off x="2423160" y="2971800"/>
            <a:ext cx="1417320" cy="548640"/>
          </a:xfrm>
          <a:prstGeom prst="rect">
            <a:avLst/>
          </a:prstGeom>
          <a:noFill/>
          <a:ln/>
        </p:spPr>
        <p:txBody>
          <a:bodyPr wrap="square" lIns="0" tIns="0" rIns="0" bIns="0" rtlCol="0" anchor="ctr"/>
          <a:lstStyle/>
          <a:p>
            <a:pPr algn="ctr" indent="0" marL="0">
              <a:buNone/>
            </a:pPr>
            <a:r>
              <a:rPr lang="en-US" sz="1700" b="1" dirty="0">
                <a:solidFill>
                  <a:srgbClr val="2A9D8F"/>
                </a:solidFill>
              </a:rPr>
              <a:t>Slot</a:t>
            </a:r>
            <a:endParaRPr lang="en-US" sz="1700" dirty="0"/>
          </a:p>
        </p:txBody>
      </p:sp>
      <p:sp>
        <p:nvSpPr>
          <p:cNvPr id="17" name="Text 15"/>
          <p:cNvSpPr txBox="1"/>
          <p:nvPr/>
        </p:nvSpPr>
        <p:spPr>
          <a:xfrm>
            <a:off x="502920" y="3566160"/>
            <a:ext cx="3931920" cy="320040"/>
          </a:xfrm>
          <a:prstGeom prst="rect">
            <a:avLst/>
          </a:prstGeom>
          <a:noFill/>
          <a:ln/>
        </p:spPr>
        <p:txBody>
          <a:bodyPr wrap="square" lIns="0" tIns="0" rIns="0" bIns="0" rtlCol="0" anchor="ctr"/>
          <a:lstStyle/>
          <a:p>
            <a:pPr indent="0" marL="0">
              <a:buNone/>
            </a:pPr>
            <a:r>
              <a:rPr lang="en-US" sz="1400" i="1" dirty="0">
                <a:solidFill>
                  <a:srgbClr val="5A6578"/>
                </a:solidFill>
              </a:rPr>
              <a:t>un casillero de la ficha</a:t>
            </a:r>
            <a:endParaRPr lang="en-US" sz="1400" dirty="0"/>
          </a:p>
        </p:txBody>
      </p:sp>
      <p:sp>
        <p:nvSpPr>
          <p:cNvPr id="18" name="Shape 16"/>
          <p:cNvSpPr/>
          <p:nvPr/>
        </p:nvSpPr>
        <p:spPr>
          <a:xfrm>
            <a:off x="502920" y="4160520"/>
            <a:ext cx="1417320" cy="548640"/>
          </a:xfrm>
          <a:prstGeom prst="roundRect">
            <a:avLst>
              <a:gd name="adj" fmla="val 13333"/>
            </a:avLst>
          </a:prstGeom>
          <a:solidFill>
            <a:srgbClr val="F4F6FA"/>
          </a:solidFill>
          <a:ln w="15875">
            <a:solidFill>
              <a:srgbClr val="CBD5E0"/>
            </a:solidFill>
            <a:prstDash val="solid"/>
          </a:ln>
        </p:spPr>
      </p:sp>
      <p:sp>
        <p:nvSpPr>
          <p:cNvPr id="19" name="Text 17"/>
          <p:cNvSpPr txBox="1"/>
          <p:nvPr/>
        </p:nvSpPr>
        <p:spPr>
          <a:xfrm>
            <a:off x="502920" y="4160520"/>
            <a:ext cx="1417320" cy="548640"/>
          </a:xfrm>
          <a:prstGeom prst="rect">
            <a:avLst/>
          </a:prstGeom>
          <a:noFill/>
          <a:ln/>
        </p:spPr>
        <p:txBody>
          <a:bodyPr wrap="square" lIns="0" tIns="0" rIns="0" bIns="0" rtlCol="0" anchor="ctr"/>
          <a:lstStyle/>
          <a:p>
            <a:pPr algn="ctr" indent="0" marL="0">
              <a:buNone/>
            </a:pPr>
            <a:r>
              <a:rPr lang="en-US" sz="1700" b="1" dirty="0">
                <a:solidFill>
                  <a:srgbClr val="1A202C"/>
                </a:solidFill>
              </a:rPr>
              <a:t>«es un»</a:t>
            </a:r>
            <a:endParaRPr lang="en-US" sz="1700" dirty="0"/>
          </a:p>
        </p:txBody>
      </p:sp>
      <p:sp>
        <p:nvSpPr>
          <p:cNvPr id="20" name="Shape 18"/>
          <p:cNvSpPr/>
          <p:nvPr/>
        </p:nvSpPr>
        <p:spPr>
          <a:xfrm>
            <a:off x="1965960" y="4434840"/>
            <a:ext cx="411480" cy="914"/>
          </a:xfrm>
          <a:prstGeom prst="line">
            <a:avLst/>
          </a:prstGeom>
          <a:noFill/>
          <a:ln w="25400">
            <a:solidFill>
              <a:srgbClr val="1A202C"/>
            </a:solidFill>
            <a:prstDash val="solid"/>
            <a:tailEnd type="triangle"/>
          </a:ln>
        </p:spPr>
      </p:sp>
      <p:sp>
        <p:nvSpPr>
          <p:cNvPr id="21" name="Shape 19"/>
          <p:cNvSpPr/>
          <p:nvPr/>
        </p:nvSpPr>
        <p:spPr>
          <a:xfrm>
            <a:off x="2423160" y="4160520"/>
            <a:ext cx="1417320" cy="548640"/>
          </a:xfrm>
          <a:prstGeom prst="roundRect">
            <a:avLst>
              <a:gd name="adj" fmla="val 13333"/>
            </a:avLst>
          </a:prstGeom>
          <a:solidFill>
            <a:srgbClr val="E0F4F1"/>
          </a:solidFill>
          <a:ln w="15875">
            <a:solidFill>
              <a:srgbClr val="2A9D8F"/>
            </a:solidFill>
            <a:prstDash val="solid"/>
          </a:ln>
        </p:spPr>
      </p:sp>
      <p:sp>
        <p:nvSpPr>
          <p:cNvPr id="22" name="Text 20"/>
          <p:cNvSpPr txBox="1"/>
          <p:nvPr/>
        </p:nvSpPr>
        <p:spPr>
          <a:xfrm>
            <a:off x="2423160" y="4160520"/>
            <a:ext cx="1417320" cy="548640"/>
          </a:xfrm>
          <a:prstGeom prst="rect">
            <a:avLst/>
          </a:prstGeom>
          <a:noFill/>
          <a:ln/>
        </p:spPr>
        <p:txBody>
          <a:bodyPr wrap="square" lIns="0" tIns="0" rIns="0" bIns="0" rtlCol="0" anchor="ctr"/>
          <a:lstStyle/>
          <a:p>
            <a:pPr algn="ctr" indent="0" marL="0">
              <a:buNone/>
            </a:pPr>
            <a:r>
              <a:rPr lang="en-US" sz="1700" b="1" dirty="0">
                <a:solidFill>
                  <a:srgbClr val="2A9D8F"/>
                </a:solidFill>
              </a:rPr>
              <a:t>Herencia</a:t>
            </a:r>
            <a:endParaRPr lang="en-US" sz="1700" dirty="0"/>
          </a:p>
        </p:txBody>
      </p:sp>
      <p:sp>
        <p:nvSpPr>
          <p:cNvPr id="23" name="Text 21"/>
          <p:cNvSpPr txBox="1"/>
          <p:nvPr/>
        </p:nvSpPr>
        <p:spPr>
          <a:xfrm>
            <a:off x="502920" y="4754880"/>
            <a:ext cx="3931920" cy="320040"/>
          </a:xfrm>
          <a:prstGeom prst="rect">
            <a:avLst/>
          </a:prstGeom>
          <a:noFill/>
          <a:ln/>
        </p:spPr>
        <p:txBody>
          <a:bodyPr wrap="square" lIns="0" tIns="0" rIns="0" bIns="0" rtlCol="0" anchor="ctr"/>
          <a:lstStyle/>
          <a:p>
            <a:pPr indent="0" marL="0">
              <a:buNone/>
            </a:pPr>
            <a:r>
              <a:rPr lang="en-US" sz="1400" i="1" dirty="0">
                <a:solidFill>
                  <a:srgbClr val="5A6578"/>
                </a:solidFill>
              </a:rPr>
              <a:t>PETG es un Material: recibe sus casilleros</a:t>
            </a:r>
            <a:endParaRPr lang="en-US" sz="1400" dirty="0"/>
          </a:p>
        </p:txBody>
      </p:sp>
      <p:sp>
        <p:nvSpPr>
          <p:cNvPr id="24" name="Shape 22"/>
          <p:cNvSpPr/>
          <p:nvPr/>
        </p:nvSpPr>
        <p:spPr>
          <a:xfrm>
            <a:off x="4709160" y="1280160"/>
            <a:ext cx="6949440" cy="548640"/>
          </a:xfrm>
          <a:prstGeom prst="roundRect">
            <a:avLst>
              <a:gd name="adj" fmla="val 13333"/>
            </a:avLst>
          </a:prstGeom>
          <a:solidFill>
            <a:srgbClr val="2A9D8F"/>
          </a:solidFill>
          <a:ln w="15875">
            <a:solidFill>
              <a:srgbClr val="2A9D8F"/>
            </a:solidFill>
            <a:prstDash val="solid"/>
          </a:ln>
        </p:spPr>
      </p:sp>
      <p:sp>
        <p:nvSpPr>
          <p:cNvPr id="25" name="Text 23"/>
          <p:cNvSpPr txBox="1"/>
          <p:nvPr/>
        </p:nvSpPr>
        <p:spPr>
          <a:xfrm>
            <a:off x="4937760" y="1280160"/>
            <a:ext cx="6492240" cy="548640"/>
          </a:xfrm>
          <a:prstGeom prst="rect">
            <a:avLst/>
          </a:prstGeom>
          <a:noFill/>
          <a:ln/>
        </p:spPr>
        <p:txBody>
          <a:bodyPr wrap="square" lIns="0" tIns="0" rIns="0" bIns="0" rtlCol="0" anchor="ctr"/>
          <a:lstStyle/>
          <a:p>
            <a:pPr indent="0" marL="0">
              <a:buNone/>
            </a:pPr>
            <a:r>
              <a:rPr lang="en-US" sz="1800" b="1" dirty="0">
                <a:solidFill>
                  <a:srgbClr val="FFFFFF"/>
                </a:solidFill>
              </a:rPr>
              <a:t>Frame: Soporte</a:t>
            </a:r>
            <a:pPr indent="0" marL="0">
              <a:buNone/>
            </a:pPr>
            <a:r>
              <a:rPr lang="en-US" sz="1800" dirty="0">
                <a:solidFill>
                  <a:srgbClr val="D7F0EC"/>
                </a:solidFill>
              </a:rPr>
              <a:t>   (la pared o estructura donde se cuelga el cartel)</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709160" y="1828800"/>
          <a:ext cx="6949440" cy="914400"/>
        </p:xfrm>
        <a:graphic>
          <a:graphicData uri="http://schemas.openxmlformats.org/drawingml/2006/table">
            <a:tbl>
              <a:tblPr/>
              <a:tblGrid>
                <a:gridCol w="1737360"/>
                <a:gridCol w="3657600"/>
                <a:gridCol w="1554480"/>
              </a:tblGrid>
              <a:tr h="502920">
                <a:tc>
                  <a:txBody>
                    <a:bodyPr/>
                    <a:lstStyle/>
                    <a:p>
                      <a:pPr indent="0" marL="0">
                        <a:buNone/>
                      </a:pPr>
                      <a:r>
                        <a:rPr lang="en-US" sz="1500" b="1" dirty="0">
                          <a:solidFill>
                            <a:srgbClr val="FFFFFF"/>
                          </a:solidFill>
                        </a:rPr>
                        <a:t>Slot (casillero)</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500" b="1" dirty="0">
                          <a:solidFill>
                            <a:srgbClr val="FFFFFF"/>
                          </a:solidFill>
                        </a:rPr>
                        <a:t>Qué acepta</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500" b="1" dirty="0">
                          <a:solidFill>
                            <a:srgbClr val="FFFFFF"/>
                          </a:solidFill>
                        </a:rPr>
                        <a:t>Por defecto</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r>
              <a:tr h="502920">
                <a:tc>
                  <a:txBody>
                    <a:bodyPr/>
                    <a:lstStyle/>
                    <a:p>
                      <a:pPr indent="0" marL="0">
                        <a:buNone/>
                      </a:pPr>
                      <a:r>
                        <a:rPr lang="en-US" sz="1500" b="1" dirty="0">
                          <a:solidFill>
                            <a:srgbClr val="000000"/>
                          </a:solidFill>
                        </a:rPr>
                        <a:t>tipo</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500" dirty="0">
                          <a:solidFill>
                            <a:srgbClr val="1A202C"/>
                          </a:solidFill>
                        </a:rPr>
                        <a:t>pared de ladrillo, yeso, vidrio, estructura, marquesina</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500" dirty="0">
                          <a:solidFill>
                            <a:srgbClr val="1A202C"/>
                          </a:solidFill>
                        </a:rPr>
                        <a:t>—</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000000"/>
                          </a:solidFill>
                        </a:rPr>
                        <a:t>capacidad</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500" dirty="0">
                          <a:solidFill>
                            <a:srgbClr val="1A202C"/>
                          </a:solidFill>
                        </a:rPr>
                        <a:t>baja / no baja  (a validar)</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4F6FA"/>
                    </a:solidFill>
                  </a:tcPr>
                </a:tc>
                <a:tc>
                  <a:txBody>
                    <a:bodyPr/>
                    <a:lstStyle/>
                    <a:p>
                      <a:pPr indent="0" marL="0">
                        <a:buNone/>
                      </a:pPr>
                      <a:r>
                        <a:rPr lang="en-US" sz="1500" dirty="0">
                          <a:solidFill>
                            <a:srgbClr val="1A202C"/>
                          </a:solidFill>
                        </a:rPr>
                        <a:t>—</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4F6FA"/>
                    </a:solidFill>
                  </a:tcPr>
                </a:tc>
              </a:tr>
              <a:tr h="502920">
                <a:tc>
                  <a:txBody>
                    <a:bodyPr/>
                    <a:lstStyle/>
                    <a:p>
                      <a:pPr indent="0" marL="0">
                        <a:buNone/>
                      </a:pPr>
                      <a:r>
                        <a:rPr lang="en-US" sz="1500" b="1" dirty="0">
                          <a:solidFill>
                            <a:srgbClr val="000000"/>
                          </a:solidFill>
                        </a:rPr>
                        <a:t>estado</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E0F4F1"/>
                    </a:solidFill>
                  </a:tcPr>
                </a:tc>
                <a:tc>
                  <a:txBody>
                    <a:bodyPr/>
                    <a:lstStyle/>
                    <a:p>
                      <a:pPr indent="0" marL="0">
                        <a:buNone/>
                      </a:pPr>
                      <a:r>
                        <a:rPr lang="en-US" sz="1500" dirty="0">
                          <a:solidFill>
                            <a:srgbClr val="000000"/>
                          </a:solidFill>
                        </a:rPr>
                        <a:t>verificado / no verificado / en mal estado</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E0F4F1"/>
                    </a:solidFill>
                  </a:tcPr>
                </a:tc>
                <a:tc>
                  <a:txBody>
                    <a:bodyPr/>
                    <a:lstStyle/>
                    <a:p>
                      <a:pPr indent="0" marL="0">
                        <a:buNone/>
                      </a:pPr>
                      <a:r>
                        <a:rPr lang="en-US" sz="1500" b="1" dirty="0">
                          <a:solidFill>
                            <a:srgbClr val="000000"/>
                          </a:solidFill>
                        </a:rPr>
                        <a:t>no verificado</a:t>
                      </a:r>
                      <a:endParaRPr lang="en-US" sz="15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E0F4F1"/>
                    </a:solidFill>
                  </a:tcPr>
                </a:tc>
              </a:tr>
            </a:tbl>
          </a:graphicData>
        </a:graphic>
      </p:graphicFrame>
      <p:sp>
        <p:nvSpPr>
          <p:cNvPr id="27" name="Shape 24"/>
          <p:cNvSpPr/>
          <p:nvPr/>
        </p:nvSpPr>
        <p:spPr>
          <a:xfrm>
            <a:off x="4709160" y="4023360"/>
            <a:ext cx="6949440" cy="868680"/>
          </a:xfrm>
          <a:prstGeom prst="roundRect">
            <a:avLst>
              <a:gd name="adj" fmla="val 8421"/>
            </a:avLst>
          </a:prstGeom>
          <a:solidFill>
            <a:srgbClr val="FFF0F6"/>
          </a:solidFill>
          <a:ln w="15875">
            <a:solidFill>
              <a:srgbClr val="FF2E88"/>
            </a:solidFill>
            <a:prstDash val="solid"/>
          </a:ln>
        </p:spPr>
      </p:sp>
      <p:sp>
        <p:nvSpPr>
          <p:cNvPr id="28" name="Text 25"/>
          <p:cNvSpPr txBox="1"/>
          <p:nvPr/>
        </p:nvSpPr>
        <p:spPr>
          <a:xfrm>
            <a:off x="4937760" y="4023360"/>
            <a:ext cx="6492240" cy="868680"/>
          </a:xfrm>
          <a:prstGeom prst="rect">
            <a:avLst/>
          </a:prstGeom>
          <a:noFill/>
          <a:ln/>
        </p:spPr>
        <p:txBody>
          <a:bodyPr wrap="square" lIns="0" tIns="0" rIns="0" bIns="0" rtlCol="0" anchor="ctr"/>
          <a:lstStyle/>
          <a:p>
            <a:pPr indent="0" marL="0">
              <a:buNone/>
            </a:pPr>
            <a:r>
              <a:rPr lang="en-US" sz="1600" b="1" dirty="0">
                <a:solidFill>
                  <a:srgbClr val="FF2E88"/>
                </a:solidFill>
              </a:rPr>
              <a:t>Demonio: </a:t>
            </a:r>
            <a:pPr indent="0" marL="0">
              <a:buNone/>
            </a:pPr>
            <a:r>
              <a:rPr lang="en-US" sz="1600" dirty="0">
                <a:solidFill>
                  <a:srgbClr val="1A202C"/>
                </a:solidFill>
              </a:rPr>
              <a:t>si el estado queda «no verificado» y no se sabe cuánto aguanta, agrega solo la condición «revisar el soporte antes de instalar» (R-MI-14).</a:t>
            </a:r>
            <a:endParaRPr lang="en-US" sz="1600" dirty="0"/>
          </a:p>
        </p:txBody>
      </p:sp>
      <p:sp>
        <p:nvSpPr>
          <p:cNvPr id="29" name="Shape 26"/>
          <p:cNvSpPr/>
          <p:nvPr/>
        </p:nvSpPr>
        <p:spPr>
          <a:xfrm>
            <a:off x="502920" y="5166360"/>
            <a:ext cx="11155680" cy="960120"/>
          </a:xfrm>
          <a:prstGeom prst="roundRect">
            <a:avLst>
              <a:gd name="adj" fmla="val 7619"/>
            </a:avLst>
          </a:prstGeom>
          <a:solidFill>
            <a:srgbClr val="F4F6FA"/>
          </a:solidFill>
          <a:ln w="15875">
            <a:solidFill>
              <a:srgbClr val="F4F6FA"/>
            </a:solidFill>
            <a:prstDash val="solid"/>
          </a:ln>
        </p:spPr>
      </p:sp>
      <p:sp>
        <p:nvSpPr>
          <p:cNvPr id="30" name="Text 27"/>
          <p:cNvSpPr txBox="1"/>
          <p:nvPr/>
        </p:nvSpPr>
        <p:spPr>
          <a:xfrm>
            <a:off x="731520" y="5166360"/>
            <a:ext cx="10789920" cy="960120"/>
          </a:xfrm>
          <a:prstGeom prst="rect">
            <a:avLst/>
          </a:prstGeom>
          <a:noFill/>
          <a:ln/>
        </p:spPr>
        <p:txBody>
          <a:bodyPr wrap="square" lIns="0" tIns="0" rIns="0" bIns="0" rtlCol="0" anchor="ctr"/>
          <a:lstStyle/>
          <a:p>
            <a:pPr indent="0" marL="0">
              <a:buNone/>
            </a:pPr>
            <a:r>
              <a:rPr lang="en-US" sz="1600" b="1" dirty="0">
                <a:solidFill>
                  <a:srgbClr val="1A202C"/>
                </a:solidFill>
              </a:rPr>
              <a:t>Slot</a:t>
            </a:r>
            <a:pPr indent="0" marL="0">
              <a:buNone/>
            </a:pPr>
            <a:r>
              <a:rPr lang="en-US" sz="1600" dirty="0">
                <a:solidFill>
                  <a:srgbClr val="1A202C"/>
                </a:solidFill>
              </a:rPr>
              <a:t> = un casillero.   </a:t>
            </a:r>
            <a:pPr indent="0" marL="0">
              <a:buNone/>
            </a:pPr>
            <a:r>
              <a:rPr lang="en-US" sz="1600" b="1" dirty="0">
                <a:solidFill>
                  <a:srgbClr val="1A202C"/>
                </a:solidFill>
              </a:rPr>
              <a:t>Faceta</a:t>
            </a:r>
            <a:pPr indent="0" marL="0">
              <a:buNone/>
            </a:pPr>
            <a:r>
              <a:rPr lang="en-US" sz="1600" dirty="0">
                <a:solidFill>
                  <a:srgbClr val="1A202C"/>
                </a:solidFill>
              </a:rPr>
              <a:t> = qué valores acepta y cuál va por defecto.   </a:t>
            </a:r>
            <a:pPr indent="0" marL="0">
              <a:buNone/>
            </a:pPr>
            <a:r>
              <a:rPr lang="en-US" sz="1600" b="1" dirty="0">
                <a:solidFill>
                  <a:srgbClr val="1A202C"/>
                </a:solidFill>
              </a:rPr>
              <a:t>Demonio</a:t>
            </a:r>
            <a:pPr indent="0" marL="0">
              <a:buNone/>
            </a:pPr>
            <a:r>
              <a:rPr lang="en-US" sz="1600" dirty="0">
                <a:solidFill>
                  <a:srgbClr val="1A202C"/>
                </a:solidFill>
              </a:rPr>
              <a:t> = una acción automática cuando el casillero se llena o queda vacío.</a:t>
            </a:r>
            <a:endParaRPr lang="en-US" sz="16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Reglas SI… ENTONCES…: de dónde sale cada una</a:t>
            </a:r>
            <a:endParaRPr lang="en-US" sz="3400" dirty="0"/>
          </a:p>
        </p:txBody>
      </p:sp>
      <p:sp>
        <p:nvSpPr>
          <p:cNvPr id="3" name="Shape 1"/>
          <p:cNvSpPr/>
          <p:nvPr/>
        </p:nvSpPr>
        <p:spPr>
          <a:xfrm>
            <a:off x="9921240" y="438912"/>
            <a:ext cx="1783080" cy="457200"/>
          </a:xfrm>
          <a:prstGeom prst="roundRect">
            <a:avLst>
              <a:gd name="adj" fmla="val 50000"/>
            </a:avLst>
          </a:prstGeom>
          <a:solidFill>
            <a:srgbClr val="D9480F"/>
          </a:solidFill>
          <a:ln w="12700">
            <a:solidFill>
              <a:srgbClr val="D9480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Luciano</a:t>
            </a:r>
            <a:pPr algn="ctr" indent="0" marL="0">
              <a:buNone/>
            </a:pPr>
            <a:r>
              <a:rPr lang="en-US" sz="1400" dirty="0">
                <a:solidFill>
                  <a:srgbClr val="FFFFFF"/>
                </a:solidFill>
              </a:rPr>
              <a:t>  ·  1:00</a:t>
            </a:r>
            <a:endParaRPr lang="en-US" sz="1400" dirty="0"/>
          </a:p>
        </p:txBody>
      </p:sp>
      <p:sp>
        <p:nvSpPr>
          <p:cNvPr id="5" name="Shape 3"/>
          <p:cNvSpPr/>
          <p:nvPr/>
        </p:nvSpPr>
        <p:spPr>
          <a:xfrm>
            <a:off x="502920" y="1325880"/>
            <a:ext cx="7680960" cy="1280160"/>
          </a:xfrm>
          <a:prstGeom prst="roundRect">
            <a:avLst>
              <a:gd name="adj" fmla="val 5714"/>
            </a:avLst>
          </a:prstGeom>
          <a:solidFill>
            <a:srgbClr val="E0F4F1"/>
          </a:solidFill>
          <a:ln w="15875">
            <a:solidFill>
              <a:srgbClr val="2A9D8F"/>
            </a:solidFill>
            <a:prstDash val="solid"/>
          </a:ln>
        </p:spPr>
      </p:sp>
      <p:sp>
        <p:nvSpPr>
          <p:cNvPr id="6" name="Text 4"/>
          <p:cNvSpPr txBox="1"/>
          <p:nvPr/>
        </p:nvSpPr>
        <p:spPr>
          <a:xfrm>
            <a:off x="731520" y="1435608"/>
            <a:ext cx="1463040" cy="365760"/>
          </a:xfrm>
          <a:prstGeom prst="rect">
            <a:avLst/>
          </a:prstGeom>
          <a:noFill/>
          <a:ln/>
        </p:spPr>
        <p:txBody>
          <a:bodyPr wrap="square" lIns="0" tIns="0" rIns="0" bIns="0" rtlCol="0" anchor="ctr"/>
          <a:lstStyle/>
          <a:p>
            <a:pPr indent="0" marL="0">
              <a:buNone/>
            </a:pPr>
            <a:r>
              <a:rPr lang="en-US" sz="1900" b="1" dirty="0">
                <a:solidFill>
                  <a:srgbClr val="2A9D8F"/>
                </a:solidFill>
              </a:rPr>
              <a:t>R-MI-01</a:t>
            </a:r>
            <a:endParaRPr lang="en-US" sz="1900" dirty="0"/>
          </a:p>
        </p:txBody>
      </p:sp>
      <p:sp>
        <p:nvSpPr>
          <p:cNvPr id="7" name="Text 5"/>
          <p:cNvSpPr txBox="1"/>
          <p:nvPr/>
        </p:nvSpPr>
        <p:spPr>
          <a:xfrm>
            <a:off x="731520" y="1828800"/>
            <a:ext cx="1463040" cy="274320"/>
          </a:xfrm>
          <a:prstGeom prst="rect">
            <a:avLst/>
          </a:prstGeom>
          <a:noFill/>
          <a:ln/>
        </p:spPr>
        <p:txBody>
          <a:bodyPr wrap="square" lIns="0" tIns="0" rIns="0" bIns="0" rtlCol="0" anchor="ctr"/>
          <a:lstStyle/>
          <a:p>
            <a:pPr indent="0" marL="0">
              <a:buNone/>
            </a:pPr>
            <a:r>
              <a:rPr lang="en-US" sz="1400" dirty="0">
                <a:solidFill>
                  <a:srgbClr val="5A6578"/>
                </a:solidFill>
              </a:rPr>
              <a:t>Materiales</a:t>
            </a:r>
            <a:endParaRPr lang="en-US" sz="1400" dirty="0"/>
          </a:p>
        </p:txBody>
      </p:sp>
      <p:sp>
        <p:nvSpPr>
          <p:cNvPr id="8" name="Text 6"/>
          <p:cNvSpPr txBox="1"/>
          <p:nvPr/>
        </p:nvSpPr>
        <p:spPr>
          <a:xfrm>
            <a:off x="2240280" y="1417320"/>
            <a:ext cx="4343400" cy="1097280"/>
          </a:xfrm>
          <a:prstGeom prst="rect">
            <a:avLst/>
          </a:prstGeom>
          <a:noFill/>
          <a:ln/>
        </p:spPr>
        <p:txBody>
          <a:bodyPr wrap="square" lIns="0" tIns="0" rIns="0" bIns="0" rtlCol="0" anchor="ctr"/>
          <a:lstStyle/>
          <a:p>
            <a:pPr indent="0" marL="0">
              <a:buNone/>
            </a:pPr>
            <a:r>
              <a:rPr lang="en-US" sz="1600" dirty="0">
                <a:solidFill>
                  <a:srgbClr val="1A202C"/>
                </a:solidFill>
              </a:rPr>
              <a:t>SI no se sabe dónde va, sobre qué ni el tamaño</a:t>
            </a:r>
            <a:endParaRPr lang="en-US" sz="1600" dirty="0"/>
          </a:p>
          <a:p>
            <a:pPr indent="0" marL="0">
              <a:buNone/>
            </a:pPr>
            <a:r>
              <a:rPr lang="en-US" sz="1600" b="1" dirty="0">
                <a:solidFill>
                  <a:srgbClr val="1A202C"/>
                </a:solidFill>
              </a:rPr>
              <a:t>ENTONCES no se evalúa y se le pide el dato al cliente</a:t>
            </a:r>
            <a:endParaRPr lang="en-US" sz="1600" dirty="0"/>
          </a:p>
        </p:txBody>
      </p:sp>
      <p:sp>
        <p:nvSpPr>
          <p:cNvPr id="9" name="Shape 7"/>
          <p:cNvSpPr/>
          <p:nvPr/>
        </p:nvSpPr>
        <p:spPr>
          <a:xfrm>
            <a:off x="6675120" y="1773936"/>
            <a:ext cx="1371600" cy="384048"/>
          </a:xfrm>
          <a:prstGeom prst="roundRect">
            <a:avLst>
              <a:gd name="adj" fmla="val 50000"/>
            </a:avLst>
          </a:prstGeom>
          <a:solidFill>
            <a:srgbClr val="2F855A"/>
          </a:solidFill>
          <a:ln w="12700">
            <a:solidFill>
              <a:srgbClr val="2F855A"/>
            </a:solidFill>
            <a:prstDash val="solid"/>
          </a:ln>
        </p:spPr>
      </p:sp>
      <p:sp>
        <p:nvSpPr>
          <p:cNvPr id="10" name="Text 8"/>
          <p:cNvSpPr txBox="1"/>
          <p:nvPr/>
        </p:nvSpPr>
        <p:spPr>
          <a:xfrm>
            <a:off x="6675120" y="1773936"/>
            <a:ext cx="1371600" cy="384048"/>
          </a:xfrm>
          <a:prstGeom prst="rect">
            <a:avLst/>
          </a:prstGeom>
          <a:noFill/>
          <a:ln/>
        </p:spPr>
        <p:txBody>
          <a:bodyPr wrap="square" lIns="0" tIns="0" rIns="0" bIns="0" rtlCol="0" anchor="ctr"/>
          <a:lstStyle/>
          <a:p>
            <a:pPr algn="ctr" indent="0" marL="0">
              <a:buNone/>
            </a:pPr>
            <a:r>
              <a:rPr lang="en-US" sz="1300" b="1" dirty="0">
                <a:solidFill>
                  <a:srgbClr val="FFFFFF"/>
                </a:solidFill>
              </a:rPr>
              <a:t>EXPERTO</a:t>
            </a:r>
            <a:endParaRPr lang="en-US" sz="1300" dirty="0"/>
          </a:p>
        </p:txBody>
      </p:sp>
      <p:sp>
        <p:nvSpPr>
          <p:cNvPr id="11" name="Shape 9"/>
          <p:cNvSpPr/>
          <p:nvPr/>
        </p:nvSpPr>
        <p:spPr>
          <a:xfrm>
            <a:off x="502920" y="2788920"/>
            <a:ext cx="7680960" cy="1280160"/>
          </a:xfrm>
          <a:prstGeom prst="roundRect">
            <a:avLst>
              <a:gd name="adj" fmla="val 5714"/>
            </a:avLst>
          </a:prstGeom>
          <a:solidFill>
            <a:srgbClr val="FDEBDD"/>
          </a:solidFill>
          <a:ln w="15875">
            <a:solidFill>
              <a:srgbClr val="D9480F"/>
            </a:solidFill>
            <a:prstDash val="solid"/>
          </a:ln>
        </p:spPr>
      </p:sp>
      <p:sp>
        <p:nvSpPr>
          <p:cNvPr id="12" name="Text 10"/>
          <p:cNvSpPr txBox="1"/>
          <p:nvPr/>
        </p:nvSpPr>
        <p:spPr>
          <a:xfrm>
            <a:off x="731520" y="2898648"/>
            <a:ext cx="1463040" cy="365760"/>
          </a:xfrm>
          <a:prstGeom prst="rect">
            <a:avLst/>
          </a:prstGeom>
          <a:noFill/>
          <a:ln/>
        </p:spPr>
        <p:txBody>
          <a:bodyPr wrap="square" lIns="0" tIns="0" rIns="0" bIns="0" rtlCol="0" anchor="ctr"/>
          <a:lstStyle/>
          <a:p>
            <a:pPr indent="0" marL="0">
              <a:buNone/>
            </a:pPr>
            <a:r>
              <a:rPr lang="en-US" sz="1900" b="1" dirty="0">
                <a:solidFill>
                  <a:srgbClr val="D9480F"/>
                </a:solidFill>
              </a:rPr>
              <a:t>MAN-R6</a:t>
            </a:r>
            <a:endParaRPr lang="en-US" sz="1900" dirty="0"/>
          </a:p>
        </p:txBody>
      </p:sp>
      <p:sp>
        <p:nvSpPr>
          <p:cNvPr id="13" name="Text 11"/>
          <p:cNvSpPr txBox="1"/>
          <p:nvPr/>
        </p:nvSpPr>
        <p:spPr>
          <a:xfrm>
            <a:off x="731520" y="3291840"/>
            <a:ext cx="1463040" cy="274320"/>
          </a:xfrm>
          <a:prstGeom prst="rect">
            <a:avLst/>
          </a:prstGeom>
          <a:noFill/>
          <a:ln/>
        </p:spPr>
        <p:txBody>
          <a:bodyPr wrap="square" lIns="0" tIns="0" rIns="0" bIns="0" rtlCol="0" anchor="ctr"/>
          <a:lstStyle/>
          <a:p>
            <a:pPr indent="0" marL="0">
              <a:buNone/>
            </a:pPr>
            <a:r>
              <a:rPr lang="en-US" sz="1400" dirty="0">
                <a:solidFill>
                  <a:srgbClr val="5A6578"/>
                </a:solidFill>
              </a:rPr>
              <a:t>Fabricación</a:t>
            </a:r>
            <a:endParaRPr lang="en-US" sz="1400" dirty="0"/>
          </a:p>
        </p:txBody>
      </p:sp>
      <p:sp>
        <p:nvSpPr>
          <p:cNvPr id="14" name="Text 12"/>
          <p:cNvSpPr txBox="1"/>
          <p:nvPr/>
        </p:nvSpPr>
        <p:spPr>
          <a:xfrm>
            <a:off x="2240280" y="2880360"/>
            <a:ext cx="4343400" cy="1097280"/>
          </a:xfrm>
          <a:prstGeom prst="rect">
            <a:avLst/>
          </a:prstGeom>
          <a:noFill/>
          <a:ln/>
        </p:spPr>
        <p:txBody>
          <a:bodyPr wrap="square" lIns="0" tIns="0" rIns="0" bIns="0" rtlCol="0" anchor="ctr"/>
          <a:lstStyle/>
          <a:p>
            <a:pPr indent="0" marL="0">
              <a:buNone/>
            </a:pPr>
            <a:r>
              <a:rPr lang="en-US" sz="1600" dirty="0">
                <a:solidFill>
                  <a:srgbClr val="1A202C"/>
                </a:solidFill>
              </a:rPr>
              <a:t>SI el trazo del logo es muy fino para el neón Y el cliente exige respetar su logo</a:t>
            </a:r>
            <a:endParaRPr lang="en-US" sz="1600" dirty="0"/>
          </a:p>
          <a:p>
            <a:pPr indent="0" marL="0">
              <a:buNone/>
            </a:pPr>
            <a:r>
              <a:rPr lang="en-US" sz="1600" b="1" dirty="0">
                <a:solidFill>
                  <a:srgbClr val="1A202C"/>
                </a:solidFill>
              </a:rPr>
              <a:t>ENTONCES no se engrosa: se propone retroiluminado</a:t>
            </a:r>
            <a:endParaRPr lang="en-US" sz="1600" dirty="0"/>
          </a:p>
        </p:txBody>
      </p:sp>
      <p:sp>
        <p:nvSpPr>
          <p:cNvPr id="15" name="Shape 13"/>
          <p:cNvSpPr/>
          <p:nvPr/>
        </p:nvSpPr>
        <p:spPr>
          <a:xfrm>
            <a:off x="6675120" y="3236976"/>
            <a:ext cx="1371600" cy="384048"/>
          </a:xfrm>
          <a:prstGeom prst="roundRect">
            <a:avLst>
              <a:gd name="adj" fmla="val 50000"/>
            </a:avLst>
          </a:prstGeom>
          <a:solidFill>
            <a:srgbClr val="2F855A"/>
          </a:solidFill>
          <a:ln w="12700">
            <a:solidFill>
              <a:srgbClr val="2F855A"/>
            </a:solidFill>
            <a:prstDash val="solid"/>
          </a:ln>
        </p:spPr>
      </p:sp>
      <p:sp>
        <p:nvSpPr>
          <p:cNvPr id="16" name="Text 14"/>
          <p:cNvSpPr txBox="1"/>
          <p:nvPr/>
        </p:nvSpPr>
        <p:spPr>
          <a:xfrm>
            <a:off x="6675120" y="3236976"/>
            <a:ext cx="1371600" cy="384048"/>
          </a:xfrm>
          <a:prstGeom prst="rect">
            <a:avLst/>
          </a:prstGeom>
          <a:noFill/>
          <a:ln/>
        </p:spPr>
        <p:txBody>
          <a:bodyPr wrap="square" lIns="0" tIns="0" rIns="0" bIns="0" rtlCol="0" anchor="ctr"/>
          <a:lstStyle/>
          <a:p>
            <a:pPr algn="ctr" indent="0" marL="0">
              <a:buNone/>
            </a:pPr>
            <a:r>
              <a:rPr lang="en-US" sz="1300" b="1" dirty="0">
                <a:solidFill>
                  <a:srgbClr val="FFFFFF"/>
                </a:solidFill>
              </a:rPr>
              <a:t>EXPERTO</a:t>
            </a:r>
            <a:endParaRPr lang="en-US" sz="1300" dirty="0"/>
          </a:p>
        </p:txBody>
      </p:sp>
      <p:sp>
        <p:nvSpPr>
          <p:cNvPr id="17" name="Shape 15"/>
          <p:cNvSpPr/>
          <p:nvPr/>
        </p:nvSpPr>
        <p:spPr>
          <a:xfrm>
            <a:off x="502920" y="4251960"/>
            <a:ext cx="7680960" cy="1280160"/>
          </a:xfrm>
          <a:prstGeom prst="roundRect">
            <a:avLst>
              <a:gd name="adj" fmla="val 5714"/>
            </a:avLst>
          </a:prstGeom>
          <a:solidFill>
            <a:srgbClr val="E0F4F1"/>
          </a:solidFill>
          <a:ln w="15875">
            <a:solidFill>
              <a:srgbClr val="2A9D8F"/>
            </a:solidFill>
            <a:prstDash val="solid"/>
          </a:ln>
        </p:spPr>
      </p:sp>
      <p:sp>
        <p:nvSpPr>
          <p:cNvPr id="18" name="Text 16"/>
          <p:cNvSpPr txBox="1"/>
          <p:nvPr/>
        </p:nvSpPr>
        <p:spPr>
          <a:xfrm>
            <a:off x="731520" y="4361688"/>
            <a:ext cx="1463040" cy="365760"/>
          </a:xfrm>
          <a:prstGeom prst="rect">
            <a:avLst/>
          </a:prstGeom>
          <a:noFill/>
          <a:ln/>
        </p:spPr>
        <p:txBody>
          <a:bodyPr wrap="square" lIns="0" tIns="0" rIns="0" bIns="0" rtlCol="0" anchor="ctr"/>
          <a:lstStyle/>
          <a:p>
            <a:pPr indent="0" marL="0">
              <a:buNone/>
            </a:pPr>
            <a:r>
              <a:rPr lang="en-US" sz="1900" b="1" dirty="0">
                <a:solidFill>
                  <a:srgbClr val="2A9D8F"/>
                </a:solidFill>
              </a:rPr>
              <a:t>R-MI-12</a:t>
            </a:r>
            <a:endParaRPr lang="en-US" sz="1900" dirty="0"/>
          </a:p>
        </p:txBody>
      </p:sp>
      <p:sp>
        <p:nvSpPr>
          <p:cNvPr id="19" name="Text 17"/>
          <p:cNvSpPr txBox="1"/>
          <p:nvPr/>
        </p:nvSpPr>
        <p:spPr>
          <a:xfrm>
            <a:off x="731520" y="4754880"/>
            <a:ext cx="1463040" cy="274320"/>
          </a:xfrm>
          <a:prstGeom prst="rect">
            <a:avLst/>
          </a:prstGeom>
          <a:noFill/>
          <a:ln/>
        </p:spPr>
        <p:txBody>
          <a:bodyPr wrap="square" lIns="0" tIns="0" rIns="0" bIns="0" rtlCol="0" anchor="ctr"/>
          <a:lstStyle/>
          <a:p>
            <a:pPr indent="0" marL="0">
              <a:buNone/>
            </a:pPr>
            <a:r>
              <a:rPr lang="en-US" sz="1400" dirty="0">
                <a:solidFill>
                  <a:srgbClr val="5A6578"/>
                </a:solidFill>
              </a:rPr>
              <a:t>Materiales</a:t>
            </a:r>
            <a:endParaRPr lang="en-US" sz="1400" dirty="0"/>
          </a:p>
        </p:txBody>
      </p:sp>
      <p:sp>
        <p:nvSpPr>
          <p:cNvPr id="20" name="Text 18"/>
          <p:cNvSpPr txBox="1"/>
          <p:nvPr/>
        </p:nvSpPr>
        <p:spPr>
          <a:xfrm>
            <a:off x="2240280" y="4343400"/>
            <a:ext cx="4343400" cy="1097280"/>
          </a:xfrm>
          <a:prstGeom prst="rect">
            <a:avLst/>
          </a:prstGeom>
          <a:noFill/>
          <a:ln/>
        </p:spPr>
        <p:txBody>
          <a:bodyPr wrap="square" lIns="0" tIns="0" rIns="0" bIns="0" rtlCol="0" anchor="ctr"/>
          <a:lstStyle/>
          <a:p>
            <a:pPr indent="0" marL="0">
              <a:buNone/>
            </a:pPr>
            <a:r>
              <a:rPr lang="en-US" sz="1600" dirty="0">
                <a:solidFill>
                  <a:srgbClr val="1A202C"/>
                </a:solidFill>
              </a:rPr>
              <a:t>SI hay al menos un problema que no tiene arreglo</a:t>
            </a:r>
            <a:endParaRPr lang="en-US" sz="1600" dirty="0"/>
          </a:p>
          <a:p>
            <a:pPr indent="0" marL="0">
              <a:buNone/>
            </a:pPr>
            <a:r>
              <a:rPr lang="en-US" sz="1600" b="1" dirty="0">
                <a:solidFill>
                  <a:srgbClr val="1A202C"/>
                </a:solidFill>
              </a:rPr>
              <a:t>ENTONCES el dictamen es NO APTO, con cada causa</a:t>
            </a:r>
            <a:endParaRPr lang="en-US" sz="1600" dirty="0"/>
          </a:p>
        </p:txBody>
      </p:sp>
      <p:sp>
        <p:nvSpPr>
          <p:cNvPr id="21" name="Shape 19"/>
          <p:cNvSpPr/>
          <p:nvPr/>
        </p:nvSpPr>
        <p:spPr>
          <a:xfrm>
            <a:off x="6675120" y="4700016"/>
            <a:ext cx="1371600" cy="384048"/>
          </a:xfrm>
          <a:prstGeom prst="roundRect">
            <a:avLst>
              <a:gd name="adj" fmla="val 50000"/>
            </a:avLst>
          </a:prstGeom>
          <a:solidFill>
            <a:srgbClr val="FF2E88"/>
          </a:solidFill>
          <a:ln w="12700">
            <a:solidFill>
              <a:srgbClr val="FF2E88"/>
            </a:solidFill>
            <a:prstDash val="solid"/>
          </a:ln>
        </p:spPr>
      </p:sp>
      <p:sp>
        <p:nvSpPr>
          <p:cNvPr id="22" name="Text 20"/>
          <p:cNvSpPr txBox="1"/>
          <p:nvPr/>
        </p:nvSpPr>
        <p:spPr>
          <a:xfrm>
            <a:off x="6675120" y="4700016"/>
            <a:ext cx="1371600" cy="384048"/>
          </a:xfrm>
          <a:prstGeom prst="rect">
            <a:avLst/>
          </a:prstGeom>
          <a:noFill/>
          <a:ln/>
        </p:spPr>
        <p:txBody>
          <a:bodyPr wrap="square" lIns="0" tIns="0" rIns="0" bIns="0" rtlCol="0" anchor="ctr"/>
          <a:lstStyle/>
          <a:p>
            <a:pPr algn="ctr" indent="0" marL="0">
              <a:buNone/>
            </a:pPr>
            <a:r>
              <a:rPr lang="en-US" sz="1300" b="1" dirty="0">
                <a:solidFill>
                  <a:srgbClr val="FFFFFF"/>
                </a:solidFill>
              </a:rPr>
              <a:t>PROPUESTA</a:t>
            </a:r>
            <a:endParaRPr lang="en-US" sz="1300" dirty="0"/>
          </a:p>
        </p:txBody>
      </p:sp>
      <p:sp>
        <p:nvSpPr>
          <p:cNvPr id="23" name="Shape 21"/>
          <p:cNvSpPr/>
          <p:nvPr/>
        </p:nvSpPr>
        <p:spPr>
          <a:xfrm>
            <a:off x="8549640" y="1325880"/>
            <a:ext cx="3108960" cy="4206240"/>
          </a:xfrm>
          <a:prstGeom prst="roundRect">
            <a:avLst>
              <a:gd name="adj" fmla="val 2353"/>
            </a:avLst>
          </a:prstGeom>
          <a:solidFill>
            <a:srgbClr val="F4F6FA"/>
          </a:solidFill>
          <a:ln w="15875">
            <a:solidFill>
              <a:srgbClr val="F4F6FA"/>
            </a:solidFill>
            <a:prstDash val="solid"/>
          </a:ln>
        </p:spPr>
      </p:sp>
      <p:sp>
        <p:nvSpPr>
          <p:cNvPr id="24" name="Text 22"/>
          <p:cNvSpPr txBox="1"/>
          <p:nvPr/>
        </p:nvSpPr>
        <p:spPr>
          <a:xfrm>
            <a:off x="8778240" y="1463040"/>
            <a:ext cx="2743200" cy="365760"/>
          </a:xfrm>
          <a:prstGeom prst="rect">
            <a:avLst/>
          </a:prstGeom>
          <a:noFill/>
          <a:ln/>
        </p:spPr>
        <p:txBody>
          <a:bodyPr wrap="square" lIns="0" tIns="0" rIns="0" bIns="0" rtlCol="0" anchor="ctr"/>
          <a:lstStyle/>
          <a:p>
            <a:pPr indent="0" marL="0">
              <a:buNone/>
            </a:pPr>
            <a:r>
              <a:rPr lang="en-US" sz="1700" b="1" dirty="0">
                <a:solidFill>
                  <a:srgbClr val="1A202C"/>
                </a:solidFill>
              </a:rPr>
              <a:t>42 reglas en total</a:t>
            </a:r>
            <a:endParaRPr lang="en-US" sz="1700" dirty="0"/>
          </a:p>
        </p:txBody>
      </p:sp>
      <p:sp>
        <p:nvSpPr>
          <p:cNvPr id="25" name="Text 23"/>
          <p:cNvSpPr txBox="1"/>
          <p:nvPr/>
        </p:nvSpPr>
        <p:spPr>
          <a:xfrm>
            <a:off x="8778240" y="2011680"/>
            <a:ext cx="1005840" cy="731520"/>
          </a:xfrm>
          <a:prstGeom prst="rect">
            <a:avLst/>
          </a:prstGeom>
          <a:noFill/>
          <a:ln/>
        </p:spPr>
        <p:txBody>
          <a:bodyPr wrap="square" lIns="0" tIns="0" rIns="0" bIns="0" rtlCol="0" anchor="ctr"/>
          <a:lstStyle/>
          <a:p>
            <a:pPr indent="0" marL="0">
              <a:buNone/>
            </a:pPr>
            <a:r>
              <a:rPr lang="en-US" sz="4200" b="1" dirty="0">
                <a:solidFill>
                  <a:srgbClr val="2F855A"/>
                </a:solidFill>
              </a:rPr>
              <a:t>15</a:t>
            </a:r>
            <a:endParaRPr lang="en-US" sz="4200" dirty="0"/>
          </a:p>
        </p:txBody>
      </p:sp>
      <p:sp>
        <p:nvSpPr>
          <p:cNvPr id="26" name="Text 24"/>
          <p:cNvSpPr txBox="1"/>
          <p:nvPr/>
        </p:nvSpPr>
        <p:spPr>
          <a:xfrm>
            <a:off x="9784080" y="2011680"/>
            <a:ext cx="1783080" cy="731520"/>
          </a:xfrm>
          <a:prstGeom prst="rect">
            <a:avLst/>
          </a:prstGeom>
          <a:noFill/>
          <a:ln/>
        </p:spPr>
        <p:txBody>
          <a:bodyPr wrap="square" lIns="0" tIns="0" rIns="0" bIns="0" rtlCol="0" anchor="ctr"/>
          <a:lstStyle/>
          <a:p>
            <a:pPr indent="0" marL="0">
              <a:buNone/>
            </a:pPr>
            <a:r>
              <a:rPr lang="en-US" sz="1500" dirty="0">
                <a:solidFill>
                  <a:srgbClr val="1A202C"/>
                </a:solidFill>
              </a:rPr>
              <a:t>del experto</a:t>
            </a:r>
            <a:endParaRPr lang="en-US" sz="1500" dirty="0"/>
          </a:p>
        </p:txBody>
      </p:sp>
      <p:sp>
        <p:nvSpPr>
          <p:cNvPr id="27" name="Text 25"/>
          <p:cNvSpPr txBox="1"/>
          <p:nvPr/>
        </p:nvSpPr>
        <p:spPr>
          <a:xfrm>
            <a:off x="8778240" y="3154680"/>
            <a:ext cx="1005840" cy="731520"/>
          </a:xfrm>
          <a:prstGeom prst="rect">
            <a:avLst/>
          </a:prstGeom>
          <a:noFill/>
          <a:ln/>
        </p:spPr>
        <p:txBody>
          <a:bodyPr wrap="square" lIns="0" tIns="0" rIns="0" bIns="0" rtlCol="0" anchor="ctr"/>
          <a:lstStyle/>
          <a:p>
            <a:pPr indent="0" marL="0">
              <a:buNone/>
            </a:pPr>
            <a:r>
              <a:rPr lang="en-US" sz="4200" b="1" dirty="0">
                <a:solidFill>
                  <a:srgbClr val="FF2E88"/>
                </a:solidFill>
              </a:rPr>
              <a:t>20</a:t>
            </a:r>
            <a:endParaRPr lang="en-US" sz="4200" dirty="0"/>
          </a:p>
        </p:txBody>
      </p:sp>
      <p:sp>
        <p:nvSpPr>
          <p:cNvPr id="28" name="Text 26"/>
          <p:cNvSpPr txBox="1"/>
          <p:nvPr/>
        </p:nvSpPr>
        <p:spPr>
          <a:xfrm>
            <a:off x="9784080" y="3154680"/>
            <a:ext cx="1783080" cy="731520"/>
          </a:xfrm>
          <a:prstGeom prst="rect">
            <a:avLst/>
          </a:prstGeom>
          <a:noFill/>
          <a:ln/>
        </p:spPr>
        <p:txBody>
          <a:bodyPr wrap="square" lIns="0" tIns="0" rIns="0" bIns="0" rtlCol="0" anchor="ctr"/>
          <a:lstStyle/>
          <a:p>
            <a:pPr indent="0" marL="0">
              <a:buNone/>
            </a:pPr>
            <a:r>
              <a:rPr lang="en-US" sz="1500" dirty="0">
                <a:solidFill>
                  <a:srgbClr val="1A202C"/>
                </a:solidFill>
              </a:rPr>
              <a:t>propuestas por el grupo (a validar)</a:t>
            </a:r>
            <a:endParaRPr lang="en-US" sz="1500" dirty="0"/>
          </a:p>
        </p:txBody>
      </p:sp>
      <p:sp>
        <p:nvSpPr>
          <p:cNvPr id="29" name="Text 27"/>
          <p:cNvSpPr txBox="1"/>
          <p:nvPr/>
        </p:nvSpPr>
        <p:spPr>
          <a:xfrm>
            <a:off x="8778240" y="4297680"/>
            <a:ext cx="1005840" cy="731520"/>
          </a:xfrm>
          <a:prstGeom prst="rect">
            <a:avLst/>
          </a:prstGeom>
          <a:noFill/>
          <a:ln/>
        </p:spPr>
        <p:txBody>
          <a:bodyPr wrap="square" lIns="0" tIns="0" rIns="0" bIns="0" rtlCol="0" anchor="ctr"/>
          <a:lstStyle/>
          <a:p>
            <a:pPr indent="0" marL="0">
              <a:buNone/>
            </a:pPr>
            <a:r>
              <a:rPr lang="en-US" sz="4200" b="1" dirty="0">
                <a:solidFill>
                  <a:srgbClr val="5A6578"/>
                </a:solidFill>
              </a:rPr>
              <a:t>7</a:t>
            </a:r>
            <a:endParaRPr lang="en-US" sz="4200" dirty="0"/>
          </a:p>
        </p:txBody>
      </p:sp>
      <p:sp>
        <p:nvSpPr>
          <p:cNvPr id="30" name="Text 28"/>
          <p:cNvSpPr txBox="1"/>
          <p:nvPr/>
        </p:nvSpPr>
        <p:spPr>
          <a:xfrm>
            <a:off x="9784080" y="4297680"/>
            <a:ext cx="1783080" cy="731520"/>
          </a:xfrm>
          <a:prstGeom prst="rect">
            <a:avLst/>
          </a:prstGeom>
          <a:noFill/>
          <a:ln/>
        </p:spPr>
        <p:txBody>
          <a:bodyPr wrap="square" lIns="0" tIns="0" rIns="0" bIns="0" rtlCol="0" anchor="ctr"/>
          <a:lstStyle/>
          <a:p>
            <a:pPr indent="0" marL="0">
              <a:buNone/>
            </a:pPr>
            <a:r>
              <a:rPr lang="en-US" sz="1500" dirty="0">
                <a:solidFill>
                  <a:srgbClr val="1A202C"/>
                </a:solidFill>
              </a:rPr>
              <a:t>de fichas técnicas o normas</a:t>
            </a:r>
            <a:endParaRPr lang="en-US" sz="1500" dirty="0"/>
          </a:p>
        </p:txBody>
      </p:sp>
      <p:sp>
        <p:nvSpPr>
          <p:cNvPr id="31" name="Text 29"/>
          <p:cNvSpPr txBox="1"/>
          <p:nvPr/>
        </p:nvSpPr>
        <p:spPr>
          <a:xfrm>
            <a:off x="502920" y="5897880"/>
            <a:ext cx="11155680" cy="365760"/>
          </a:xfrm>
          <a:prstGeom prst="rect">
            <a:avLst/>
          </a:prstGeom>
          <a:noFill/>
          <a:ln/>
        </p:spPr>
        <p:txBody>
          <a:bodyPr wrap="square" lIns="0" tIns="0" rIns="0" bIns="0" rtlCol="0" anchor="ctr"/>
          <a:lstStyle/>
          <a:p>
            <a:pPr indent="0" marL="0">
              <a:buNone/>
            </a:pPr>
            <a:r>
              <a:rPr lang="en-US" sz="1400" dirty="0">
                <a:solidFill>
                  <a:srgbClr val="5A6578"/>
                </a:solidFill>
              </a:rPr>
              <a:t>Retroiluminado = la luz sale por detrás de la letra · «Propuesta» = la escribimos nosotros y falta que el experto la confirme</a:t>
            </a:r>
            <a:endParaRPr lang="en-US" sz="14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Materiales: tres casos, tres dictámenes</a:t>
            </a:r>
            <a:endParaRPr lang="en-US" sz="3400" dirty="0"/>
          </a:p>
        </p:txBody>
      </p:sp>
      <p:sp>
        <p:nvSpPr>
          <p:cNvPr id="3" name="Shape 1"/>
          <p:cNvSpPr/>
          <p:nvPr/>
        </p:nvSpPr>
        <p:spPr>
          <a:xfrm>
            <a:off x="9921240" y="438912"/>
            <a:ext cx="1783080" cy="457200"/>
          </a:xfrm>
          <a:prstGeom prst="roundRect">
            <a:avLst>
              <a:gd name="adj" fmla="val 50000"/>
            </a:avLst>
          </a:prstGeom>
          <a:solidFill>
            <a:srgbClr val="2A9D8F"/>
          </a:solidFill>
          <a:ln w="12700">
            <a:solidFill>
              <a:srgbClr val="2A9D8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Lautaro</a:t>
            </a:r>
            <a:pPr algn="ctr" indent="0" marL="0">
              <a:buNone/>
            </a:pPr>
            <a:r>
              <a:rPr lang="en-US" sz="1400" dirty="0">
                <a:solidFill>
                  <a:srgbClr val="FFFFFF"/>
                </a:solidFill>
              </a:rPr>
              <a:t>  ·  1:15</a:t>
            </a:r>
            <a:endParaRPr lang="en-US" sz="1400" dirty="0"/>
          </a:p>
        </p:txBody>
      </p:sp>
      <p:sp>
        <p:nvSpPr>
          <p:cNvPr id="5" name="Text 3"/>
          <p:cNvSpPr txBox="1"/>
          <p:nvPr/>
        </p:nvSpPr>
        <p:spPr>
          <a:xfrm>
            <a:off x="502920" y="1280160"/>
            <a:ext cx="3611880" cy="384048"/>
          </a:xfrm>
          <a:prstGeom prst="rect">
            <a:avLst/>
          </a:prstGeom>
          <a:noFill/>
          <a:ln/>
        </p:spPr>
        <p:txBody>
          <a:bodyPr wrap="square" lIns="0" tIns="0" rIns="0" bIns="0" rtlCol="0" anchor="ctr"/>
          <a:lstStyle/>
          <a:p>
            <a:pPr indent="0" marL="0">
              <a:buNone/>
            </a:pPr>
            <a:r>
              <a:rPr lang="en-US" sz="1900" b="1" dirty="0">
                <a:solidFill>
                  <a:srgbClr val="1A202C"/>
                </a:solidFill>
              </a:rPr>
              <a:t>CU1 · Café Andino</a:t>
            </a:r>
            <a:endParaRPr lang="en-US" sz="1900" dirty="0"/>
          </a:p>
        </p:txBody>
      </p:sp>
      <p:sp>
        <p:nvSpPr>
          <p:cNvPr id="6" name="Text 4"/>
          <p:cNvSpPr txBox="1"/>
          <p:nvPr/>
        </p:nvSpPr>
        <p:spPr>
          <a:xfrm>
            <a:off x="502920" y="1664208"/>
            <a:ext cx="3611880" cy="548640"/>
          </a:xfrm>
          <a:prstGeom prst="rect">
            <a:avLst/>
          </a:prstGeom>
          <a:noFill/>
          <a:ln/>
        </p:spPr>
        <p:txBody>
          <a:bodyPr wrap="square" lIns="0" tIns="0" rIns="0" bIns="0" rtlCol="0" anchor="t"/>
          <a:lstStyle/>
          <a:p>
            <a:pPr indent="0" marL="0">
              <a:buNone/>
            </a:pPr>
            <a:r>
              <a:rPr lang="en-US" sz="1400" dirty="0">
                <a:solidFill>
                  <a:srgbClr val="5A6578"/>
                </a:solidFill>
              </a:rPr>
              <a:t>Neón adentro, sobre pared de ladrillo</a:t>
            </a:r>
            <a:endParaRPr lang="en-US" sz="1400" dirty="0"/>
          </a:p>
        </p:txBody>
      </p:sp>
      <p:sp>
        <p:nvSpPr>
          <p:cNvPr id="7" name="Shape 5"/>
          <p:cNvSpPr/>
          <p:nvPr/>
        </p:nvSpPr>
        <p:spPr>
          <a:xfrm>
            <a:off x="502920" y="2286000"/>
            <a:ext cx="3611880" cy="685800"/>
          </a:xfrm>
          <a:prstGeom prst="roundRect">
            <a:avLst>
              <a:gd name="adj" fmla="val 10667"/>
            </a:avLst>
          </a:prstGeom>
          <a:solidFill>
            <a:srgbClr val="2F855A"/>
          </a:solidFill>
          <a:ln w="15875">
            <a:solidFill>
              <a:srgbClr val="2F855A"/>
            </a:solidFill>
            <a:prstDash val="solid"/>
          </a:ln>
        </p:spPr>
      </p:sp>
      <p:sp>
        <p:nvSpPr>
          <p:cNvPr id="8" name="Text 6"/>
          <p:cNvSpPr txBox="1"/>
          <p:nvPr/>
        </p:nvSpPr>
        <p:spPr>
          <a:xfrm>
            <a:off x="502920" y="2286000"/>
            <a:ext cx="3611880" cy="685800"/>
          </a:xfrm>
          <a:prstGeom prst="rect">
            <a:avLst/>
          </a:prstGeom>
          <a:noFill/>
          <a:ln/>
        </p:spPr>
        <p:txBody>
          <a:bodyPr wrap="square" lIns="0" tIns="0" rIns="0" bIns="0" rtlCol="0" anchor="ctr"/>
          <a:lstStyle/>
          <a:p>
            <a:pPr algn="ctr" indent="0" marL="0">
              <a:buNone/>
            </a:pPr>
            <a:r>
              <a:rPr lang="en-US" sz="2400" b="1" dirty="0">
                <a:solidFill>
                  <a:srgbClr val="FFFFFF"/>
                </a:solidFill>
              </a:rPr>
              <a:t>APTO</a:t>
            </a:r>
            <a:endParaRPr lang="en-US" sz="2400" dirty="0"/>
          </a:p>
        </p:txBody>
      </p:sp>
      <p:sp>
        <p:nvSpPr>
          <p:cNvPr id="9" name="Shape 7"/>
          <p:cNvSpPr/>
          <p:nvPr/>
        </p:nvSpPr>
        <p:spPr>
          <a:xfrm>
            <a:off x="502920" y="3063240"/>
            <a:ext cx="3611880" cy="2103120"/>
          </a:xfrm>
          <a:prstGeom prst="roundRect">
            <a:avLst>
              <a:gd name="adj" fmla="val 3478"/>
            </a:avLst>
          </a:prstGeom>
          <a:solidFill>
            <a:srgbClr val="E6F4EA"/>
          </a:solidFill>
          <a:ln w="15875">
            <a:solidFill>
              <a:srgbClr val="E6F4EA"/>
            </a:solidFill>
            <a:prstDash val="solid"/>
          </a:ln>
        </p:spPr>
      </p:sp>
      <p:sp>
        <p:nvSpPr>
          <p:cNvPr id="10" name="Text 8"/>
          <p:cNvSpPr txBox="1"/>
          <p:nvPr/>
        </p:nvSpPr>
        <p:spPr>
          <a:xfrm>
            <a:off x="685800" y="3154680"/>
            <a:ext cx="3291840"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A202C"/>
                </a:solidFill>
              </a:rPr>
              <a:t>Interior → poca exposición</a:t>
            </a:r>
            <a:endParaRPr lang="en-US" sz="1600" dirty="0"/>
          </a:p>
          <a:p>
            <a:pPr marL="342900" indent="-342900">
              <a:spcAft>
                <a:spcPts val="600"/>
              </a:spcAft>
              <a:buSzPct val="100000"/>
              <a:buChar char="•"/>
            </a:pPr>
            <a:r>
              <a:rPr lang="en-US" sz="1600" dirty="0">
                <a:solidFill>
                  <a:srgbClr val="1A202C"/>
                </a:solidFill>
              </a:rPr>
              <a:t>La pared aguanta</a:t>
            </a:r>
            <a:endParaRPr lang="en-US" sz="1600" dirty="0"/>
          </a:p>
          <a:p>
            <a:pPr marL="342900" indent="-342900">
              <a:spcAft>
                <a:spcPts val="600"/>
              </a:spcAft>
              <a:buSzPct val="100000"/>
              <a:buChar char="•"/>
            </a:pPr>
            <a:r>
              <a:rPr lang="en-US" sz="1600" dirty="0">
                <a:solidFill>
                  <a:srgbClr val="1A202C"/>
                </a:solidFill>
              </a:rPr>
              <a:t>Nada que objetar</a:t>
            </a:r>
            <a:endParaRPr lang="en-US" sz="1600" dirty="0"/>
          </a:p>
        </p:txBody>
      </p:sp>
      <p:sp>
        <p:nvSpPr>
          <p:cNvPr id="11" name="Text 9"/>
          <p:cNvSpPr txBox="1"/>
          <p:nvPr/>
        </p:nvSpPr>
        <p:spPr>
          <a:xfrm>
            <a:off x="685800" y="4773168"/>
            <a:ext cx="3246120" cy="320040"/>
          </a:xfrm>
          <a:prstGeom prst="rect">
            <a:avLst/>
          </a:prstGeom>
          <a:noFill/>
          <a:ln/>
        </p:spPr>
        <p:txBody>
          <a:bodyPr wrap="square" lIns="0" tIns="0" rIns="0" bIns="0" rtlCol="0" anchor="ctr"/>
          <a:lstStyle/>
          <a:p>
            <a:pPr indent="0" marL="0">
              <a:buNone/>
            </a:pPr>
            <a:r>
              <a:rPr lang="en-US" sz="1300" dirty="0">
                <a:solidFill>
                  <a:srgbClr val="5A6578"/>
                </a:solidFill>
              </a:rPr>
              <a:t>R-MI-10</a:t>
            </a:r>
            <a:endParaRPr lang="en-US" sz="1300" dirty="0"/>
          </a:p>
        </p:txBody>
      </p:sp>
      <p:sp>
        <p:nvSpPr>
          <p:cNvPr id="12" name="Text 10"/>
          <p:cNvSpPr txBox="1"/>
          <p:nvPr/>
        </p:nvSpPr>
        <p:spPr>
          <a:xfrm>
            <a:off x="4279392" y="1280160"/>
            <a:ext cx="3611880" cy="384048"/>
          </a:xfrm>
          <a:prstGeom prst="rect">
            <a:avLst/>
          </a:prstGeom>
          <a:noFill/>
          <a:ln/>
        </p:spPr>
        <p:txBody>
          <a:bodyPr wrap="square" lIns="0" tIns="0" rIns="0" bIns="0" rtlCol="0" anchor="ctr"/>
          <a:lstStyle/>
          <a:p>
            <a:pPr indent="0" marL="0">
              <a:buNone/>
            </a:pPr>
            <a:r>
              <a:rPr lang="en-US" sz="1900" b="1" dirty="0">
                <a:solidFill>
                  <a:srgbClr val="1A202C"/>
                </a:solidFill>
              </a:rPr>
              <a:t>CU2 · Letras al frente</a:t>
            </a:r>
            <a:endParaRPr lang="en-US" sz="1900" dirty="0"/>
          </a:p>
        </p:txBody>
      </p:sp>
      <p:sp>
        <p:nvSpPr>
          <p:cNvPr id="13" name="Text 11"/>
          <p:cNvSpPr txBox="1"/>
          <p:nvPr/>
        </p:nvSpPr>
        <p:spPr>
          <a:xfrm>
            <a:off x="4279392" y="1664208"/>
            <a:ext cx="3611880" cy="548640"/>
          </a:xfrm>
          <a:prstGeom prst="rect">
            <a:avLst/>
          </a:prstGeom>
          <a:noFill/>
          <a:ln/>
        </p:spPr>
        <p:txBody>
          <a:bodyPr wrap="square" lIns="0" tIns="0" rIns="0" bIns="0" rtlCol="0" anchor="t"/>
          <a:lstStyle/>
          <a:p>
            <a:pPr indent="0" marL="0">
              <a:buNone/>
            </a:pPr>
            <a:r>
              <a:rPr lang="en-US" sz="1400" dirty="0">
                <a:solidFill>
                  <a:srgbClr val="5A6578"/>
                </a:solidFill>
              </a:rPr>
              <a:t>3 m sobre una marquesina, a 4 m de altura</a:t>
            </a:r>
            <a:endParaRPr lang="en-US" sz="1400" dirty="0"/>
          </a:p>
        </p:txBody>
      </p:sp>
      <p:sp>
        <p:nvSpPr>
          <p:cNvPr id="14" name="Shape 12"/>
          <p:cNvSpPr/>
          <p:nvPr/>
        </p:nvSpPr>
        <p:spPr>
          <a:xfrm>
            <a:off x="4279392" y="2286000"/>
            <a:ext cx="3611880" cy="685800"/>
          </a:xfrm>
          <a:prstGeom prst="roundRect">
            <a:avLst>
              <a:gd name="adj" fmla="val 10667"/>
            </a:avLst>
          </a:prstGeom>
          <a:solidFill>
            <a:srgbClr val="B7791F"/>
          </a:solidFill>
          <a:ln w="15875">
            <a:solidFill>
              <a:srgbClr val="B7791F"/>
            </a:solidFill>
            <a:prstDash val="solid"/>
          </a:ln>
        </p:spPr>
      </p:sp>
      <p:sp>
        <p:nvSpPr>
          <p:cNvPr id="15" name="Text 13"/>
          <p:cNvSpPr txBox="1"/>
          <p:nvPr/>
        </p:nvSpPr>
        <p:spPr>
          <a:xfrm>
            <a:off x="4279392" y="2286000"/>
            <a:ext cx="3611880" cy="685800"/>
          </a:xfrm>
          <a:prstGeom prst="rect">
            <a:avLst/>
          </a:prstGeom>
          <a:noFill/>
          <a:ln/>
        </p:spPr>
        <p:txBody>
          <a:bodyPr wrap="square" lIns="0" tIns="0" rIns="0" bIns="0" rtlCol="0" anchor="ctr"/>
          <a:lstStyle/>
          <a:p>
            <a:pPr algn="ctr" indent="0" marL="0">
              <a:buNone/>
            </a:pPr>
            <a:r>
              <a:rPr lang="en-US" sz="1900" b="1" dirty="0">
                <a:solidFill>
                  <a:srgbClr val="FFFFFF"/>
                </a:solidFill>
              </a:rPr>
              <a:t>APTO CON CONDICIONES</a:t>
            </a:r>
            <a:endParaRPr lang="en-US" sz="1900" dirty="0"/>
          </a:p>
        </p:txBody>
      </p:sp>
      <p:sp>
        <p:nvSpPr>
          <p:cNvPr id="16" name="Shape 14"/>
          <p:cNvSpPr/>
          <p:nvPr/>
        </p:nvSpPr>
        <p:spPr>
          <a:xfrm>
            <a:off x="4279392" y="3063240"/>
            <a:ext cx="3611880" cy="2103120"/>
          </a:xfrm>
          <a:prstGeom prst="roundRect">
            <a:avLst>
              <a:gd name="adj" fmla="val 3478"/>
            </a:avLst>
          </a:prstGeom>
          <a:solidFill>
            <a:srgbClr val="FDF3DC"/>
          </a:solidFill>
          <a:ln w="15875">
            <a:solidFill>
              <a:srgbClr val="FDF3DC"/>
            </a:solidFill>
            <a:prstDash val="solid"/>
          </a:ln>
        </p:spPr>
      </p:sp>
      <p:sp>
        <p:nvSpPr>
          <p:cNvPr id="17" name="Text 15"/>
          <p:cNvSpPr txBox="1"/>
          <p:nvPr/>
        </p:nvSpPr>
        <p:spPr>
          <a:xfrm>
            <a:off x="4462272" y="3154680"/>
            <a:ext cx="3291840"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A202C"/>
                </a:solidFill>
              </a:rPr>
              <a:t>Material para sol y lluvia (todavía no elegido)</a:t>
            </a:r>
            <a:endParaRPr lang="en-US" sz="1600" dirty="0"/>
          </a:p>
          <a:p>
            <a:pPr marL="342900" indent="-342900">
              <a:spcAft>
                <a:spcPts val="600"/>
              </a:spcAft>
              <a:buSzPct val="100000"/>
              <a:buChar char="•"/>
            </a:pPr>
            <a:r>
              <a:rPr lang="en-US" sz="1600" dirty="0">
                <a:solidFill>
                  <a:srgbClr val="1A202C"/>
                </a:solidFill>
              </a:rPr>
              <a:t>Revisar la marquesina antes de colgar</a:t>
            </a:r>
            <a:endParaRPr lang="en-US" sz="1600" dirty="0"/>
          </a:p>
          <a:p>
            <a:pPr marL="342900" indent="-342900">
              <a:spcAft>
                <a:spcPts val="600"/>
              </a:spcAft>
              <a:buSzPct val="100000"/>
              <a:buChar char="•"/>
            </a:pPr>
            <a:r>
              <a:rPr lang="en-US" sz="1600" dirty="0">
                <a:solidFill>
                  <a:srgbClr val="1A202C"/>
                </a:solidFill>
              </a:rPr>
              <a:t>Verificación de un profesional (altura y viento)</a:t>
            </a:r>
            <a:endParaRPr lang="en-US" sz="1600" dirty="0"/>
          </a:p>
        </p:txBody>
      </p:sp>
      <p:sp>
        <p:nvSpPr>
          <p:cNvPr id="18" name="Text 16"/>
          <p:cNvSpPr txBox="1"/>
          <p:nvPr/>
        </p:nvSpPr>
        <p:spPr>
          <a:xfrm>
            <a:off x="4462272" y="4773168"/>
            <a:ext cx="3246120" cy="320040"/>
          </a:xfrm>
          <a:prstGeom prst="rect">
            <a:avLst/>
          </a:prstGeom>
          <a:noFill/>
          <a:ln/>
        </p:spPr>
        <p:txBody>
          <a:bodyPr wrap="square" lIns="0" tIns="0" rIns="0" bIns="0" rtlCol="0" anchor="ctr"/>
          <a:lstStyle/>
          <a:p>
            <a:pPr indent="0" marL="0">
              <a:buNone/>
            </a:pPr>
            <a:r>
              <a:rPr lang="en-US" sz="1300" dirty="0">
                <a:solidFill>
                  <a:srgbClr val="5A6578"/>
                </a:solidFill>
              </a:rPr>
              <a:t>R-MI-13 · 14 · 06 · 11</a:t>
            </a:r>
            <a:endParaRPr lang="en-US" sz="1300" dirty="0"/>
          </a:p>
        </p:txBody>
      </p:sp>
      <p:sp>
        <p:nvSpPr>
          <p:cNvPr id="19" name="Text 17"/>
          <p:cNvSpPr txBox="1"/>
          <p:nvPr/>
        </p:nvSpPr>
        <p:spPr>
          <a:xfrm>
            <a:off x="8055864" y="1280160"/>
            <a:ext cx="3611880" cy="384048"/>
          </a:xfrm>
          <a:prstGeom prst="rect">
            <a:avLst/>
          </a:prstGeom>
          <a:noFill/>
          <a:ln/>
        </p:spPr>
        <p:txBody>
          <a:bodyPr wrap="square" lIns="0" tIns="0" rIns="0" bIns="0" rtlCol="0" anchor="ctr"/>
          <a:lstStyle/>
          <a:p>
            <a:pPr indent="0" marL="0">
              <a:buNone/>
            </a:pPr>
            <a:r>
              <a:rPr lang="en-US" sz="1900" b="1" dirty="0">
                <a:solidFill>
                  <a:srgbClr val="1A202C"/>
                </a:solidFill>
              </a:rPr>
              <a:t>FR-07 · Neón en bandera</a:t>
            </a:r>
            <a:endParaRPr lang="en-US" sz="1900" dirty="0"/>
          </a:p>
        </p:txBody>
      </p:sp>
      <p:sp>
        <p:nvSpPr>
          <p:cNvPr id="20" name="Text 18"/>
          <p:cNvSpPr txBox="1"/>
          <p:nvPr/>
        </p:nvSpPr>
        <p:spPr>
          <a:xfrm>
            <a:off x="8055864" y="1664208"/>
            <a:ext cx="3611880" cy="548640"/>
          </a:xfrm>
          <a:prstGeom prst="rect">
            <a:avLst/>
          </a:prstGeom>
          <a:noFill/>
          <a:ln/>
        </p:spPr>
        <p:txBody>
          <a:bodyPr wrap="square" lIns="0" tIns="0" rIns="0" bIns="0" rtlCol="0" anchor="t"/>
          <a:lstStyle/>
          <a:p>
            <a:pPr indent="0" marL="0">
              <a:buNone/>
            </a:pPr>
            <a:r>
              <a:rPr lang="en-US" sz="1400" dirty="0">
                <a:solidFill>
                  <a:srgbClr val="5A6578"/>
                </a:solidFill>
              </a:rPr>
              <a:t>Sobre la vereda; quiere reusar el neón de adentro</a:t>
            </a:r>
            <a:endParaRPr lang="en-US" sz="1400" dirty="0"/>
          </a:p>
        </p:txBody>
      </p:sp>
      <p:sp>
        <p:nvSpPr>
          <p:cNvPr id="21" name="Shape 19"/>
          <p:cNvSpPr/>
          <p:nvPr/>
        </p:nvSpPr>
        <p:spPr>
          <a:xfrm>
            <a:off x="8055864" y="2286000"/>
            <a:ext cx="3611880" cy="685800"/>
          </a:xfrm>
          <a:prstGeom prst="roundRect">
            <a:avLst>
              <a:gd name="adj" fmla="val 10667"/>
            </a:avLst>
          </a:prstGeom>
          <a:solidFill>
            <a:srgbClr val="C53030"/>
          </a:solidFill>
          <a:ln w="15875">
            <a:solidFill>
              <a:srgbClr val="C53030"/>
            </a:solidFill>
            <a:prstDash val="solid"/>
          </a:ln>
        </p:spPr>
      </p:sp>
      <p:sp>
        <p:nvSpPr>
          <p:cNvPr id="22" name="Text 20"/>
          <p:cNvSpPr txBox="1"/>
          <p:nvPr/>
        </p:nvSpPr>
        <p:spPr>
          <a:xfrm>
            <a:off x="8055864" y="2286000"/>
            <a:ext cx="3611880" cy="685800"/>
          </a:xfrm>
          <a:prstGeom prst="rect">
            <a:avLst/>
          </a:prstGeom>
          <a:noFill/>
          <a:ln/>
        </p:spPr>
        <p:txBody>
          <a:bodyPr wrap="square" lIns="0" tIns="0" rIns="0" bIns="0" rtlCol="0" anchor="ctr"/>
          <a:lstStyle/>
          <a:p>
            <a:pPr algn="ctr" indent="0" marL="0">
              <a:buNone/>
            </a:pPr>
            <a:r>
              <a:rPr lang="en-US" sz="2400" b="1" dirty="0">
                <a:solidFill>
                  <a:srgbClr val="FFFFFF"/>
                </a:solidFill>
              </a:rPr>
              <a:t>NO APTO</a:t>
            </a:r>
            <a:endParaRPr lang="en-US" sz="2400" dirty="0"/>
          </a:p>
        </p:txBody>
      </p:sp>
      <p:sp>
        <p:nvSpPr>
          <p:cNvPr id="23" name="Shape 21"/>
          <p:cNvSpPr/>
          <p:nvPr/>
        </p:nvSpPr>
        <p:spPr>
          <a:xfrm>
            <a:off x="8055864" y="3063240"/>
            <a:ext cx="3611880" cy="2103120"/>
          </a:xfrm>
          <a:prstGeom prst="roundRect">
            <a:avLst>
              <a:gd name="adj" fmla="val 3478"/>
            </a:avLst>
          </a:prstGeom>
          <a:solidFill>
            <a:srgbClr val="FDE8E8"/>
          </a:solidFill>
          <a:ln w="15875">
            <a:solidFill>
              <a:srgbClr val="FDE8E8"/>
            </a:solidFill>
            <a:prstDash val="solid"/>
          </a:ln>
        </p:spPr>
      </p:sp>
      <p:sp>
        <p:nvSpPr>
          <p:cNvPr id="24" name="Text 22"/>
          <p:cNvSpPr txBox="1"/>
          <p:nvPr/>
        </p:nvSpPr>
        <p:spPr>
          <a:xfrm>
            <a:off x="8238744" y="3154680"/>
            <a:ext cx="3291840"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A202C"/>
                </a:solidFill>
              </a:rPr>
              <a:t>El alero no lo tapa → recibe lluvia</a:t>
            </a:r>
            <a:endParaRPr lang="en-US" sz="1600" dirty="0"/>
          </a:p>
          <a:p>
            <a:pPr marL="342900" indent="-342900">
              <a:spcAft>
                <a:spcPts val="600"/>
              </a:spcAft>
              <a:buSzPct val="100000"/>
              <a:buChar char="•"/>
            </a:pPr>
            <a:r>
              <a:rPr lang="en-US" sz="1600" dirty="0">
                <a:solidFill>
                  <a:srgbClr val="1A202C"/>
                </a:solidFill>
              </a:rPr>
              <a:t>Neón y fuente de interior: sin arreglo</a:t>
            </a:r>
            <a:endParaRPr lang="en-US" sz="1600" dirty="0"/>
          </a:p>
          <a:p>
            <a:pPr marL="342900" indent="-342900">
              <a:spcAft>
                <a:spcPts val="600"/>
              </a:spcAft>
              <a:buSzPct val="100000"/>
              <a:buChar char="•"/>
            </a:pPr>
            <a:r>
              <a:rPr lang="en-US" sz="1600" dirty="0">
                <a:solidFill>
                  <a:srgbClr val="1A202C"/>
                </a:solidFill>
              </a:rPr>
              <a:t>Fuente encerrada: corregible</a:t>
            </a:r>
            <a:endParaRPr lang="en-US" sz="1600" dirty="0"/>
          </a:p>
        </p:txBody>
      </p:sp>
      <p:sp>
        <p:nvSpPr>
          <p:cNvPr id="25" name="Text 23"/>
          <p:cNvSpPr txBox="1"/>
          <p:nvPr/>
        </p:nvSpPr>
        <p:spPr>
          <a:xfrm>
            <a:off x="8238744" y="4773168"/>
            <a:ext cx="3246120" cy="320040"/>
          </a:xfrm>
          <a:prstGeom prst="rect">
            <a:avLst/>
          </a:prstGeom>
          <a:noFill/>
          <a:ln/>
        </p:spPr>
        <p:txBody>
          <a:bodyPr wrap="square" lIns="0" tIns="0" rIns="0" bIns="0" rtlCol="0" anchor="ctr"/>
          <a:lstStyle/>
          <a:p>
            <a:pPr indent="0" marL="0">
              <a:buNone/>
            </a:pPr>
            <a:r>
              <a:rPr lang="en-US" sz="1300" dirty="0">
                <a:solidFill>
                  <a:srgbClr val="5A6578"/>
                </a:solidFill>
              </a:rPr>
              <a:t>R-MI-08 · 03 · 07 · 12</a:t>
            </a:r>
            <a:endParaRPr lang="en-US" sz="1300" dirty="0"/>
          </a:p>
        </p:txBody>
      </p:sp>
      <p:sp>
        <p:nvSpPr>
          <p:cNvPr id="26" name="Shape 24"/>
          <p:cNvSpPr/>
          <p:nvPr/>
        </p:nvSpPr>
        <p:spPr>
          <a:xfrm>
            <a:off x="502920" y="5349240"/>
            <a:ext cx="11155680" cy="777240"/>
          </a:xfrm>
          <a:prstGeom prst="roundRect">
            <a:avLst>
              <a:gd name="adj" fmla="val 9412"/>
            </a:avLst>
          </a:prstGeom>
          <a:solidFill>
            <a:srgbClr val="141824"/>
          </a:solidFill>
          <a:ln w="15875">
            <a:solidFill>
              <a:srgbClr val="141824"/>
            </a:solidFill>
            <a:prstDash val="solid"/>
          </a:ln>
        </p:spPr>
      </p:sp>
      <p:sp>
        <p:nvSpPr>
          <p:cNvPr id="27" name="Text 25"/>
          <p:cNvSpPr txBox="1"/>
          <p:nvPr/>
        </p:nvSpPr>
        <p:spPr>
          <a:xfrm>
            <a:off x="731520" y="5349240"/>
            <a:ext cx="10789920" cy="777240"/>
          </a:xfrm>
          <a:prstGeom prst="rect">
            <a:avLst/>
          </a:prstGeom>
          <a:noFill/>
          <a:ln/>
        </p:spPr>
        <p:txBody>
          <a:bodyPr wrap="square" lIns="0" tIns="0" rIns="0" bIns="0" rtlCol="0" anchor="ctr"/>
          <a:lstStyle/>
          <a:p>
            <a:pPr indent="0" marL="0">
              <a:buNone/>
            </a:pPr>
            <a:r>
              <a:rPr lang="en-US" sz="1600" b="1" dirty="0">
                <a:solidFill>
                  <a:srgbClr val="22D3EE"/>
                </a:solidFill>
              </a:rPr>
              <a:t>Cómo decide: </a:t>
            </a:r>
            <a:pPr indent="0" marL="0">
              <a:buNone/>
            </a:pPr>
            <a:r>
              <a:rPr lang="en-US" sz="1600" dirty="0">
                <a:solidFill>
                  <a:srgbClr val="FFFFFF"/>
                </a:solidFill>
              </a:rPr>
              <a:t>primero busca algo sin arreglo (→ no apto); si no hay, busca condiciones (→ con condiciones); si no hay nada → apto.</a:t>
            </a:r>
            <a:endParaRPr lang="en-US" sz="16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Lógica difusa: cuando no es «sí o no»</a:t>
            </a:r>
            <a:endParaRPr lang="en-US" sz="3400" dirty="0"/>
          </a:p>
        </p:txBody>
      </p:sp>
      <p:sp>
        <p:nvSpPr>
          <p:cNvPr id="3" name="Shape 1"/>
          <p:cNvSpPr/>
          <p:nvPr/>
        </p:nvSpPr>
        <p:spPr>
          <a:xfrm>
            <a:off x="9921240" y="438912"/>
            <a:ext cx="1783080" cy="457200"/>
          </a:xfrm>
          <a:prstGeom prst="roundRect">
            <a:avLst>
              <a:gd name="adj" fmla="val 50000"/>
            </a:avLst>
          </a:prstGeom>
          <a:solidFill>
            <a:srgbClr val="D9480F"/>
          </a:solidFill>
          <a:ln w="12700">
            <a:solidFill>
              <a:srgbClr val="D9480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Luciano</a:t>
            </a:r>
            <a:pPr algn="ctr" indent="0" marL="0">
              <a:buNone/>
            </a:pPr>
            <a:r>
              <a:rPr lang="en-US" sz="1400" dirty="0">
                <a:solidFill>
                  <a:srgbClr val="FFFFFF"/>
                </a:solidFill>
              </a:rPr>
              <a:t>  ·  0:45</a:t>
            </a:r>
            <a:endParaRPr lang="en-US" sz="1400" dirty="0"/>
          </a:p>
        </p:txBody>
      </p:sp>
      <p:sp>
        <p:nvSpPr>
          <p:cNvPr id="5" name="Shape 3"/>
          <p:cNvSpPr/>
          <p:nvPr/>
        </p:nvSpPr>
        <p:spPr>
          <a:xfrm>
            <a:off x="502920" y="1234440"/>
            <a:ext cx="4937760" cy="457200"/>
          </a:xfrm>
          <a:prstGeom prst="roundRect">
            <a:avLst>
              <a:gd name="adj" fmla="val 50000"/>
            </a:avLst>
          </a:prstGeom>
          <a:solidFill>
            <a:srgbClr val="FFF0F6"/>
          </a:solidFill>
          <a:ln w="19050">
            <a:solidFill>
              <a:srgbClr val="FF2E88"/>
            </a:solidFill>
            <a:prstDash val="solid"/>
          </a:ln>
        </p:spPr>
      </p:sp>
      <p:sp>
        <p:nvSpPr>
          <p:cNvPr id="6" name="Text 4"/>
          <p:cNvSpPr txBox="1"/>
          <p:nvPr/>
        </p:nvSpPr>
        <p:spPr>
          <a:xfrm>
            <a:off x="502920" y="1234440"/>
            <a:ext cx="4937760" cy="457200"/>
          </a:xfrm>
          <a:prstGeom prst="rect">
            <a:avLst/>
          </a:prstGeom>
          <a:noFill/>
          <a:ln/>
        </p:spPr>
        <p:txBody>
          <a:bodyPr wrap="square" lIns="0" tIns="0" rIns="0" bIns="0" rtlCol="0" anchor="ctr"/>
          <a:lstStyle/>
          <a:p>
            <a:pPr algn="ctr" indent="0" marL="0">
              <a:buNone/>
            </a:pPr>
            <a:r>
              <a:rPr lang="en-US" sz="1500" b="1" dirty="0">
                <a:solidFill>
                  <a:srgbClr val="FF2E88"/>
                </a:solidFill>
              </a:rPr>
              <a:t>EJEMPLO · rangos a definir con el experto (PI3)</a:t>
            </a:r>
            <a:endParaRPr lang="en-US" sz="1500" dirty="0"/>
          </a:p>
        </p:txBody>
      </p:sp>
      <p:sp>
        <p:nvSpPr>
          <p:cNvPr id="7" name="Text 5"/>
          <p:cNvSpPr txBox="1"/>
          <p:nvPr/>
        </p:nvSpPr>
        <p:spPr>
          <a:xfrm>
            <a:off x="502920" y="1965960"/>
            <a:ext cx="5852160" cy="365760"/>
          </a:xfrm>
          <a:prstGeom prst="rect">
            <a:avLst/>
          </a:prstGeom>
          <a:noFill/>
          <a:ln/>
        </p:spPr>
        <p:txBody>
          <a:bodyPr wrap="square" lIns="0" tIns="0" rIns="0" bIns="0" rtlCol="0" anchor="ctr"/>
          <a:lstStyle/>
          <a:p>
            <a:pPr indent="0" marL="0">
              <a:buNone/>
            </a:pPr>
            <a:r>
              <a:rPr lang="en-US" sz="1900" b="1" dirty="0">
                <a:solidFill>
                  <a:srgbClr val="2A9D8F"/>
                </a:solidFill>
              </a:rPr>
              <a:t>Variable lingüística: exposición al clima</a:t>
            </a:r>
            <a:endParaRPr lang="en-US" sz="1900" dirty="0"/>
          </a:p>
        </p:txBody>
      </p:sp>
      <p:sp>
        <p:nvSpPr>
          <p:cNvPr id="8" name="Shape 6"/>
          <p:cNvSpPr/>
          <p:nvPr/>
        </p:nvSpPr>
        <p:spPr>
          <a:xfrm>
            <a:off x="640080" y="2788920"/>
            <a:ext cx="2377440" cy="1645920"/>
          </a:xfrm>
          <a:prstGeom prst="triangle">
            <a:avLst/>
          </a:prstGeom>
          <a:solidFill>
            <a:srgbClr val="2B6CB0">
              <a:alpha val="28000"/>
            </a:srgbClr>
          </a:solidFill>
          <a:ln w="25400">
            <a:solidFill>
              <a:srgbClr val="2B6CB0"/>
            </a:solidFill>
            <a:prstDash val="solid"/>
          </a:ln>
        </p:spPr>
      </p:sp>
      <p:sp>
        <p:nvSpPr>
          <p:cNvPr id="9" name="Text 7"/>
          <p:cNvSpPr txBox="1"/>
          <p:nvPr/>
        </p:nvSpPr>
        <p:spPr>
          <a:xfrm>
            <a:off x="1325880" y="2468880"/>
            <a:ext cx="1005840" cy="292608"/>
          </a:xfrm>
          <a:prstGeom prst="rect">
            <a:avLst/>
          </a:prstGeom>
          <a:noFill/>
          <a:ln/>
        </p:spPr>
        <p:txBody>
          <a:bodyPr wrap="square" lIns="0" tIns="0" rIns="0" bIns="0" rtlCol="0" anchor="ctr"/>
          <a:lstStyle/>
          <a:p>
            <a:pPr algn="ctr" indent="0" marL="0">
              <a:buNone/>
            </a:pPr>
            <a:r>
              <a:rPr lang="en-US" sz="1600" b="1" dirty="0">
                <a:solidFill>
                  <a:srgbClr val="2B6CB0"/>
                </a:solidFill>
              </a:rPr>
              <a:t>baja</a:t>
            </a:r>
            <a:endParaRPr lang="en-US" sz="1600" dirty="0"/>
          </a:p>
        </p:txBody>
      </p:sp>
      <p:sp>
        <p:nvSpPr>
          <p:cNvPr id="10" name="Shape 8"/>
          <p:cNvSpPr/>
          <p:nvPr/>
        </p:nvSpPr>
        <p:spPr>
          <a:xfrm>
            <a:off x="2148840" y="2788920"/>
            <a:ext cx="2377440" cy="1645920"/>
          </a:xfrm>
          <a:prstGeom prst="triangle">
            <a:avLst/>
          </a:prstGeom>
          <a:solidFill>
            <a:srgbClr val="2A9D8F">
              <a:alpha val="28000"/>
            </a:srgbClr>
          </a:solidFill>
          <a:ln w="25400">
            <a:solidFill>
              <a:srgbClr val="2A9D8F"/>
            </a:solidFill>
            <a:prstDash val="solid"/>
          </a:ln>
        </p:spPr>
      </p:sp>
      <p:sp>
        <p:nvSpPr>
          <p:cNvPr id="11" name="Text 9"/>
          <p:cNvSpPr txBox="1"/>
          <p:nvPr/>
        </p:nvSpPr>
        <p:spPr>
          <a:xfrm>
            <a:off x="2834640" y="2468880"/>
            <a:ext cx="1005840" cy="292608"/>
          </a:xfrm>
          <a:prstGeom prst="rect">
            <a:avLst/>
          </a:prstGeom>
          <a:noFill/>
          <a:ln/>
        </p:spPr>
        <p:txBody>
          <a:bodyPr wrap="square" lIns="0" tIns="0" rIns="0" bIns="0" rtlCol="0" anchor="ctr"/>
          <a:lstStyle/>
          <a:p>
            <a:pPr algn="ctr" indent="0" marL="0">
              <a:buNone/>
            </a:pPr>
            <a:r>
              <a:rPr lang="en-US" sz="1600" b="1" dirty="0">
                <a:solidFill>
                  <a:srgbClr val="2A9D8F"/>
                </a:solidFill>
              </a:rPr>
              <a:t>media</a:t>
            </a:r>
            <a:endParaRPr lang="en-US" sz="1600" dirty="0"/>
          </a:p>
        </p:txBody>
      </p:sp>
      <p:sp>
        <p:nvSpPr>
          <p:cNvPr id="12" name="Shape 10"/>
          <p:cNvSpPr/>
          <p:nvPr/>
        </p:nvSpPr>
        <p:spPr>
          <a:xfrm>
            <a:off x="3657600" y="2788920"/>
            <a:ext cx="2377440" cy="1645920"/>
          </a:xfrm>
          <a:prstGeom prst="triangle">
            <a:avLst/>
          </a:prstGeom>
          <a:solidFill>
            <a:srgbClr val="D9480F">
              <a:alpha val="28000"/>
            </a:srgbClr>
          </a:solidFill>
          <a:ln w="25400">
            <a:solidFill>
              <a:srgbClr val="D9480F"/>
            </a:solidFill>
            <a:prstDash val="solid"/>
          </a:ln>
        </p:spPr>
      </p:sp>
      <p:sp>
        <p:nvSpPr>
          <p:cNvPr id="13" name="Text 11"/>
          <p:cNvSpPr txBox="1"/>
          <p:nvPr/>
        </p:nvSpPr>
        <p:spPr>
          <a:xfrm>
            <a:off x="4343400" y="2468880"/>
            <a:ext cx="1005840" cy="292608"/>
          </a:xfrm>
          <a:prstGeom prst="rect">
            <a:avLst/>
          </a:prstGeom>
          <a:noFill/>
          <a:ln/>
        </p:spPr>
        <p:txBody>
          <a:bodyPr wrap="square" lIns="0" tIns="0" rIns="0" bIns="0" rtlCol="0" anchor="ctr"/>
          <a:lstStyle/>
          <a:p>
            <a:pPr algn="ctr" indent="0" marL="0">
              <a:buNone/>
            </a:pPr>
            <a:r>
              <a:rPr lang="en-US" sz="1600" b="1" dirty="0">
                <a:solidFill>
                  <a:srgbClr val="D9480F"/>
                </a:solidFill>
              </a:rPr>
              <a:t>alta</a:t>
            </a:r>
            <a:endParaRPr lang="en-US" sz="1600" dirty="0"/>
          </a:p>
        </p:txBody>
      </p:sp>
      <p:sp>
        <p:nvSpPr>
          <p:cNvPr id="14" name="Shape 12"/>
          <p:cNvSpPr/>
          <p:nvPr/>
        </p:nvSpPr>
        <p:spPr>
          <a:xfrm>
            <a:off x="548640" y="4434840"/>
            <a:ext cx="5669280" cy="0"/>
          </a:xfrm>
          <a:prstGeom prst="line">
            <a:avLst/>
          </a:prstGeom>
          <a:noFill/>
          <a:ln w="15875">
            <a:solidFill>
              <a:srgbClr val="1A202C"/>
            </a:solidFill>
            <a:prstDash val="solid"/>
            <a:tailEnd type="triangle"/>
          </a:ln>
        </p:spPr>
      </p:sp>
      <p:sp>
        <p:nvSpPr>
          <p:cNvPr id="15" name="Text 13"/>
          <p:cNvSpPr txBox="1"/>
          <p:nvPr/>
        </p:nvSpPr>
        <p:spPr>
          <a:xfrm>
            <a:off x="548640" y="4526280"/>
            <a:ext cx="5669280" cy="320040"/>
          </a:xfrm>
          <a:prstGeom prst="rect">
            <a:avLst/>
          </a:prstGeom>
          <a:noFill/>
          <a:ln/>
        </p:spPr>
        <p:txBody>
          <a:bodyPr wrap="square" lIns="0" tIns="0" rIns="0" bIns="0" rtlCol="0" anchor="ctr"/>
          <a:lstStyle/>
          <a:p>
            <a:pPr indent="0" marL="0">
              <a:buNone/>
            </a:pPr>
            <a:r>
              <a:rPr lang="en-US" sz="1400" i="1" dirty="0">
                <a:solidFill>
                  <a:srgbClr val="5A6578"/>
                </a:solidFill>
              </a:rPr>
              <a:t>más sol, lluvia y viento →</a:t>
            </a:r>
            <a:endParaRPr lang="en-US" sz="1400" dirty="0"/>
          </a:p>
        </p:txBody>
      </p:sp>
      <p:sp>
        <p:nvSpPr>
          <p:cNvPr id="16" name="Text 14"/>
          <p:cNvSpPr txBox="1"/>
          <p:nvPr/>
        </p:nvSpPr>
        <p:spPr>
          <a:xfrm>
            <a:off x="502920" y="5074920"/>
            <a:ext cx="5760720" cy="640080"/>
          </a:xfrm>
          <a:prstGeom prst="rect">
            <a:avLst/>
          </a:prstGeom>
          <a:noFill/>
          <a:ln/>
        </p:spPr>
        <p:txBody>
          <a:bodyPr wrap="square" lIns="0" tIns="0" rIns="0" bIns="0" rtlCol="0" anchor="ctr"/>
          <a:lstStyle/>
          <a:p>
            <a:pPr indent="0" marL="0">
              <a:buNone/>
            </a:pPr>
            <a:r>
              <a:rPr lang="en-US" sz="1600" dirty="0">
                <a:solidFill>
                  <a:srgbClr val="1A202C"/>
                </a:solidFill>
              </a:rPr>
              <a:t>Un lugar puede ser «media» y «alta» a la vez, con distinto grado (de 0 a 1).</a:t>
            </a:r>
            <a:endParaRPr lang="en-US" sz="1600" dirty="0"/>
          </a:p>
        </p:txBody>
      </p:sp>
      <p:sp>
        <p:nvSpPr>
          <p:cNvPr id="17" name="Shape 15"/>
          <p:cNvSpPr/>
          <p:nvPr/>
        </p:nvSpPr>
        <p:spPr>
          <a:xfrm>
            <a:off x="6629400" y="1965960"/>
            <a:ext cx="5029200" cy="2514600"/>
          </a:xfrm>
          <a:prstGeom prst="roundRect">
            <a:avLst>
              <a:gd name="adj" fmla="val 2909"/>
            </a:avLst>
          </a:prstGeom>
          <a:solidFill>
            <a:srgbClr val="141824"/>
          </a:solidFill>
          <a:ln w="15875">
            <a:solidFill>
              <a:srgbClr val="141824"/>
            </a:solidFill>
            <a:prstDash val="solid"/>
          </a:ln>
        </p:spPr>
      </p:sp>
      <p:sp>
        <p:nvSpPr>
          <p:cNvPr id="18" name="Text 16"/>
          <p:cNvSpPr txBox="1"/>
          <p:nvPr/>
        </p:nvSpPr>
        <p:spPr>
          <a:xfrm>
            <a:off x="6903720" y="2103120"/>
            <a:ext cx="4480560" cy="365760"/>
          </a:xfrm>
          <a:prstGeom prst="rect">
            <a:avLst/>
          </a:prstGeom>
          <a:noFill/>
          <a:ln/>
        </p:spPr>
        <p:txBody>
          <a:bodyPr wrap="square" lIns="0" tIns="0" rIns="0" bIns="0" rtlCol="0" anchor="ctr"/>
          <a:lstStyle/>
          <a:p>
            <a:pPr indent="0" marL="0">
              <a:buNone/>
            </a:pPr>
            <a:r>
              <a:rPr lang="en-US" sz="1500" b="1" dirty="0">
                <a:solidFill>
                  <a:srgbClr val="22D3EE"/>
                </a:solidFill>
              </a:rPr>
              <a:t>Regla difusa de ejemplo</a:t>
            </a:r>
            <a:endParaRPr lang="en-US" sz="1500" dirty="0"/>
          </a:p>
        </p:txBody>
      </p:sp>
      <p:sp>
        <p:nvSpPr>
          <p:cNvPr id="19" name="Text 17"/>
          <p:cNvSpPr txBox="1"/>
          <p:nvPr/>
        </p:nvSpPr>
        <p:spPr>
          <a:xfrm>
            <a:off x="6903720" y="2560320"/>
            <a:ext cx="4526280" cy="1783080"/>
          </a:xfrm>
          <a:prstGeom prst="rect">
            <a:avLst/>
          </a:prstGeom>
          <a:noFill/>
          <a:ln/>
        </p:spPr>
        <p:txBody>
          <a:bodyPr wrap="square" lIns="0" tIns="0" rIns="0" bIns="0" rtlCol="0" anchor="t"/>
          <a:lstStyle/>
          <a:p>
            <a:pPr indent="0" marL="0">
              <a:spcAft>
                <a:spcPts val="1000"/>
              </a:spcAft>
              <a:buNone/>
            </a:pPr>
            <a:r>
              <a:rPr lang="en-US" sz="2100" b="1" dirty="0">
                <a:solidFill>
                  <a:srgbClr val="22D3EE"/>
                </a:solidFill>
              </a:rPr>
              <a:t>SI </a:t>
            </a:r>
            <a:pPr indent="0" marL="0">
              <a:spcAft>
                <a:spcPts val="1000"/>
              </a:spcAft>
              <a:buNone/>
            </a:pPr>
            <a:r>
              <a:rPr lang="en-US" sz="2100" dirty="0">
                <a:solidFill>
                  <a:srgbClr val="FFFFFF"/>
                </a:solidFill>
              </a:rPr>
              <a:t>la exposición es </a:t>
            </a:r>
            <a:pPr indent="0" marL="0">
              <a:spcAft>
                <a:spcPts val="1000"/>
              </a:spcAft>
              <a:buNone/>
            </a:pPr>
            <a:r>
              <a:rPr lang="en-US" sz="2100" b="1" dirty="0">
                <a:solidFill>
                  <a:srgbClr val="FF2E88"/>
                </a:solidFill>
              </a:rPr>
              <a:t>ALTA</a:t>
            </a:r>
            <a:endParaRPr lang="en-US" sz="2100" dirty="0"/>
          </a:p>
          <a:p>
            <a:pPr indent="0" marL="0">
              <a:spcAft>
                <a:spcPts val="1000"/>
              </a:spcAft>
              <a:buNone/>
            </a:pPr>
            <a:r>
              <a:rPr lang="en-US" sz="2100" b="1" dirty="0">
                <a:solidFill>
                  <a:srgbClr val="22D3EE"/>
                </a:solidFill>
              </a:rPr>
              <a:t>Y </a:t>
            </a:r>
            <a:pPr indent="0" marL="0">
              <a:spcAft>
                <a:spcPts val="1000"/>
              </a:spcAft>
              <a:buNone/>
            </a:pPr>
            <a:r>
              <a:rPr lang="en-US" sz="2100" dirty="0">
                <a:solidFill>
                  <a:srgbClr val="FFFFFF"/>
                </a:solidFill>
              </a:rPr>
              <a:t>el peso está </a:t>
            </a:r>
            <a:pPr indent="0" marL="0">
              <a:spcAft>
                <a:spcPts val="1000"/>
              </a:spcAft>
              <a:buNone/>
            </a:pPr>
            <a:r>
              <a:rPr lang="en-US" sz="2100" b="1" dirty="0">
                <a:solidFill>
                  <a:srgbClr val="FF2E88"/>
                </a:solidFill>
              </a:rPr>
              <a:t>EN EL LÍMITE</a:t>
            </a:r>
            <a:endParaRPr lang="en-US" sz="2100" dirty="0"/>
          </a:p>
          <a:p>
            <a:pPr indent="0" marL="0">
              <a:spcAft>
                <a:spcPts val="1000"/>
              </a:spcAft>
              <a:buNone/>
            </a:pPr>
            <a:r>
              <a:rPr lang="en-US" sz="2100" b="1" dirty="0">
                <a:solidFill>
                  <a:srgbClr val="22D3EE"/>
                </a:solidFill>
              </a:rPr>
              <a:t>ENTONCES </a:t>
            </a:r>
            <a:pPr indent="0" marL="0">
              <a:spcAft>
                <a:spcPts val="1000"/>
              </a:spcAft>
              <a:buNone/>
            </a:pPr>
            <a:r>
              <a:rPr lang="en-US" sz="2100" dirty="0">
                <a:solidFill>
                  <a:srgbClr val="FFFFFF"/>
                </a:solidFill>
              </a:rPr>
              <a:t>el riesgo es </a:t>
            </a:r>
            <a:pPr indent="0" marL="0">
              <a:spcAft>
                <a:spcPts val="1000"/>
              </a:spcAft>
              <a:buNone/>
            </a:pPr>
            <a:r>
              <a:rPr lang="en-US" sz="2100" b="1" dirty="0">
                <a:solidFill>
                  <a:srgbClr val="FF2E88"/>
                </a:solidFill>
              </a:rPr>
              <a:t>ALTO</a:t>
            </a:r>
            <a:endParaRPr lang="en-US" sz="2100" dirty="0"/>
          </a:p>
        </p:txBody>
      </p:sp>
      <p:sp>
        <p:nvSpPr>
          <p:cNvPr id="20" name="Text 18"/>
          <p:cNvSpPr txBox="1"/>
          <p:nvPr/>
        </p:nvSpPr>
        <p:spPr>
          <a:xfrm>
            <a:off x="6629400" y="4663440"/>
            <a:ext cx="5029200" cy="868680"/>
          </a:xfrm>
          <a:prstGeom prst="rect">
            <a:avLst/>
          </a:prstGeom>
          <a:noFill/>
          <a:ln/>
        </p:spPr>
        <p:txBody>
          <a:bodyPr wrap="square" lIns="0" tIns="0" rIns="0" bIns="0" rtlCol="0" anchor="ctr"/>
          <a:lstStyle/>
          <a:p>
            <a:pPr indent="0" marL="0">
              <a:buNone/>
            </a:pPr>
            <a:r>
              <a:rPr lang="en-US" sz="1400" dirty="0">
                <a:solidFill>
                  <a:srgbClr val="5A6578"/>
                </a:solidFill>
              </a:rPr>
              <a:t>Hoy la exposición es nítida (baja/media/alta por reglas). Variables candidatas: exposición, tamaño del cartel, confiabilidad del soporte, peso.</a:t>
            </a:r>
            <a:endParaRPr lang="en-US" sz="14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Neo4j: el modelo convertido en grafo</a:t>
            </a:r>
            <a:endParaRPr lang="en-US" sz="3400" dirty="0"/>
          </a:p>
        </p:txBody>
      </p:sp>
      <p:sp>
        <p:nvSpPr>
          <p:cNvPr id="3" name="Shape 1"/>
          <p:cNvSpPr/>
          <p:nvPr/>
        </p:nvSpPr>
        <p:spPr>
          <a:xfrm>
            <a:off x="9921240" y="438912"/>
            <a:ext cx="1783080" cy="457200"/>
          </a:xfrm>
          <a:prstGeom prst="roundRect">
            <a:avLst>
              <a:gd name="adj" fmla="val 50000"/>
            </a:avLst>
          </a:prstGeom>
          <a:solidFill>
            <a:srgbClr val="D9480F"/>
          </a:solidFill>
          <a:ln w="12700">
            <a:solidFill>
              <a:srgbClr val="D9480F"/>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Luciano</a:t>
            </a:r>
            <a:pPr algn="ctr" indent="0" marL="0">
              <a:buNone/>
            </a:pPr>
            <a:r>
              <a:rPr lang="en-US" sz="1400" dirty="0">
                <a:solidFill>
                  <a:srgbClr val="FFFFFF"/>
                </a:solidFill>
              </a:rPr>
              <a:t>  ·  1:00</a:t>
            </a:r>
            <a:endParaRPr lang="en-US" sz="1400" dirty="0"/>
          </a:p>
        </p:txBody>
      </p:sp>
      <p:sp>
        <p:nvSpPr>
          <p:cNvPr id="5" name="Shape 3"/>
          <p:cNvSpPr/>
          <p:nvPr/>
        </p:nvSpPr>
        <p:spPr>
          <a:xfrm>
            <a:off x="480060" y="1394460"/>
            <a:ext cx="1691640" cy="777240"/>
          </a:xfrm>
          <a:prstGeom prst="roundRect">
            <a:avLst>
              <a:gd name="adj" fmla="val 11765"/>
            </a:avLst>
          </a:prstGeom>
          <a:solidFill>
            <a:srgbClr val="EEE8FA"/>
          </a:solidFill>
          <a:ln w="22225">
            <a:solidFill>
              <a:srgbClr val="6B46C1"/>
            </a:solidFill>
            <a:prstDash val="solid"/>
          </a:ln>
        </p:spPr>
      </p:sp>
      <p:sp>
        <p:nvSpPr>
          <p:cNvPr id="6" name="Text 4"/>
          <p:cNvSpPr txBox="1"/>
          <p:nvPr/>
        </p:nvSpPr>
        <p:spPr>
          <a:xfrm>
            <a:off x="480060" y="1394460"/>
            <a:ext cx="1691640" cy="777240"/>
          </a:xfrm>
          <a:prstGeom prst="rect">
            <a:avLst/>
          </a:prstGeom>
          <a:noFill/>
          <a:ln/>
        </p:spPr>
        <p:txBody>
          <a:bodyPr wrap="square" lIns="0" tIns="0" rIns="0" bIns="0" rtlCol="0" anchor="ctr"/>
          <a:lstStyle/>
          <a:p>
            <a:pPr algn="ctr" indent="0" marL="0">
              <a:buNone/>
            </a:pPr>
            <a:r>
              <a:rPr lang="en-US" sz="1500" b="1" dirty="0">
                <a:solidFill>
                  <a:srgbClr val="1A202C"/>
                </a:solidFill>
              </a:rPr>
              <a:t>Cartel</a:t>
            </a:r>
            <a:endParaRPr lang="en-US" sz="1500" dirty="0"/>
          </a:p>
          <a:p>
            <a:pPr algn="ctr" indent="0" marL="0">
              <a:buNone/>
            </a:pPr>
            <a:r>
              <a:rPr lang="en-US" sz="1300" b="1" dirty="0">
                <a:solidFill>
                  <a:srgbClr val="5A6578"/>
                </a:solidFill>
              </a:rPr>
              <a:t>CU1</a:t>
            </a:r>
            <a:endParaRPr lang="en-US" sz="1500" dirty="0"/>
          </a:p>
        </p:txBody>
      </p:sp>
      <p:sp>
        <p:nvSpPr>
          <p:cNvPr id="7" name="Shape 5"/>
          <p:cNvSpPr/>
          <p:nvPr/>
        </p:nvSpPr>
        <p:spPr>
          <a:xfrm>
            <a:off x="2766060" y="1394460"/>
            <a:ext cx="1691640" cy="777240"/>
          </a:xfrm>
          <a:prstGeom prst="roundRect">
            <a:avLst>
              <a:gd name="adj" fmla="val 11765"/>
            </a:avLst>
          </a:prstGeom>
          <a:solidFill>
            <a:srgbClr val="FDEBDD"/>
          </a:solidFill>
          <a:ln w="22225">
            <a:solidFill>
              <a:srgbClr val="D9480F"/>
            </a:solidFill>
            <a:prstDash val="solid"/>
          </a:ln>
        </p:spPr>
      </p:sp>
      <p:sp>
        <p:nvSpPr>
          <p:cNvPr id="8" name="Text 6"/>
          <p:cNvSpPr txBox="1"/>
          <p:nvPr/>
        </p:nvSpPr>
        <p:spPr>
          <a:xfrm>
            <a:off x="2766060" y="1394460"/>
            <a:ext cx="1691640" cy="777240"/>
          </a:xfrm>
          <a:prstGeom prst="rect">
            <a:avLst/>
          </a:prstGeom>
          <a:noFill/>
          <a:ln/>
        </p:spPr>
        <p:txBody>
          <a:bodyPr wrap="square" lIns="0" tIns="0" rIns="0" bIns="0" rtlCol="0" anchor="ctr"/>
          <a:lstStyle/>
          <a:p>
            <a:pPr algn="ctr" indent="0" marL="0">
              <a:buNone/>
            </a:pPr>
            <a:r>
              <a:rPr lang="en-US" sz="1500" b="1" dirty="0">
                <a:solidFill>
                  <a:srgbClr val="1A202C"/>
                </a:solidFill>
              </a:rPr>
              <a:t>Geometría</a:t>
            </a:r>
            <a:endParaRPr lang="en-US" sz="1500" dirty="0"/>
          </a:p>
          <a:p>
            <a:pPr algn="ctr" indent="0" marL="0">
              <a:buNone/>
            </a:pPr>
            <a:r>
              <a:rPr lang="en-US" sz="1300" b="1" dirty="0">
                <a:solidFill>
                  <a:srgbClr val="5A6578"/>
                </a:solidFill>
              </a:rPr>
              <a:t>1000 mm</a:t>
            </a:r>
            <a:endParaRPr lang="en-US" sz="1500" dirty="0"/>
          </a:p>
        </p:txBody>
      </p:sp>
      <p:sp>
        <p:nvSpPr>
          <p:cNvPr id="9" name="Shape 7"/>
          <p:cNvSpPr/>
          <p:nvPr/>
        </p:nvSpPr>
        <p:spPr>
          <a:xfrm>
            <a:off x="5052060" y="1394460"/>
            <a:ext cx="1691640" cy="777240"/>
          </a:xfrm>
          <a:prstGeom prst="roundRect">
            <a:avLst>
              <a:gd name="adj" fmla="val 11765"/>
            </a:avLst>
          </a:prstGeom>
          <a:solidFill>
            <a:srgbClr val="FDEBDD"/>
          </a:solidFill>
          <a:ln w="22225">
            <a:solidFill>
              <a:srgbClr val="D9480F"/>
            </a:solidFill>
            <a:prstDash val="solid"/>
          </a:ln>
        </p:spPr>
      </p:sp>
      <p:sp>
        <p:nvSpPr>
          <p:cNvPr id="10" name="Text 8"/>
          <p:cNvSpPr txBox="1"/>
          <p:nvPr/>
        </p:nvSpPr>
        <p:spPr>
          <a:xfrm>
            <a:off x="5052060" y="1394460"/>
            <a:ext cx="1691640" cy="777240"/>
          </a:xfrm>
          <a:prstGeom prst="rect">
            <a:avLst/>
          </a:prstGeom>
          <a:noFill/>
          <a:ln/>
        </p:spPr>
        <p:txBody>
          <a:bodyPr wrap="square" lIns="0" tIns="0" rIns="0" bIns="0" rtlCol="0" anchor="ctr"/>
          <a:lstStyle/>
          <a:p>
            <a:pPr algn="ctr" indent="0" marL="0">
              <a:buNone/>
            </a:pPr>
            <a:r>
              <a:rPr lang="en-US" sz="1500" b="1" dirty="0">
                <a:solidFill>
                  <a:srgbClr val="1A202C"/>
                </a:solidFill>
              </a:rPr>
              <a:t>Límite</a:t>
            </a:r>
            <a:endParaRPr lang="en-US" sz="1500" dirty="0"/>
          </a:p>
          <a:p>
            <a:pPr algn="ctr" indent="0" marL="0">
              <a:buNone/>
            </a:pPr>
            <a:r>
              <a:rPr lang="en-US" sz="1300" b="1" dirty="0">
                <a:solidFill>
                  <a:srgbClr val="5A6578"/>
                </a:solidFill>
              </a:rPr>
              <a:t>cama 400 mm</a:t>
            </a:r>
            <a:endParaRPr lang="en-US" sz="1500" dirty="0"/>
          </a:p>
        </p:txBody>
      </p:sp>
      <p:sp>
        <p:nvSpPr>
          <p:cNvPr id="11" name="Shape 9"/>
          <p:cNvSpPr/>
          <p:nvPr/>
        </p:nvSpPr>
        <p:spPr>
          <a:xfrm>
            <a:off x="7338060" y="1394460"/>
            <a:ext cx="1691640" cy="777240"/>
          </a:xfrm>
          <a:prstGeom prst="roundRect">
            <a:avLst>
              <a:gd name="adj" fmla="val 11765"/>
            </a:avLst>
          </a:prstGeom>
          <a:solidFill>
            <a:srgbClr val="EEE8FA"/>
          </a:solidFill>
          <a:ln w="22225">
            <a:solidFill>
              <a:srgbClr val="6B46C1"/>
            </a:solidFill>
            <a:prstDash val="solid"/>
          </a:ln>
        </p:spPr>
      </p:sp>
      <p:sp>
        <p:nvSpPr>
          <p:cNvPr id="12" name="Text 10"/>
          <p:cNvSpPr txBox="1"/>
          <p:nvPr/>
        </p:nvSpPr>
        <p:spPr>
          <a:xfrm>
            <a:off x="7338060" y="1394460"/>
            <a:ext cx="1691640" cy="777240"/>
          </a:xfrm>
          <a:prstGeom prst="rect">
            <a:avLst/>
          </a:prstGeom>
          <a:noFill/>
          <a:ln/>
        </p:spPr>
        <p:txBody>
          <a:bodyPr wrap="square" lIns="0" tIns="0" rIns="0" bIns="0" rtlCol="0" anchor="ctr"/>
          <a:lstStyle/>
          <a:p>
            <a:pPr algn="ctr" indent="0" marL="0">
              <a:buNone/>
            </a:pPr>
            <a:r>
              <a:rPr lang="en-US" sz="1500" b="1" dirty="0">
                <a:solidFill>
                  <a:srgbClr val="1A202C"/>
                </a:solidFill>
              </a:rPr>
              <a:t>Conflicto</a:t>
            </a:r>
            <a:endParaRPr lang="en-US" sz="1500" dirty="0"/>
          </a:p>
          <a:p>
            <a:pPr algn="ctr" indent="0" marL="0">
              <a:buNone/>
            </a:pPr>
            <a:r>
              <a:rPr lang="en-US" sz="1300" b="1" dirty="0">
                <a:solidFill>
                  <a:srgbClr val="5A6578"/>
                </a:solidFill>
              </a:rPr>
              <a:t>ExcedeCama</a:t>
            </a:r>
            <a:endParaRPr lang="en-US" sz="1500" dirty="0"/>
          </a:p>
        </p:txBody>
      </p:sp>
      <p:sp>
        <p:nvSpPr>
          <p:cNvPr id="13" name="Shape 11"/>
          <p:cNvSpPr/>
          <p:nvPr/>
        </p:nvSpPr>
        <p:spPr>
          <a:xfrm>
            <a:off x="9624060" y="1394460"/>
            <a:ext cx="1691640" cy="777240"/>
          </a:xfrm>
          <a:prstGeom prst="roundRect">
            <a:avLst>
              <a:gd name="adj" fmla="val 11765"/>
            </a:avLst>
          </a:prstGeom>
          <a:solidFill>
            <a:srgbClr val="FDEBDD"/>
          </a:solidFill>
          <a:ln w="22225">
            <a:solidFill>
              <a:srgbClr val="D9480F"/>
            </a:solidFill>
            <a:prstDash val="solid"/>
          </a:ln>
        </p:spPr>
      </p:sp>
      <p:sp>
        <p:nvSpPr>
          <p:cNvPr id="14" name="Text 12"/>
          <p:cNvSpPr txBox="1"/>
          <p:nvPr/>
        </p:nvSpPr>
        <p:spPr>
          <a:xfrm>
            <a:off x="9624060" y="1394460"/>
            <a:ext cx="1691640" cy="777240"/>
          </a:xfrm>
          <a:prstGeom prst="rect">
            <a:avLst/>
          </a:prstGeom>
          <a:noFill/>
          <a:ln/>
        </p:spPr>
        <p:txBody>
          <a:bodyPr wrap="square" lIns="0" tIns="0" rIns="0" bIns="0" rtlCol="0" anchor="ctr"/>
          <a:lstStyle/>
          <a:p>
            <a:pPr algn="ctr" indent="0" marL="0">
              <a:buNone/>
            </a:pPr>
            <a:r>
              <a:rPr lang="en-US" sz="1500" b="1" dirty="0">
                <a:solidFill>
                  <a:srgbClr val="1A202C"/>
                </a:solidFill>
              </a:rPr>
              <a:t>Alternativa</a:t>
            </a:r>
            <a:endParaRPr lang="en-US" sz="1500" dirty="0"/>
          </a:p>
          <a:p>
            <a:pPr algn="ctr" indent="0" marL="0">
              <a:buNone/>
            </a:pPr>
            <a:r>
              <a:rPr lang="en-US" sz="1300" b="1" dirty="0">
                <a:solidFill>
                  <a:srgbClr val="5A6578"/>
                </a:solidFill>
              </a:rPr>
              <a:t>Segmentación</a:t>
            </a:r>
            <a:endParaRPr lang="en-US" sz="1500" dirty="0"/>
          </a:p>
        </p:txBody>
      </p:sp>
      <p:sp>
        <p:nvSpPr>
          <p:cNvPr id="15" name="Shape 13"/>
          <p:cNvSpPr/>
          <p:nvPr/>
        </p:nvSpPr>
        <p:spPr>
          <a:xfrm>
            <a:off x="2199132" y="1783080"/>
            <a:ext cx="539496" cy="914"/>
          </a:xfrm>
          <a:prstGeom prst="line">
            <a:avLst/>
          </a:prstGeom>
          <a:noFill/>
          <a:ln w="22225">
            <a:solidFill>
              <a:srgbClr val="4A5568"/>
            </a:solidFill>
            <a:prstDash val="solid"/>
            <a:tailEnd type="triangle"/>
          </a:ln>
        </p:spPr>
      </p:sp>
      <p:sp>
        <p:nvSpPr>
          <p:cNvPr id="16" name="Text 14"/>
          <p:cNvSpPr txBox="1"/>
          <p:nvPr/>
        </p:nvSpPr>
        <p:spPr>
          <a:xfrm>
            <a:off x="2171700" y="1216152"/>
            <a:ext cx="594360" cy="274320"/>
          </a:xfrm>
          <a:prstGeom prst="rect">
            <a:avLst/>
          </a:prstGeom>
          <a:noFill/>
          <a:ln/>
        </p:spPr>
        <p:txBody>
          <a:bodyPr wrap="square" lIns="0" tIns="0" rIns="0" bIns="0" rtlCol="0" anchor="ctr"/>
          <a:lstStyle/>
          <a:p>
            <a:pPr algn="ctr" indent="0" marL="0">
              <a:buNone/>
            </a:pPr>
            <a:r>
              <a:rPr lang="en-US" sz="1300" b="1" dirty="0">
                <a:solidFill>
                  <a:srgbClr val="5A6578"/>
                </a:solidFill>
              </a:rPr>
              <a:t>TIENE</a:t>
            </a:r>
            <a:endParaRPr lang="en-US" sz="1300" dirty="0"/>
          </a:p>
        </p:txBody>
      </p:sp>
      <p:sp>
        <p:nvSpPr>
          <p:cNvPr id="17" name="Shape 15"/>
          <p:cNvSpPr/>
          <p:nvPr/>
        </p:nvSpPr>
        <p:spPr>
          <a:xfrm>
            <a:off x="4485132" y="1783080"/>
            <a:ext cx="539496" cy="914"/>
          </a:xfrm>
          <a:prstGeom prst="line">
            <a:avLst/>
          </a:prstGeom>
          <a:noFill/>
          <a:ln w="22225">
            <a:solidFill>
              <a:srgbClr val="4A5568"/>
            </a:solidFill>
            <a:prstDash val="solid"/>
            <a:tailEnd type="triangle"/>
          </a:ln>
        </p:spPr>
      </p:sp>
      <p:sp>
        <p:nvSpPr>
          <p:cNvPr id="18" name="Text 16"/>
          <p:cNvSpPr txBox="1"/>
          <p:nvPr/>
        </p:nvSpPr>
        <p:spPr>
          <a:xfrm>
            <a:off x="4457700" y="1216152"/>
            <a:ext cx="594360" cy="274320"/>
          </a:xfrm>
          <a:prstGeom prst="rect">
            <a:avLst/>
          </a:prstGeom>
          <a:noFill/>
          <a:ln/>
        </p:spPr>
        <p:txBody>
          <a:bodyPr wrap="square" lIns="0" tIns="0" rIns="0" bIns="0" rtlCol="0" anchor="ctr"/>
          <a:lstStyle/>
          <a:p>
            <a:pPr algn="ctr" indent="0" marL="0">
              <a:buNone/>
            </a:pPr>
            <a:r>
              <a:rPr lang="en-US" sz="1300" b="1" dirty="0">
                <a:solidFill>
                  <a:srgbClr val="FF2E88"/>
                </a:solidFill>
              </a:rPr>
              <a:t>VIOLA</a:t>
            </a:r>
            <a:endParaRPr lang="en-US" sz="1300" dirty="0"/>
          </a:p>
        </p:txBody>
      </p:sp>
      <p:sp>
        <p:nvSpPr>
          <p:cNvPr id="19" name="Shape 17"/>
          <p:cNvSpPr/>
          <p:nvPr/>
        </p:nvSpPr>
        <p:spPr>
          <a:xfrm>
            <a:off x="6771132" y="1783080"/>
            <a:ext cx="539496" cy="914"/>
          </a:xfrm>
          <a:prstGeom prst="line">
            <a:avLst/>
          </a:prstGeom>
          <a:noFill/>
          <a:ln w="22225">
            <a:solidFill>
              <a:srgbClr val="4A5568"/>
            </a:solidFill>
            <a:prstDash val="solid"/>
            <a:tailEnd type="triangle"/>
          </a:ln>
        </p:spPr>
      </p:sp>
      <p:sp>
        <p:nvSpPr>
          <p:cNvPr id="20" name="Text 18"/>
          <p:cNvSpPr txBox="1"/>
          <p:nvPr/>
        </p:nvSpPr>
        <p:spPr>
          <a:xfrm>
            <a:off x="6743700" y="1216152"/>
            <a:ext cx="594360" cy="274320"/>
          </a:xfrm>
          <a:prstGeom prst="rect">
            <a:avLst/>
          </a:prstGeom>
          <a:noFill/>
          <a:ln/>
        </p:spPr>
        <p:txBody>
          <a:bodyPr wrap="square" lIns="0" tIns="0" rIns="0" bIns="0" rtlCol="0" anchor="ctr"/>
          <a:lstStyle/>
          <a:p>
            <a:pPr algn="ctr" indent="0" marL="0">
              <a:buNone/>
            </a:pPr>
            <a:r>
              <a:rPr lang="en-US" sz="1300" b="1" dirty="0">
                <a:solidFill>
                  <a:srgbClr val="FF2E88"/>
                </a:solidFill>
              </a:rPr>
              <a:t>GENERA</a:t>
            </a:r>
            <a:endParaRPr lang="en-US" sz="1300" dirty="0"/>
          </a:p>
        </p:txBody>
      </p:sp>
      <p:sp>
        <p:nvSpPr>
          <p:cNvPr id="21" name="Shape 19"/>
          <p:cNvSpPr/>
          <p:nvPr/>
        </p:nvSpPr>
        <p:spPr>
          <a:xfrm>
            <a:off x="9057132" y="1783080"/>
            <a:ext cx="539496" cy="914"/>
          </a:xfrm>
          <a:prstGeom prst="line">
            <a:avLst/>
          </a:prstGeom>
          <a:noFill/>
          <a:ln w="22225">
            <a:solidFill>
              <a:srgbClr val="4A5568"/>
            </a:solidFill>
            <a:prstDash val="solid"/>
            <a:tailEnd type="triangle"/>
          </a:ln>
        </p:spPr>
      </p:sp>
      <p:sp>
        <p:nvSpPr>
          <p:cNvPr id="22" name="Text 20"/>
          <p:cNvSpPr txBox="1"/>
          <p:nvPr/>
        </p:nvSpPr>
        <p:spPr>
          <a:xfrm>
            <a:off x="9029700" y="1216152"/>
            <a:ext cx="594360" cy="274320"/>
          </a:xfrm>
          <a:prstGeom prst="rect">
            <a:avLst/>
          </a:prstGeom>
          <a:noFill/>
          <a:ln/>
        </p:spPr>
        <p:txBody>
          <a:bodyPr wrap="square" lIns="0" tIns="0" rIns="0" bIns="0" rtlCol="0" anchor="ctr"/>
          <a:lstStyle/>
          <a:p>
            <a:pPr algn="ctr" indent="0" marL="0">
              <a:buNone/>
            </a:pPr>
            <a:r>
              <a:rPr lang="en-US" sz="1300" b="1" dirty="0">
                <a:solidFill>
                  <a:srgbClr val="FF2E88"/>
                </a:solidFill>
              </a:rPr>
              <a:t>EXIGE</a:t>
            </a:r>
            <a:endParaRPr lang="en-US" sz="1300" dirty="0"/>
          </a:p>
        </p:txBody>
      </p:sp>
      <p:sp>
        <p:nvSpPr>
          <p:cNvPr id="23" name="Text 21"/>
          <p:cNvSpPr txBox="1"/>
          <p:nvPr/>
        </p:nvSpPr>
        <p:spPr>
          <a:xfrm>
            <a:off x="502920" y="2377440"/>
            <a:ext cx="11155680" cy="320040"/>
          </a:xfrm>
          <a:prstGeom prst="rect">
            <a:avLst/>
          </a:prstGeom>
          <a:noFill/>
          <a:ln/>
        </p:spPr>
        <p:txBody>
          <a:bodyPr wrap="square" lIns="0" tIns="0" rIns="0" bIns="0" rtlCol="0" anchor="ctr"/>
          <a:lstStyle/>
          <a:p>
            <a:pPr algn="ctr" indent="0" marL="0">
              <a:buNone/>
            </a:pPr>
            <a:r>
              <a:rPr lang="en-US" sz="1500" b="1" dirty="0">
                <a:solidFill>
                  <a:srgbClr val="1A202C"/>
                </a:solidFill>
              </a:rPr>
              <a:t>Las relaciones en rosa no se cargaron a mano: </a:t>
            </a:r>
            <a:pPr algn="ctr" indent="0" marL="0">
              <a:buNone/>
            </a:pPr>
            <a:r>
              <a:rPr lang="en-US" sz="1500" dirty="0">
                <a:solidFill>
                  <a:srgbClr val="1A202C"/>
                </a:solidFill>
              </a:rPr>
              <a:t>las creó la regla MAN-R3.</a:t>
            </a:r>
            <a:endParaRPr lang="en-US" sz="1500" dirty="0"/>
          </a:p>
        </p:txBody>
      </p:sp>
      <p:sp>
        <p:nvSpPr>
          <p:cNvPr id="24" name="Text 22"/>
          <p:cNvSpPr txBox="1"/>
          <p:nvPr/>
        </p:nvSpPr>
        <p:spPr>
          <a:xfrm>
            <a:off x="502920" y="3017520"/>
            <a:ext cx="5486400" cy="320040"/>
          </a:xfrm>
          <a:prstGeom prst="rect">
            <a:avLst/>
          </a:prstGeom>
          <a:noFill/>
          <a:ln/>
        </p:spPr>
        <p:txBody>
          <a:bodyPr wrap="square" lIns="0" tIns="0" rIns="0" bIns="0" rtlCol="0" anchor="ctr"/>
          <a:lstStyle/>
          <a:p>
            <a:pPr indent="0" marL="0">
              <a:buNone/>
            </a:pPr>
            <a:r>
              <a:rPr lang="en-US" sz="1600" b="1" dirty="0">
                <a:solidFill>
                  <a:srgbClr val="5A6578"/>
                </a:solidFill>
              </a:rPr>
              <a:t>Consulta en Cypher (el lenguaje de Neo4j)</a:t>
            </a:r>
            <a:endParaRPr lang="en-US" sz="1600" dirty="0"/>
          </a:p>
        </p:txBody>
      </p:sp>
      <p:sp>
        <p:nvSpPr>
          <p:cNvPr id="25" name="Shape 23"/>
          <p:cNvSpPr/>
          <p:nvPr/>
        </p:nvSpPr>
        <p:spPr>
          <a:xfrm>
            <a:off x="502920" y="3429000"/>
            <a:ext cx="5120640" cy="1371600"/>
          </a:xfrm>
          <a:prstGeom prst="roundRect">
            <a:avLst>
              <a:gd name="adj" fmla="val 5333"/>
            </a:avLst>
          </a:prstGeom>
          <a:solidFill>
            <a:srgbClr val="141824"/>
          </a:solidFill>
          <a:ln w="12700">
            <a:solidFill>
              <a:srgbClr val="141824"/>
            </a:solidFill>
            <a:prstDash val="solid"/>
          </a:ln>
        </p:spPr>
      </p:sp>
      <p:sp>
        <p:nvSpPr>
          <p:cNvPr id="26" name="Text 24"/>
          <p:cNvSpPr txBox="1"/>
          <p:nvPr/>
        </p:nvSpPr>
        <p:spPr>
          <a:xfrm>
            <a:off x="731520" y="3566160"/>
            <a:ext cx="4663440" cy="1097280"/>
          </a:xfrm>
          <a:prstGeom prst="rect">
            <a:avLst/>
          </a:prstGeom>
          <a:noFill/>
          <a:ln/>
        </p:spPr>
        <p:txBody>
          <a:bodyPr wrap="square" lIns="0" tIns="0" rIns="0" bIns="0" rtlCol="0" anchor="t"/>
          <a:lstStyle/>
          <a:p>
            <a:pPr indent="0" marL="0">
              <a:buNone/>
            </a:pPr>
            <a:r>
              <a:rPr lang="en-US" sz="1500" dirty="0">
                <a:solidFill>
                  <a:srgbClr val="E2E8F0"/>
                </a:solidFill>
                <a:latin typeface="Courier New" pitchFamily="34" charset="0"/>
                <a:ea typeface="Courier New" pitchFamily="34" charset="-122"/>
                <a:cs typeface="Courier New" pitchFamily="34" charset="-120"/>
              </a:rPr>
              <a:t>MATCH (k:Conflicto {caso:'CU1'})</a:t>
            </a:r>
            <a:endParaRPr lang="en-US" sz="1500" dirty="0"/>
          </a:p>
          <a:p>
            <a:pPr indent="0" marL="0">
              <a:buNone/>
            </a:pPr>
            <a:r>
              <a:rPr lang="en-US" sz="1500" dirty="0">
                <a:solidFill>
                  <a:srgbClr val="E2E8F0"/>
                </a:solidFill>
                <a:latin typeface="Courier New" pitchFamily="34" charset="0"/>
                <a:ea typeface="Courier New" pitchFamily="34" charset="-122"/>
                <a:cs typeface="Courier New" pitchFamily="34" charset="-120"/>
              </a:rPr>
              <a:t>      -[e:EXIGE]-&gt;(alt)</a:t>
            </a:r>
            <a:endParaRPr lang="en-US" sz="1500" dirty="0"/>
          </a:p>
          <a:p>
            <a:pPr indent="0" marL="0">
              <a:buNone/>
            </a:pPr>
            <a:r>
              <a:rPr lang="en-US" sz="1500" dirty="0">
                <a:solidFill>
                  <a:srgbClr val="E2E8F0"/>
                </a:solidFill>
                <a:latin typeface="Courier New" pitchFamily="34" charset="0"/>
                <a:ea typeface="Courier New" pitchFamily="34" charset="-122"/>
                <a:cs typeface="Courier New" pitchFamily="34" charset="-120"/>
              </a:rPr>
              <a:t>RETURN k.tipo, k.detalle,</a:t>
            </a:r>
            <a:endParaRPr lang="en-US" sz="1500" dirty="0"/>
          </a:p>
          <a:p>
            <a:pPr indent="0" marL="0">
              <a:buNone/>
            </a:pPr>
            <a:r>
              <a:rPr lang="en-US" sz="1500" dirty="0">
                <a:solidFill>
                  <a:srgbClr val="E2E8F0"/>
                </a:solidFill>
                <a:latin typeface="Courier New" pitchFamily="34" charset="0"/>
                <a:ea typeface="Courier New" pitchFamily="34" charset="-122"/>
                <a:cs typeface="Courier New" pitchFamily="34" charset="-120"/>
              </a:rPr>
              <a:t>       alt.nombre, e.regla</a:t>
            </a:r>
            <a:endParaRPr lang="en-US" sz="1500" dirty="0"/>
          </a:p>
        </p:txBody>
      </p:sp>
      <p:sp>
        <p:nvSpPr>
          <p:cNvPr id="27" name="Text 25"/>
          <p:cNvSpPr txBox="1"/>
          <p:nvPr/>
        </p:nvSpPr>
        <p:spPr>
          <a:xfrm>
            <a:off x="502920" y="4892040"/>
            <a:ext cx="5120640" cy="320040"/>
          </a:xfrm>
          <a:prstGeom prst="rect">
            <a:avLst/>
          </a:prstGeom>
          <a:noFill/>
          <a:ln/>
        </p:spPr>
        <p:txBody>
          <a:bodyPr wrap="square" lIns="0" tIns="0" rIns="0" bIns="0" rtlCol="0" anchor="ctr"/>
          <a:lstStyle/>
          <a:p>
            <a:pPr indent="0" marL="0">
              <a:buNone/>
            </a:pPr>
            <a:r>
              <a:rPr lang="en-US" sz="1400" i="1" dirty="0">
                <a:solidFill>
                  <a:srgbClr val="5A6578"/>
                </a:solidFill>
              </a:rPr>
              <a:t>«Buscá el conflicto del caso CU1, qué exige y qué regla lo creó»</a:t>
            </a:r>
            <a:endParaRPr lang="en-US" sz="1400" dirty="0"/>
          </a:p>
        </p:txBody>
      </p:sp>
      <p:sp>
        <p:nvSpPr>
          <p:cNvPr id="28" name="Text 26"/>
          <p:cNvSpPr txBox="1"/>
          <p:nvPr/>
        </p:nvSpPr>
        <p:spPr>
          <a:xfrm>
            <a:off x="5989320" y="3017520"/>
            <a:ext cx="5486400" cy="320040"/>
          </a:xfrm>
          <a:prstGeom prst="rect">
            <a:avLst/>
          </a:prstGeom>
          <a:noFill/>
          <a:ln/>
        </p:spPr>
        <p:txBody>
          <a:bodyPr wrap="square" lIns="0" tIns="0" rIns="0" bIns="0" rtlCol="0" anchor="ctr"/>
          <a:lstStyle/>
          <a:p>
            <a:pPr indent="0" marL="0">
              <a:buNone/>
            </a:pPr>
            <a:r>
              <a:rPr lang="en-US" sz="1600" b="1" dirty="0">
                <a:solidFill>
                  <a:srgbClr val="5A6578"/>
                </a:solidFill>
              </a:rPr>
              <a:t>Resultado real</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89320" y="3429000"/>
          <a:ext cx="5669280" cy="914400"/>
        </p:xfrm>
        <a:graphic>
          <a:graphicData uri="http://schemas.openxmlformats.org/drawingml/2006/table">
            <a:tbl>
              <a:tblPr/>
              <a:tblGrid>
                <a:gridCol w="1234440"/>
                <a:gridCol w="1965960"/>
                <a:gridCol w="1691640"/>
                <a:gridCol w="777240"/>
              </a:tblGrid>
              <a:tr h="502920">
                <a:tc>
                  <a:txBody>
                    <a:bodyPr/>
                    <a:lstStyle/>
                    <a:p>
                      <a:pPr indent="0" marL="0">
                        <a:buNone/>
                      </a:pPr>
                      <a:r>
                        <a:rPr lang="en-US" sz="1300" b="1" dirty="0">
                          <a:solidFill>
                            <a:srgbClr val="FFFFFF"/>
                          </a:solidFill>
                        </a:rPr>
                        <a:t>conflicto</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300" b="1" dirty="0">
                          <a:solidFill>
                            <a:srgbClr val="FFFFFF"/>
                          </a:solidFill>
                        </a:rPr>
                        <a:t>detalle</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300" b="1" dirty="0">
                          <a:solidFill>
                            <a:srgbClr val="FFFFFF"/>
                          </a:solidFill>
                        </a:rPr>
                        <a:t>alternativa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300" b="1" dirty="0">
                          <a:solidFill>
                            <a:srgbClr val="FFFFFF"/>
                          </a:solidFill>
                        </a:rPr>
                        <a:t>regla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r>
              <a:tr h="502920">
                <a:tc>
                  <a:txBody>
                    <a:bodyPr/>
                    <a:lstStyle/>
                    <a:p>
                      <a:pPr indent="0" marL="0">
                        <a:buNone/>
                      </a:pPr>
                      <a:r>
                        <a:rPr lang="en-US" sz="1300" dirty="0">
                          <a:solidFill>
                            <a:srgbClr val="1A202C"/>
                          </a:solidFill>
                        </a:rPr>
                        <a:t>ExcedeCama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1A202C"/>
                          </a:solidFill>
                        </a:rPr>
                        <a:t>1000 mm &gt; 400 mm de cama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1A202C"/>
                          </a:solidFill>
                        </a:rPr>
                        <a:t>SegmentacionModular</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b="1" dirty="0">
                          <a:solidFill>
                            <a:srgbClr val="FF2E88"/>
                          </a:solidFill>
                        </a:rPr>
                        <a:t>MAN-R3</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bl>
          </a:graphicData>
        </a:graphic>
      </p:graphicFrame>
      <p:sp>
        <p:nvSpPr>
          <p:cNvPr id="30" name="Text 27"/>
          <p:cNvSpPr txBox="1"/>
          <p:nvPr/>
        </p:nvSpPr>
        <p:spPr>
          <a:xfrm>
            <a:off x="5989320" y="4572000"/>
            <a:ext cx="5669280" cy="548640"/>
          </a:xfrm>
          <a:prstGeom prst="rect">
            <a:avLst/>
          </a:prstGeom>
          <a:noFill/>
          <a:ln/>
        </p:spPr>
        <p:txBody>
          <a:bodyPr wrap="square" lIns="0" tIns="0" rIns="0" bIns="0" rtlCol="0" anchor="ctr"/>
          <a:lstStyle/>
          <a:p>
            <a:pPr indent="0" marL="0">
              <a:buNone/>
            </a:pPr>
            <a:r>
              <a:rPr lang="en-US" sz="1600" dirty="0">
                <a:solidFill>
                  <a:srgbClr val="1A202C"/>
                </a:solidFill>
              </a:rPr>
              <a:t>En total: 58 frames · 42 reglas · 139 instancias · Neo4j 5.21 en Docker</a:t>
            </a:r>
            <a:endParaRPr lang="en-US" sz="1600" dirty="0"/>
          </a:p>
        </p:txBody>
      </p:sp>
      <p:sp>
        <p:nvSpPr>
          <p:cNvPr id="31" name="Text 28"/>
          <p:cNvSpPr txBox="1"/>
          <p:nvPr/>
        </p:nvSpPr>
        <p:spPr>
          <a:xfrm>
            <a:off x="502920" y="5897880"/>
            <a:ext cx="11155680" cy="365760"/>
          </a:xfrm>
          <a:prstGeom prst="rect">
            <a:avLst/>
          </a:prstGeom>
          <a:noFill/>
          <a:ln/>
        </p:spPr>
        <p:txBody>
          <a:bodyPr wrap="square" lIns="0" tIns="0" rIns="0" bIns="0" rtlCol="0" anchor="ctr"/>
          <a:lstStyle/>
          <a:p>
            <a:pPr indent="0" marL="0">
              <a:buNone/>
            </a:pPr>
            <a:r>
              <a:rPr lang="en-US" sz="1400" dirty="0">
                <a:solidFill>
                  <a:srgbClr val="5A6578"/>
                </a:solidFill>
              </a:rPr>
              <a:t>Neo4j = base de datos que guarda nodos y flechas, igual que nuestra red · Instancia = un caso concreto (este cartel, esta pared)</a:t>
            </a:r>
            <a:endParaRPr lang="en-US" sz="14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Demo en Neo4j</a:t>
            </a:r>
            <a:endParaRPr lang="en-US" sz="3400" dirty="0"/>
          </a:p>
        </p:txBody>
      </p:sp>
      <p:sp>
        <p:nvSpPr>
          <p:cNvPr id="3" name="Shape 1"/>
          <p:cNvSpPr/>
          <p:nvPr/>
        </p:nvSpPr>
        <p:spPr>
          <a:xfrm>
            <a:off x="9921240" y="438912"/>
            <a:ext cx="1783080" cy="457200"/>
          </a:xfrm>
          <a:prstGeom prst="roundRect">
            <a:avLst>
              <a:gd name="adj" fmla="val 50000"/>
            </a:avLst>
          </a:prstGeom>
          <a:solidFill>
            <a:srgbClr val="2B6CB0"/>
          </a:solidFill>
          <a:ln w="12700">
            <a:solidFill>
              <a:srgbClr val="2B6CB0"/>
            </a:solidFill>
            <a:prstDash val="solid"/>
          </a:ln>
        </p:spPr>
      </p:sp>
      <p:sp>
        <p:nvSpPr>
          <p:cNvPr id="4" name="Text 2"/>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FFFFFF"/>
                </a:solidFill>
              </a:rPr>
              <a:t>Matías</a:t>
            </a:r>
            <a:pPr algn="ctr" indent="0" marL="0">
              <a:buNone/>
            </a:pPr>
            <a:r>
              <a:rPr lang="en-US" sz="1400" dirty="0">
                <a:solidFill>
                  <a:srgbClr val="FFFFFF"/>
                </a:solidFill>
              </a:rPr>
              <a:t>  ·  2:00</a:t>
            </a:r>
            <a:endParaRPr lang="en-US" sz="1400" dirty="0"/>
          </a:p>
        </p:txBody>
      </p:sp>
      <p:sp>
        <p:nvSpPr>
          <p:cNvPr id="5" name="Shape 3"/>
          <p:cNvSpPr/>
          <p:nvPr/>
        </p:nvSpPr>
        <p:spPr>
          <a:xfrm>
            <a:off x="502920" y="1444752"/>
            <a:ext cx="1051560" cy="384048"/>
          </a:xfrm>
          <a:prstGeom prst="roundRect">
            <a:avLst>
              <a:gd name="adj" fmla="val 50000"/>
            </a:avLst>
          </a:prstGeom>
          <a:solidFill>
            <a:srgbClr val="2B6CB0"/>
          </a:solidFill>
          <a:ln w="12700">
            <a:solidFill>
              <a:srgbClr val="2B6CB0"/>
            </a:solidFill>
            <a:prstDash val="solid"/>
          </a:ln>
        </p:spPr>
      </p:sp>
      <p:sp>
        <p:nvSpPr>
          <p:cNvPr id="6" name="Text 4"/>
          <p:cNvSpPr txBox="1"/>
          <p:nvPr/>
        </p:nvSpPr>
        <p:spPr>
          <a:xfrm>
            <a:off x="502920" y="1444752"/>
            <a:ext cx="1051560" cy="384048"/>
          </a:xfrm>
          <a:prstGeom prst="rect">
            <a:avLst/>
          </a:prstGeom>
          <a:noFill/>
          <a:ln/>
        </p:spPr>
        <p:txBody>
          <a:bodyPr wrap="square" lIns="0" tIns="0" rIns="0" bIns="0" rtlCol="0" anchor="ctr"/>
          <a:lstStyle/>
          <a:p>
            <a:pPr algn="ctr" indent="0" marL="0">
              <a:buNone/>
            </a:pPr>
            <a:r>
              <a:rPr lang="en-US" sz="1300" b="1" dirty="0">
                <a:solidFill>
                  <a:srgbClr val="FFFFFF"/>
                </a:solidFill>
              </a:rPr>
              <a:t>paso 01–02</a:t>
            </a:r>
            <a:endParaRPr lang="en-US" sz="1300" dirty="0"/>
          </a:p>
        </p:txBody>
      </p:sp>
      <p:sp>
        <p:nvSpPr>
          <p:cNvPr id="7" name="Text 5"/>
          <p:cNvSpPr txBox="1"/>
          <p:nvPr/>
        </p:nvSpPr>
        <p:spPr>
          <a:xfrm>
            <a:off x="1737360" y="1371600"/>
            <a:ext cx="4206240" cy="777240"/>
          </a:xfrm>
          <a:prstGeom prst="rect">
            <a:avLst/>
          </a:prstGeom>
          <a:noFill/>
          <a:ln/>
        </p:spPr>
        <p:txBody>
          <a:bodyPr wrap="square" lIns="0" tIns="0" rIns="0" bIns="0" rtlCol="0" anchor="ctr"/>
          <a:lstStyle/>
          <a:p>
            <a:pPr indent="0" marL="0">
              <a:buNone/>
            </a:pPr>
            <a:r>
              <a:rPr lang="en-US" sz="1600" dirty="0">
                <a:solidFill>
                  <a:srgbClr val="1A202C"/>
                </a:solidFill>
              </a:rPr>
              <a:t>El pedido del café no avanza: falta cómo se fija → Materiales dice «bloqueante» (R-MI-01)</a:t>
            </a:r>
            <a:endParaRPr lang="en-US" sz="1600" dirty="0"/>
          </a:p>
        </p:txBody>
      </p:sp>
      <p:sp>
        <p:nvSpPr>
          <p:cNvPr id="8" name="Shape 6"/>
          <p:cNvSpPr/>
          <p:nvPr/>
        </p:nvSpPr>
        <p:spPr>
          <a:xfrm>
            <a:off x="502920" y="2313432"/>
            <a:ext cx="1051560" cy="384048"/>
          </a:xfrm>
          <a:prstGeom prst="roundRect">
            <a:avLst>
              <a:gd name="adj" fmla="val 50000"/>
            </a:avLst>
          </a:prstGeom>
          <a:solidFill>
            <a:srgbClr val="2B6CB0"/>
          </a:solidFill>
          <a:ln w="12700">
            <a:solidFill>
              <a:srgbClr val="2B6CB0"/>
            </a:solidFill>
            <a:prstDash val="solid"/>
          </a:ln>
        </p:spPr>
      </p:sp>
      <p:sp>
        <p:nvSpPr>
          <p:cNvPr id="9" name="Text 7"/>
          <p:cNvSpPr txBox="1"/>
          <p:nvPr/>
        </p:nvSpPr>
        <p:spPr>
          <a:xfrm>
            <a:off x="502920" y="2313432"/>
            <a:ext cx="1051560" cy="384048"/>
          </a:xfrm>
          <a:prstGeom prst="rect">
            <a:avLst/>
          </a:prstGeom>
          <a:noFill/>
          <a:ln/>
        </p:spPr>
        <p:txBody>
          <a:bodyPr wrap="square" lIns="0" tIns="0" rIns="0" bIns="0" rtlCol="0" anchor="ctr"/>
          <a:lstStyle/>
          <a:p>
            <a:pPr algn="ctr" indent="0" marL="0">
              <a:buNone/>
            </a:pPr>
            <a:r>
              <a:rPr lang="en-US" sz="1300" b="1" dirty="0">
                <a:solidFill>
                  <a:srgbClr val="FFFFFF"/>
                </a:solidFill>
              </a:rPr>
              <a:t>paso 12</a:t>
            </a:r>
            <a:endParaRPr lang="en-US" sz="1300" dirty="0"/>
          </a:p>
        </p:txBody>
      </p:sp>
      <p:sp>
        <p:nvSpPr>
          <p:cNvPr id="10" name="Text 8"/>
          <p:cNvSpPr txBox="1"/>
          <p:nvPr/>
        </p:nvSpPr>
        <p:spPr>
          <a:xfrm>
            <a:off x="1737360" y="2240280"/>
            <a:ext cx="4206240" cy="777240"/>
          </a:xfrm>
          <a:prstGeom prst="rect">
            <a:avLst/>
          </a:prstGeom>
          <a:noFill/>
          <a:ln/>
        </p:spPr>
        <p:txBody>
          <a:bodyPr wrap="square" lIns="0" tIns="0" rIns="0" bIns="0" rtlCol="0" anchor="ctr"/>
          <a:lstStyle/>
          <a:p>
            <a:pPr indent="0" marL="0">
              <a:buNone/>
            </a:pPr>
            <a:r>
              <a:rPr lang="en-US" sz="1600" dirty="0">
                <a:solidFill>
                  <a:srgbClr val="1A202C"/>
                </a:solidFill>
              </a:rPr>
              <a:t>Café Andino de punta a punta: apto → segmentar → decide el fabricante</a:t>
            </a:r>
            <a:endParaRPr lang="en-US" sz="1600" dirty="0"/>
          </a:p>
        </p:txBody>
      </p:sp>
      <p:sp>
        <p:nvSpPr>
          <p:cNvPr id="11" name="Shape 9"/>
          <p:cNvSpPr/>
          <p:nvPr/>
        </p:nvSpPr>
        <p:spPr>
          <a:xfrm>
            <a:off x="502920" y="3182112"/>
            <a:ext cx="1051560" cy="384048"/>
          </a:xfrm>
          <a:prstGeom prst="roundRect">
            <a:avLst>
              <a:gd name="adj" fmla="val 50000"/>
            </a:avLst>
          </a:prstGeom>
          <a:solidFill>
            <a:srgbClr val="2A9D8F"/>
          </a:solidFill>
          <a:ln w="12700">
            <a:solidFill>
              <a:srgbClr val="2A9D8F"/>
            </a:solidFill>
            <a:prstDash val="solid"/>
          </a:ln>
        </p:spPr>
      </p:sp>
      <p:sp>
        <p:nvSpPr>
          <p:cNvPr id="12" name="Text 10"/>
          <p:cNvSpPr txBox="1"/>
          <p:nvPr/>
        </p:nvSpPr>
        <p:spPr>
          <a:xfrm>
            <a:off x="502920" y="3182112"/>
            <a:ext cx="1051560" cy="384048"/>
          </a:xfrm>
          <a:prstGeom prst="rect">
            <a:avLst/>
          </a:prstGeom>
          <a:noFill/>
          <a:ln/>
        </p:spPr>
        <p:txBody>
          <a:bodyPr wrap="square" lIns="0" tIns="0" rIns="0" bIns="0" rtlCol="0" anchor="ctr"/>
          <a:lstStyle/>
          <a:p>
            <a:pPr algn="ctr" indent="0" marL="0">
              <a:buNone/>
            </a:pPr>
            <a:r>
              <a:rPr lang="en-US" sz="1300" b="1" dirty="0">
                <a:solidFill>
                  <a:srgbClr val="FFFFFF"/>
                </a:solidFill>
              </a:rPr>
              <a:t>paso 13</a:t>
            </a:r>
            <a:endParaRPr lang="en-US" sz="1300" dirty="0"/>
          </a:p>
        </p:txBody>
      </p:sp>
      <p:sp>
        <p:nvSpPr>
          <p:cNvPr id="13" name="Text 11"/>
          <p:cNvSpPr txBox="1"/>
          <p:nvPr/>
        </p:nvSpPr>
        <p:spPr>
          <a:xfrm>
            <a:off x="1737360" y="3108960"/>
            <a:ext cx="4206240" cy="777240"/>
          </a:xfrm>
          <a:prstGeom prst="rect">
            <a:avLst/>
          </a:prstGeom>
          <a:noFill/>
          <a:ln/>
        </p:spPr>
        <p:txBody>
          <a:bodyPr wrap="square" lIns="0" tIns="0" rIns="0" bIns="0" rtlCol="0" anchor="ctr"/>
          <a:lstStyle/>
          <a:p>
            <a:pPr indent="0" marL="0">
              <a:buNone/>
            </a:pPr>
            <a:r>
              <a:rPr lang="en-US" sz="1600" dirty="0">
                <a:solidFill>
                  <a:srgbClr val="1A202C"/>
                </a:solidFill>
              </a:rPr>
              <a:t>Letras al frente: apto con condiciones; el PETG de Luciano cumple el requisito de Lautaro</a:t>
            </a:r>
            <a:endParaRPr lang="en-US" sz="1600" dirty="0"/>
          </a:p>
        </p:txBody>
      </p:sp>
      <p:sp>
        <p:nvSpPr>
          <p:cNvPr id="14" name="Shape 12"/>
          <p:cNvSpPr/>
          <p:nvPr/>
        </p:nvSpPr>
        <p:spPr>
          <a:xfrm>
            <a:off x="502920" y="4050792"/>
            <a:ext cx="1051560" cy="384048"/>
          </a:xfrm>
          <a:prstGeom prst="roundRect">
            <a:avLst>
              <a:gd name="adj" fmla="val 50000"/>
            </a:avLst>
          </a:prstGeom>
          <a:solidFill>
            <a:srgbClr val="2A9D8F"/>
          </a:solidFill>
          <a:ln w="12700">
            <a:solidFill>
              <a:srgbClr val="2A9D8F"/>
            </a:solidFill>
            <a:prstDash val="solid"/>
          </a:ln>
        </p:spPr>
      </p:sp>
      <p:sp>
        <p:nvSpPr>
          <p:cNvPr id="15" name="Text 13"/>
          <p:cNvSpPr txBox="1"/>
          <p:nvPr/>
        </p:nvSpPr>
        <p:spPr>
          <a:xfrm>
            <a:off x="502920" y="4050792"/>
            <a:ext cx="1051560" cy="384048"/>
          </a:xfrm>
          <a:prstGeom prst="rect">
            <a:avLst/>
          </a:prstGeom>
          <a:noFill/>
          <a:ln/>
        </p:spPr>
        <p:txBody>
          <a:bodyPr wrap="square" lIns="0" tIns="0" rIns="0" bIns="0" rtlCol="0" anchor="ctr"/>
          <a:lstStyle/>
          <a:p>
            <a:pPr algn="ctr" indent="0" marL="0">
              <a:buNone/>
            </a:pPr>
            <a:r>
              <a:rPr lang="en-US" sz="1300" b="1" dirty="0">
                <a:solidFill>
                  <a:srgbClr val="FFFFFF"/>
                </a:solidFill>
              </a:rPr>
              <a:t>paso 14</a:t>
            </a:r>
            <a:endParaRPr lang="en-US" sz="1300" dirty="0"/>
          </a:p>
        </p:txBody>
      </p:sp>
      <p:sp>
        <p:nvSpPr>
          <p:cNvPr id="16" name="Text 14"/>
          <p:cNvSpPr txBox="1"/>
          <p:nvPr/>
        </p:nvSpPr>
        <p:spPr>
          <a:xfrm>
            <a:off x="1737360" y="3977640"/>
            <a:ext cx="4206240" cy="777240"/>
          </a:xfrm>
          <a:prstGeom prst="rect">
            <a:avLst/>
          </a:prstGeom>
          <a:noFill/>
          <a:ln/>
        </p:spPr>
        <p:txBody>
          <a:bodyPr wrap="square" lIns="0" tIns="0" rIns="0" bIns="0" rtlCol="0" anchor="ctr"/>
          <a:lstStyle/>
          <a:p>
            <a:pPr indent="0" marL="0">
              <a:buNone/>
            </a:pPr>
            <a:r>
              <a:rPr lang="en-US" sz="1600" dirty="0">
                <a:solidFill>
                  <a:srgbClr val="1A202C"/>
                </a:solidFill>
              </a:rPr>
              <a:t>Neón en bandera: no apto, con cada causa</a:t>
            </a:r>
            <a:endParaRPr lang="en-US" sz="1600" dirty="0"/>
          </a:p>
        </p:txBody>
      </p:sp>
      <p:sp>
        <p:nvSpPr>
          <p:cNvPr id="17" name="Shape 15"/>
          <p:cNvSpPr/>
          <p:nvPr/>
        </p:nvSpPr>
        <p:spPr>
          <a:xfrm>
            <a:off x="502920" y="4983480"/>
            <a:ext cx="5440680" cy="548640"/>
          </a:xfrm>
          <a:prstGeom prst="roundRect">
            <a:avLst>
              <a:gd name="adj" fmla="val 13333"/>
            </a:avLst>
          </a:prstGeom>
          <a:solidFill>
            <a:srgbClr val="141824"/>
          </a:solidFill>
          <a:ln w="12700">
            <a:solidFill>
              <a:srgbClr val="141824"/>
            </a:solidFill>
            <a:prstDash val="solid"/>
          </a:ln>
        </p:spPr>
      </p:sp>
      <p:sp>
        <p:nvSpPr>
          <p:cNvPr id="18" name="Text 16"/>
          <p:cNvSpPr txBox="1"/>
          <p:nvPr/>
        </p:nvSpPr>
        <p:spPr>
          <a:xfrm>
            <a:off x="731520" y="5120640"/>
            <a:ext cx="4983480" cy="274320"/>
          </a:xfrm>
          <a:prstGeom prst="rect">
            <a:avLst/>
          </a:prstGeom>
          <a:noFill/>
          <a:ln/>
        </p:spPr>
        <p:txBody>
          <a:bodyPr wrap="square" lIns="0" tIns="0" rIns="0" bIns="0" rtlCol="0" anchor="t"/>
          <a:lstStyle/>
          <a:p>
            <a:pPr indent="0" marL="0">
              <a:buNone/>
            </a:pPr>
            <a:r>
              <a:rPr lang="en-US" sz="1500" dirty="0">
                <a:solidFill>
                  <a:srgbClr val="E2E8F0"/>
                </a:solidFill>
                <a:latin typeface="Courier New" pitchFamily="34" charset="0"/>
                <a:ea typeface="Courier New" pitchFamily="34" charset="-122"/>
                <a:cs typeface="Courier New" pitchFamily="34" charset="-120"/>
              </a:rPr>
              <a:t>bash neo4j/demo.sh</a:t>
            </a:r>
            <a:endParaRPr lang="en-US" sz="1500" dirty="0"/>
          </a:p>
        </p:txBody>
      </p:sp>
      <p:sp>
        <p:nvSpPr>
          <p:cNvPr id="19" name="Text 17"/>
          <p:cNvSpPr txBox="1"/>
          <p:nvPr/>
        </p:nvSpPr>
        <p:spPr>
          <a:xfrm>
            <a:off x="502920" y="5623560"/>
            <a:ext cx="5440680" cy="365760"/>
          </a:xfrm>
          <a:prstGeom prst="rect">
            <a:avLst/>
          </a:prstGeom>
          <a:noFill/>
          <a:ln/>
        </p:spPr>
        <p:txBody>
          <a:bodyPr wrap="square" lIns="0" tIns="0" rIns="0" bIns="0" rtlCol="0" anchor="ctr"/>
          <a:lstStyle/>
          <a:p>
            <a:pPr indent="0" marL="0">
              <a:buNone/>
            </a:pPr>
            <a:r>
              <a:rPr lang="en-US" sz="1400" i="1" dirty="0">
                <a:solidFill>
                  <a:srgbClr val="5A6578"/>
                </a:solidFill>
              </a:rPr>
              <a:t>Si falla la conexión: video de respaldo (salida/video_demo.mp4).</a:t>
            </a:r>
            <a:endParaRPr lang="en-US" sz="1400" dirty="0"/>
          </a:p>
        </p:txBody>
      </p:sp>
      <p:sp>
        <p:nvSpPr>
          <p:cNvPr id="20" name="Text 18"/>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600" b="1" dirty="0">
                <a:solidFill>
                  <a:srgbClr val="5A6578"/>
                </a:solidFill>
              </a:rPr>
              <a:t>Salida real del paso 14 (FR-07)</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63640" y="1691640"/>
          <a:ext cx="5394960" cy="914400"/>
        </p:xfrm>
        <a:graphic>
          <a:graphicData uri="http://schemas.openxmlformats.org/drawingml/2006/table">
            <a:tbl>
              <a:tblPr/>
              <a:tblGrid>
                <a:gridCol w="2194560"/>
                <a:gridCol w="3200400"/>
              </a:tblGrid>
              <a:tr h="457200">
                <a:tc>
                  <a:txBody>
                    <a:bodyPr/>
                    <a:lstStyle/>
                    <a:p>
                      <a:pPr indent="0" marL="0">
                        <a:buNone/>
                      </a:pPr>
                      <a:r>
                        <a:rPr lang="en-US" sz="1400" b="1" dirty="0">
                          <a:solidFill>
                            <a:srgbClr val="FFFFFF"/>
                          </a:solidFill>
                        </a:rPr>
                        <a:t>paso de Materiales</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400" b="1" dirty="0">
                          <a:solidFill>
                            <a:srgbClr val="FFFFFF"/>
                          </a:solidFill>
                        </a:rPr>
                        <a:t>resultado</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r>
              <a:tr h="457200">
                <a:tc>
                  <a:txBody>
                    <a:bodyPr/>
                    <a:lstStyle/>
                    <a:p>
                      <a:pPr indent="0" marL="0">
                        <a:buNone/>
                      </a:pPr>
                      <a:r>
                        <a:rPr lang="en-US" sz="1400" b="1" dirty="0">
                          <a:solidFill>
                            <a:srgbClr val="000000"/>
                          </a:solidFill>
                        </a:rPr>
                        <a:t>Excepción R-MI-08</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400" dirty="0">
                          <a:solidFill>
                            <a:srgbClr val="1A202C"/>
                          </a:solidFill>
                        </a:rPr>
                        <a:t>alero → no aplica (no cubre)</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000000"/>
                          </a:solidFill>
                        </a:rPr>
                        <a:t>Exposición R-MI-02</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400" dirty="0">
                          <a:solidFill>
                            <a:srgbClr val="1A202C"/>
                          </a:solidFill>
                        </a:rPr>
                        <a:t>alta</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4F6FA"/>
                    </a:solidFill>
                  </a:tcPr>
                </a:tc>
              </a:tr>
              <a:tr h="457200">
                <a:tc>
                  <a:txBody>
                    <a:bodyPr/>
                    <a:lstStyle/>
                    <a:p>
                      <a:pPr indent="0" marL="0">
                        <a:buNone/>
                      </a:pPr>
                      <a:r>
                        <a:rPr lang="en-US" sz="1400" b="1" dirty="0">
                          <a:solidFill>
                            <a:srgbClr val="000000"/>
                          </a:solidFill>
                        </a:rPr>
                        <a:t>Restricción R-MI-03</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400" b="1" dirty="0">
                          <a:solidFill>
                            <a:srgbClr val="C53030"/>
                          </a:solidFill>
                        </a:rPr>
                        <a:t>eléctrica, excluyente</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457200">
                <a:tc>
                  <a:txBody>
                    <a:bodyPr/>
                    <a:lstStyle/>
                    <a:p>
                      <a:pPr indent="0" marL="0">
                        <a:buNone/>
                      </a:pPr>
                      <a:r>
                        <a:rPr lang="en-US" sz="1400" b="1" dirty="0">
                          <a:solidFill>
                            <a:srgbClr val="000000"/>
                          </a:solidFill>
                        </a:rPr>
                        <a:t>Restricción R-MI-07</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400" dirty="0">
                          <a:solidFill>
                            <a:srgbClr val="1A202C"/>
                          </a:solidFill>
                        </a:rPr>
                        <a:t>mantenimiento, corregible</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4F6FA"/>
                    </a:solidFill>
                  </a:tcPr>
                </a:tc>
              </a:tr>
              <a:tr h="457200">
                <a:tc>
                  <a:txBody>
                    <a:bodyPr/>
                    <a:lstStyle/>
                    <a:p>
                      <a:pPr indent="0" marL="0">
                        <a:buNone/>
                      </a:pPr>
                      <a:r>
                        <a:rPr lang="en-US" sz="1400" b="1" dirty="0">
                          <a:solidFill>
                            <a:srgbClr val="000000"/>
                          </a:solidFill>
                        </a:rPr>
                        <a:t>Verificación R-MI-06</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400" dirty="0">
                          <a:solidFill>
                            <a:srgbClr val="1A202C"/>
                          </a:solidFill>
                        </a:rPr>
                        <a:t>estructural: bandera + viento</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000000"/>
                          </a:solidFill>
                        </a:rPr>
                        <a:t>Dictamen R-MI-12</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400" b="1" dirty="0">
                          <a:solidFill>
                            <a:srgbClr val="C53030"/>
                          </a:solidFill>
                        </a:rPr>
                        <a:t>NO APTO</a:t>
                      </a:r>
                      <a:endParaRPr lang="en-US" sz="14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bl>
          </a:graphicData>
        </a:graphic>
      </p:graphicFrame>
      <p:sp>
        <p:nvSpPr>
          <p:cNvPr id="22" name="Text 19"/>
          <p:cNvSpPr txBox="1"/>
          <p:nvPr/>
        </p:nvSpPr>
        <p:spPr>
          <a:xfrm>
            <a:off x="6263640" y="5074920"/>
            <a:ext cx="5394960" cy="640080"/>
          </a:xfrm>
          <a:prstGeom prst="rect">
            <a:avLst/>
          </a:prstGeom>
          <a:noFill/>
          <a:ln/>
        </p:spPr>
        <p:txBody>
          <a:bodyPr wrap="square" lIns="0" tIns="0" rIns="0" bIns="0" rtlCol="0" anchor="ctr"/>
          <a:lstStyle/>
          <a:p>
            <a:pPr indent="0" marL="0">
              <a:buNone/>
            </a:pPr>
            <a:r>
              <a:rPr lang="en-US" sz="1400" i="1" dirty="0">
                <a:solidFill>
                  <a:srgbClr val="5A6578"/>
                </a:solidFill>
              </a:rPr>
              <a:t>Arranca con los casos cargados y ninguna regla aplicada: las conclusiones aparecen en vivo.</a:t>
            </a:r>
            <a:endParaRPr lang="en-US" sz="1400" dirty="0"/>
          </a:p>
        </p:txBody>
      </p:sp>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11480"/>
            <a:ext cx="8686800" cy="731520"/>
          </a:xfrm>
          <a:prstGeom prst="rect">
            <a:avLst/>
          </a:prstGeom>
          <a:noFill/>
          <a:ln/>
        </p:spPr>
        <p:txBody>
          <a:bodyPr wrap="square" lIns="0" tIns="0" rIns="0" bIns="0" rtlCol="0" anchor="ctr"/>
          <a:lstStyle/>
          <a:p>
            <a:pPr indent="0" marL="0">
              <a:buNone/>
            </a:pPr>
            <a:r>
              <a:rPr lang="en-US" sz="3800" b="1" dirty="0">
                <a:solidFill>
                  <a:srgbClr val="FFFFFF"/>
                </a:solidFill>
              </a:rPr>
              <a:t>Qué nos falta</a:t>
            </a:r>
            <a:endParaRPr lang="en-US" sz="3800" dirty="0"/>
          </a:p>
        </p:txBody>
      </p:sp>
      <p:sp>
        <p:nvSpPr>
          <p:cNvPr id="3" name="Shape 1"/>
          <p:cNvSpPr/>
          <p:nvPr/>
        </p:nvSpPr>
        <p:spPr>
          <a:xfrm>
            <a:off x="731520" y="1691640"/>
            <a:ext cx="548640" cy="548640"/>
          </a:xfrm>
          <a:prstGeom prst="ellipse">
            <a:avLst/>
          </a:prstGeom>
          <a:solidFill>
            <a:srgbClr val="FF2E88"/>
          </a:solidFill>
          <a:ln w="12700">
            <a:solidFill>
              <a:srgbClr val="FF2E88"/>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Text 3"/>
          <p:cNvSpPr txBox="1"/>
          <p:nvPr/>
        </p:nvSpPr>
        <p:spPr>
          <a:xfrm>
            <a:off x="1508760" y="1645920"/>
            <a:ext cx="9601200" cy="411480"/>
          </a:xfrm>
          <a:prstGeom prst="rect">
            <a:avLst/>
          </a:prstGeom>
          <a:noFill/>
          <a:ln/>
        </p:spPr>
        <p:txBody>
          <a:bodyPr wrap="square" lIns="0" tIns="0" rIns="0" bIns="0" rtlCol="0" anchor="ctr"/>
          <a:lstStyle/>
          <a:p>
            <a:pPr indent="0" marL="0">
              <a:buNone/>
            </a:pPr>
            <a:r>
              <a:rPr lang="en-US" sz="2300" b="1" dirty="0">
                <a:solidFill>
                  <a:srgbClr val="FFFFFF"/>
                </a:solidFill>
              </a:rPr>
              <a:t>Números que no inventamos</a:t>
            </a:r>
            <a:endParaRPr lang="en-US" sz="2300" dirty="0"/>
          </a:p>
        </p:txBody>
      </p:sp>
      <p:sp>
        <p:nvSpPr>
          <p:cNvPr id="6" name="Text 4"/>
          <p:cNvSpPr txBox="1"/>
          <p:nvPr/>
        </p:nvSpPr>
        <p:spPr>
          <a:xfrm>
            <a:off x="1508760" y="2057400"/>
            <a:ext cx="9875520" cy="365760"/>
          </a:xfrm>
          <a:prstGeom prst="rect">
            <a:avLst/>
          </a:prstGeom>
          <a:noFill/>
          <a:ln/>
        </p:spPr>
        <p:txBody>
          <a:bodyPr wrap="square" lIns="0" tIns="0" rIns="0" bIns="0" rtlCol="0" anchor="ctr"/>
          <a:lstStyle/>
          <a:p>
            <a:pPr indent="0" marL="0">
              <a:buNone/>
            </a:pPr>
            <a:r>
              <a:rPr lang="en-US" sz="1700" dirty="0">
                <a:solidFill>
                  <a:srgbClr val="C9D1E0"/>
                </a:solidFill>
              </a:rPr>
              <a:t>protección contra el agua exigida, peso que aguanta cada soporte, desde qué tamaño pedir un profesional</a:t>
            </a:r>
            <a:endParaRPr lang="en-US" sz="1700" dirty="0"/>
          </a:p>
        </p:txBody>
      </p:sp>
      <p:sp>
        <p:nvSpPr>
          <p:cNvPr id="7" name="Shape 5"/>
          <p:cNvSpPr/>
          <p:nvPr/>
        </p:nvSpPr>
        <p:spPr>
          <a:xfrm>
            <a:off x="731520" y="2788920"/>
            <a:ext cx="548640" cy="548640"/>
          </a:xfrm>
          <a:prstGeom prst="ellipse">
            <a:avLst/>
          </a:prstGeom>
          <a:solidFill>
            <a:srgbClr val="FF2E88"/>
          </a:solidFill>
          <a:ln w="12700">
            <a:solidFill>
              <a:srgbClr val="FF2E88"/>
            </a:solidFill>
            <a:prstDash val="solid"/>
          </a:ln>
        </p:spPr>
      </p:sp>
      <p:sp>
        <p:nvSpPr>
          <p:cNvPr id="8" name="Text 6"/>
          <p:cNvSpPr txBox="1"/>
          <p:nvPr/>
        </p:nvSpPr>
        <p:spPr>
          <a:xfrm>
            <a:off x="73152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Text 7"/>
          <p:cNvSpPr txBox="1"/>
          <p:nvPr/>
        </p:nvSpPr>
        <p:spPr>
          <a:xfrm>
            <a:off x="1508760" y="2743200"/>
            <a:ext cx="9601200" cy="411480"/>
          </a:xfrm>
          <a:prstGeom prst="rect">
            <a:avLst/>
          </a:prstGeom>
          <a:noFill/>
          <a:ln/>
        </p:spPr>
        <p:txBody>
          <a:bodyPr wrap="square" lIns="0" tIns="0" rIns="0" bIns="0" rtlCol="0" anchor="ctr"/>
          <a:lstStyle/>
          <a:p>
            <a:pPr indent="0" marL="0">
              <a:buNone/>
            </a:pPr>
            <a:r>
              <a:rPr lang="en-US" sz="2300" b="1" dirty="0">
                <a:solidFill>
                  <a:srgbClr val="FFFFFF"/>
                </a:solidFill>
              </a:rPr>
              <a:t>Validar con el experto</a:t>
            </a:r>
            <a:endParaRPr lang="en-US" sz="2300" dirty="0"/>
          </a:p>
        </p:txBody>
      </p:sp>
      <p:sp>
        <p:nvSpPr>
          <p:cNvPr id="10" name="Text 8"/>
          <p:cNvSpPr txBox="1"/>
          <p:nvPr/>
        </p:nvSpPr>
        <p:spPr>
          <a:xfrm>
            <a:off x="1508760" y="3154680"/>
            <a:ext cx="9875520" cy="365760"/>
          </a:xfrm>
          <a:prstGeom prst="rect">
            <a:avLst/>
          </a:prstGeom>
          <a:noFill/>
          <a:ln/>
        </p:spPr>
        <p:txBody>
          <a:bodyPr wrap="square" lIns="0" tIns="0" rIns="0" bIns="0" rtlCol="0" anchor="ctr"/>
          <a:lstStyle/>
          <a:p>
            <a:pPr indent="0" marL="0">
              <a:buNone/>
            </a:pPr>
            <a:r>
              <a:rPr lang="en-US" sz="1700" dirty="0">
                <a:solidFill>
                  <a:srgbClr val="C9D1E0"/>
                </a:solidFill>
              </a:rPr>
              <a:t>las 20 reglas propuestas por el grupo</a:t>
            </a:r>
            <a:endParaRPr lang="en-US" sz="1700" dirty="0"/>
          </a:p>
        </p:txBody>
      </p:sp>
      <p:sp>
        <p:nvSpPr>
          <p:cNvPr id="11" name="Shape 9"/>
          <p:cNvSpPr/>
          <p:nvPr/>
        </p:nvSpPr>
        <p:spPr>
          <a:xfrm>
            <a:off x="731520" y="3886200"/>
            <a:ext cx="548640" cy="548640"/>
          </a:xfrm>
          <a:prstGeom prst="ellipse">
            <a:avLst/>
          </a:prstGeom>
          <a:solidFill>
            <a:srgbClr val="FF2E88"/>
          </a:solidFill>
          <a:ln w="12700">
            <a:solidFill>
              <a:srgbClr val="FF2E88"/>
            </a:solidFill>
            <a:prstDash val="solid"/>
          </a:ln>
        </p:spPr>
      </p:sp>
      <p:sp>
        <p:nvSpPr>
          <p:cNvPr id="12" name="Text 10"/>
          <p:cNvSpPr txBox="1"/>
          <p:nvPr/>
        </p:nvSpPr>
        <p:spPr>
          <a:xfrm>
            <a:off x="731520" y="3886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508760" y="3840480"/>
            <a:ext cx="9601200" cy="411480"/>
          </a:xfrm>
          <a:prstGeom prst="rect">
            <a:avLst/>
          </a:prstGeom>
          <a:noFill/>
          <a:ln/>
        </p:spPr>
        <p:txBody>
          <a:bodyPr wrap="square" lIns="0" tIns="0" rIns="0" bIns="0" rtlCol="0" anchor="ctr"/>
          <a:lstStyle/>
          <a:p>
            <a:pPr indent="0" marL="0">
              <a:buNone/>
            </a:pPr>
            <a:r>
              <a:rPr lang="en-US" sz="2300" b="1" dirty="0">
                <a:solidFill>
                  <a:srgbClr val="FFFFFF"/>
                </a:solidFill>
              </a:rPr>
              <a:t>Lógica difusa (PI3)</a:t>
            </a:r>
            <a:endParaRPr lang="en-US" sz="2300" dirty="0"/>
          </a:p>
        </p:txBody>
      </p:sp>
      <p:sp>
        <p:nvSpPr>
          <p:cNvPr id="14" name="Text 12"/>
          <p:cNvSpPr txBox="1"/>
          <p:nvPr/>
        </p:nvSpPr>
        <p:spPr>
          <a:xfrm>
            <a:off x="1508760" y="4251960"/>
            <a:ext cx="9875520" cy="365760"/>
          </a:xfrm>
          <a:prstGeom prst="rect">
            <a:avLst/>
          </a:prstGeom>
          <a:noFill/>
          <a:ln/>
        </p:spPr>
        <p:txBody>
          <a:bodyPr wrap="square" lIns="0" tIns="0" rIns="0" bIns="0" rtlCol="0" anchor="ctr"/>
          <a:lstStyle/>
          <a:p>
            <a:pPr indent="0" marL="0">
              <a:buNone/>
            </a:pPr>
            <a:r>
              <a:rPr lang="en-US" sz="1700" dirty="0">
                <a:solidFill>
                  <a:srgbClr val="C9D1E0"/>
                </a:solidFill>
              </a:rPr>
              <a:t>rangos de exposición, tamaño, soporte y peso</a:t>
            </a:r>
            <a:endParaRPr lang="en-US" sz="1700" dirty="0"/>
          </a:p>
        </p:txBody>
      </p:sp>
      <p:sp>
        <p:nvSpPr>
          <p:cNvPr id="15" name="Text 13"/>
          <p:cNvSpPr txBox="1"/>
          <p:nvPr/>
        </p:nvSpPr>
        <p:spPr>
          <a:xfrm>
            <a:off x="731520" y="5257800"/>
            <a:ext cx="7315200" cy="731520"/>
          </a:xfrm>
          <a:prstGeom prst="rect">
            <a:avLst/>
          </a:prstGeom>
          <a:noFill/>
          <a:ln/>
        </p:spPr>
        <p:txBody>
          <a:bodyPr wrap="square" lIns="0" tIns="0" rIns="0" bIns="0" rtlCol="0" anchor="ctr"/>
          <a:lstStyle/>
          <a:p>
            <a:pPr indent="0" marL="0">
              <a:buNone/>
            </a:pPr>
            <a:r>
              <a:rPr lang="en-US" sz="3600" b="1" dirty="0">
                <a:solidFill>
                  <a:srgbClr val="22D3EE"/>
                </a:solidFill>
              </a:rPr>
              <a:t>¡Gracias! ¿Preguntas?</a:t>
            </a:r>
            <a:endParaRPr lang="en-US" sz="3600" dirty="0"/>
          </a:p>
        </p:txBody>
      </p:sp>
      <p:sp>
        <p:nvSpPr>
          <p:cNvPr id="16" name="Text 14"/>
          <p:cNvSpPr txBox="1"/>
          <p:nvPr/>
        </p:nvSpPr>
        <p:spPr>
          <a:xfrm>
            <a:off x="731520" y="6035040"/>
            <a:ext cx="10515600" cy="320040"/>
          </a:xfrm>
          <a:prstGeom prst="rect">
            <a:avLst/>
          </a:prstGeom>
          <a:noFill/>
          <a:ln/>
        </p:spPr>
        <p:txBody>
          <a:bodyPr wrap="square" lIns="0" tIns="0" rIns="0" bIns="0" rtlCol="0" anchor="ctr"/>
          <a:lstStyle/>
          <a:p>
            <a:pPr indent="0" marL="0">
              <a:buNone/>
            </a:pPr>
            <a:r>
              <a:rPr lang="en-US" sz="1300" dirty="0">
                <a:solidFill>
                  <a:srgbClr val="8A94A6"/>
                </a:solidFill>
              </a:rPr>
              <a:t>Anexo: preguntas del integrador, red completa, PI1 y PI2, jerarquía de frames y grafos de los casos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Hacia el integrador: respuestas cortas</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914400"/>
        </p:xfrm>
        <a:graphic>
          <a:graphicData uri="http://schemas.openxmlformats.org/drawingml/2006/table">
            <a:tbl>
              <a:tblPr/>
              <a:tblGrid>
                <a:gridCol w="1737360"/>
                <a:gridCol w="9418320"/>
              </a:tblGrid>
              <a:tr h="384048">
                <a:tc>
                  <a:txBody>
                    <a:bodyPr/>
                    <a:lstStyle/>
                    <a:p>
                      <a:pPr indent="0" marL="0">
                        <a:buNone/>
                      </a:pPr>
                      <a:r>
                        <a:rPr lang="en-US" sz="1300" b="1" dirty="0">
                          <a:solidFill>
                            <a:srgbClr val="FFFFFF"/>
                          </a:solidFill>
                        </a:rPr>
                        <a:t>Eje</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c>
                  <a:txBody>
                    <a:bodyPr/>
                    <a:lstStyle/>
                    <a:p>
                      <a:pPr indent="0" marL="0">
                        <a:buNone/>
                      </a:pPr>
                      <a:r>
                        <a:rPr lang="en-US" sz="1300" b="1" dirty="0">
                          <a:solidFill>
                            <a:srgbClr val="FFFFFF"/>
                          </a:solidFill>
                        </a:rPr>
                        <a:t>Respuesta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41824"/>
                    </a:solidFill>
                  </a:tcPr>
                </a:tc>
              </a:tr>
              <a:tr h="713232">
                <a:tc>
                  <a:txBody>
                    <a:bodyPr/>
                    <a:lstStyle/>
                    <a:p>
                      <a:pPr indent="0" marL="0">
                        <a:buNone/>
                      </a:pPr>
                      <a:r>
                        <a:rPr lang="en-US" sz="1300" b="1" dirty="0">
                          <a:solidFill>
                            <a:srgbClr val="000000"/>
                          </a:solidFill>
                        </a:rPr>
                        <a:t>Grafo</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300" dirty="0">
                          <a:solidFill>
                            <a:srgbClr val="1A202C"/>
                          </a:solidFill>
                        </a:rPr>
                        <a:t>Pedido, Dato, Ficha, Cartel, Entorno, Soporte, Dictamen, Conflicto, Alternativa, Recomendación, Regla. La restricción del cliente CONDICIONA el cartel y ADMITE / RECHAZA alternativas; cada flecha creada por una regla guarda su nombre.</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640080">
                <a:tc>
                  <a:txBody>
                    <a:bodyPr/>
                    <a:lstStyle/>
                    <a:p>
                      <a:pPr indent="0" marL="0">
                        <a:buNone/>
                      </a:pPr>
                      <a:r>
                        <a:rPr lang="en-US" sz="1300" b="1" dirty="0">
                          <a:solidFill>
                            <a:srgbClr val="000000"/>
                          </a:solidFill>
                        </a:rPr>
                        <a:t>Difusa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300" i="1" dirty="0">
                          <a:solidFill>
                            <a:srgbClr val="5A6578"/>
                          </a:solidFill>
                        </a:rPr>
                        <a:t>Dirección de trabajo: exposición, tamaño, soporte, peso e impacto estético → índice de adecuación. Lo imposible lo siguen decidiendo reglas nítidas; lo difuso ordena.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713232">
                <a:tc>
                  <a:txBody>
                    <a:bodyPr/>
                    <a:lstStyle/>
                    <a:p>
                      <a:pPr indent="0" marL="0">
                        <a:buNone/>
                      </a:pPr>
                      <a:r>
                        <a:rPr lang="en-US" sz="1300" b="1" dirty="0">
                          <a:solidFill>
                            <a:srgbClr val="000000"/>
                          </a:solidFill>
                        </a:rPr>
                        <a:t>Planificador</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300" dirty="0">
                          <a:solidFill>
                            <a:srgbClr val="1A202C"/>
                          </a:solidFill>
                        </a:rPr>
                        <a:t>Pedido → Interpretación (aclaraciones hasta que alcanza) → ficha → Materiales → dictamen → Fabricación → recomendación → fabricante. Vuelve al experto si ninguna alternativa sirve (MAN-R8) o si una regla no está validada.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640080">
                <a:tc>
                  <a:txBody>
                    <a:bodyPr/>
                    <a:lstStyle/>
                    <a:p>
                      <a:pPr indent="0" marL="0">
                        <a:buNone/>
                      </a:pPr>
                      <a:r>
                        <a:rPr lang="en-US" sz="1300" b="1" dirty="0">
                          <a:solidFill>
                            <a:srgbClr val="000000"/>
                          </a:solidFill>
                        </a:rPr>
                        <a:t>LLM</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300" i="1" dirty="0">
                          <a:solidFill>
                            <a:srgbClr val="5A6578"/>
                          </a:solidFill>
                        </a:rPr>
                        <a:t>Pasa el mensaje del cliente a datos (con origen «cliente») y redacta la explicación desde la traza (paso 17). No decide. RAG sobre fichas técnicas y normas: dirección de trabajo.</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566928">
                <a:tc>
                  <a:txBody>
                    <a:bodyPr/>
                    <a:lstStyle/>
                    <a:p>
                      <a:pPr indent="0" marL="0">
                        <a:buNone/>
                      </a:pPr>
                      <a:r>
                        <a:rPr lang="en-US" sz="1300" b="1" dirty="0">
                          <a:solidFill>
                            <a:srgbClr val="000000"/>
                          </a:solidFill>
                        </a:rPr>
                        <a:t>APIs</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300" i="1" dirty="0">
                          <a:solidFill>
                            <a:srgbClr val="5A6578"/>
                          </a:solidFill>
                        </a:rPr>
                        <a:t>Dirección de trabajo: evaluar pedido (texto + foto → estado y aclaraciones) · recomendación del caso · explicación (reglas + datos + fuentes).</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r h="640080">
                <a:tc>
                  <a:txBody>
                    <a:bodyPr/>
                    <a:lstStyle/>
                    <a:p>
                      <a:pPr indent="0" marL="0">
                        <a:buNone/>
                      </a:pPr>
                      <a:r>
                        <a:rPr lang="en-US" sz="1300" b="1" dirty="0">
                          <a:solidFill>
                            <a:srgbClr val="000000"/>
                          </a:solidFill>
                        </a:rPr>
                        <a:t>Trazabilidad</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c>
                  <a:txBody>
                    <a:bodyPr/>
                    <a:lstStyle/>
                    <a:p>
                      <a:pPr indent="0" marL="0">
                        <a:buNone/>
                      </a:pPr>
                      <a:r>
                        <a:rPr lang="en-US" sz="1300" dirty="0">
                          <a:solidFill>
                            <a:srgbClr val="1A202C"/>
                          </a:solidFill>
                        </a:rPr>
                        <a:t>Hecho en Neo4j: (:Evaluacion)-[:ACTIVO {orden}]-&gt;(:Regla) por caso, y la propiedad «regla» en cada relación inferida. El grado de pertenencia se suma con la lógica difusa.</a:t>
                      </a:r>
                      <a:endParaRPr lang="en-US" sz="1300" dirty="0"/>
                    </a:p>
                  </a:txBody>
                  <a:tcPr marL="73152" marR="73152" marT="73152" marB="73152" anchor="ctr">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Red semántica integrada completa</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red_semantica_completa.png">    </p:cNvPr>
          <p:cNvPicPr>
            <a:picLocks noChangeAspect="1"/>
          </p:cNvPicPr>
          <p:nvPr/>
        </p:nvPicPr>
        <p:blipFill>
          <a:blip r:embed="rId1"/>
          <a:stretch>
            <a:fillRect/>
          </a:stretch>
        </p:blipFill>
        <p:spPr>
          <a:xfrm>
            <a:off x="1735962" y="1097280"/>
            <a:ext cx="8689596" cy="521208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Red semántica integrada: núcleo</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red_semantica_integrada.png">    </p:cNvPr>
          <p:cNvPicPr>
            <a:picLocks noChangeAspect="1"/>
          </p:cNvPicPr>
          <p:nvPr/>
        </p:nvPicPr>
        <p:blipFill>
          <a:blip r:embed="rId1"/>
          <a:stretch>
            <a:fillRect/>
          </a:stretch>
        </p:blipFill>
        <p:spPr>
          <a:xfrm>
            <a:off x="1471438" y="1097280"/>
            <a:ext cx="9218645" cy="521208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PI1: proceso experto de cada submódulo</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sp>
        <p:nvSpPr>
          <p:cNvPr id="5" name="Text 2"/>
          <p:cNvSpPr txBox="1"/>
          <p:nvPr/>
        </p:nvSpPr>
        <p:spPr>
          <a:xfrm>
            <a:off x="502920" y="1097280"/>
            <a:ext cx="3611880" cy="320040"/>
          </a:xfrm>
          <a:prstGeom prst="rect">
            <a:avLst/>
          </a:prstGeom>
          <a:noFill/>
          <a:ln/>
        </p:spPr>
        <p:txBody>
          <a:bodyPr wrap="square" lIns="0" tIns="0" rIns="0" bIns="0" rtlCol="0" anchor="ctr"/>
          <a:lstStyle/>
          <a:p>
            <a:pPr algn="ctr" indent="0" marL="0">
              <a:buNone/>
            </a:pPr>
            <a:r>
              <a:rPr lang="en-US" sz="1400" b="1" dirty="0">
                <a:solidFill>
                  <a:srgbClr val="2B6CB0"/>
                </a:solidFill>
              </a:rPr>
              <a:t>Interpretación (Matías)</a:t>
            </a:r>
            <a:endParaRPr lang="en-US" sz="1400" dirty="0"/>
          </a:p>
        </p:txBody>
      </p:sp>
      <p:pic>
        <p:nvPicPr>
          <p:cNvPr id="6" name="Image 0" descr="/home/tutexio/University/IA/ProyectoIA/pi1/img/PI1_Matias_diagrama_procesos.png">    </p:cNvPr>
          <p:cNvPicPr>
            <a:picLocks noChangeAspect="1"/>
          </p:cNvPicPr>
          <p:nvPr/>
        </p:nvPicPr>
        <p:blipFill>
          <a:blip r:embed="rId1"/>
          <a:stretch>
            <a:fillRect/>
          </a:stretch>
        </p:blipFill>
        <p:spPr>
          <a:xfrm>
            <a:off x="535620" y="1463040"/>
            <a:ext cx="3546479" cy="4846320"/>
          </a:xfrm>
          <a:prstGeom prst="rect">
            <a:avLst/>
          </a:prstGeom>
        </p:spPr>
      </p:pic>
      <p:sp>
        <p:nvSpPr>
          <p:cNvPr id="7" name="Text 3"/>
          <p:cNvSpPr txBox="1"/>
          <p:nvPr/>
        </p:nvSpPr>
        <p:spPr>
          <a:xfrm>
            <a:off x="4270248" y="1097280"/>
            <a:ext cx="3611880" cy="320040"/>
          </a:xfrm>
          <a:prstGeom prst="rect">
            <a:avLst/>
          </a:prstGeom>
          <a:noFill/>
          <a:ln/>
        </p:spPr>
        <p:txBody>
          <a:bodyPr wrap="square" lIns="0" tIns="0" rIns="0" bIns="0" rtlCol="0" anchor="ctr"/>
          <a:lstStyle/>
          <a:p>
            <a:pPr algn="ctr" indent="0" marL="0">
              <a:buNone/>
            </a:pPr>
            <a:r>
              <a:rPr lang="en-US" sz="1400" b="1" dirty="0">
                <a:solidFill>
                  <a:srgbClr val="2A9D8F"/>
                </a:solidFill>
              </a:rPr>
              <a:t>Materiales e instalación (Lautaro)</a:t>
            </a:r>
            <a:endParaRPr lang="en-US" sz="1400" dirty="0"/>
          </a:p>
        </p:txBody>
      </p:sp>
      <p:pic>
        <p:nvPicPr>
          <p:cNvPr id="8" name="Image 1" descr="/home/tutexio/University/IA/ProyectoIA/pi1/img/PI1_Lautaro_diagrama_procesos.png">    </p:cNvPr>
          <p:cNvPicPr>
            <a:picLocks noChangeAspect="1"/>
          </p:cNvPicPr>
          <p:nvPr/>
        </p:nvPicPr>
        <p:blipFill>
          <a:blip r:embed="rId2"/>
          <a:stretch>
            <a:fillRect/>
          </a:stretch>
        </p:blipFill>
        <p:spPr>
          <a:xfrm>
            <a:off x="4270248" y="1790276"/>
            <a:ext cx="3611880" cy="4191848"/>
          </a:xfrm>
          <a:prstGeom prst="rect">
            <a:avLst/>
          </a:prstGeom>
        </p:spPr>
      </p:pic>
      <p:sp>
        <p:nvSpPr>
          <p:cNvPr id="9" name="Text 4"/>
          <p:cNvSpPr txBox="1"/>
          <p:nvPr/>
        </p:nvSpPr>
        <p:spPr>
          <a:xfrm>
            <a:off x="8037576" y="1097280"/>
            <a:ext cx="3611880" cy="320040"/>
          </a:xfrm>
          <a:prstGeom prst="rect">
            <a:avLst/>
          </a:prstGeom>
          <a:noFill/>
          <a:ln/>
        </p:spPr>
        <p:txBody>
          <a:bodyPr wrap="square" lIns="0" tIns="0" rIns="0" bIns="0" rtlCol="0" anchor="ctr"/>
          <a:lstStyle/>
          <a:p>
            <a:pPr algn="ctr" indent="0" marL="0">
              <a:buNone/>
            </a:pPr>
            <a:r>
              <a:rPr lang="en-US" sz="1400" b="1" dirty="0">
                <a:solidFill>
                  <a:srgbClr val="D9480F"/>
                </a:solidFill>
              </a:rPr>
              <a:t>Fabricación y rediseño (Luciano)</a:t>
            </a:r>
            <a:endParaRPr lang="en-US" sz="1400" dirty="0"/>
          </a:p>
        </p:txBody>
      </p:sp>
      <p:pic>
        <p:nvPicPr>
          <p:cNvPr id="10" name="Image 2" descr="/home/tutexio/University/IA/ProyectoIA/pi1/img/PI1_Luciano_diagrama_procesos.png">    </p:cNvPr>
          <p:cNvPicPr>
            <a:picLocks noChangeAspect="1"/>
          </p:cNvPicPr>
          <p:nvPr/>
        </p:nvPicPr>
        <p:blipFill>
          <a:blip r:embed="rId3"/>
          <a:stretch>
            <a:fillRect/>
          </a:stretch>
        </p:blipFill>
        <p:spPr>
          <a:xfrm>
            <a:off x="8200150" y="1463040"/>
            <a:ext cx="3286733" cy="484632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PI2: redes semánticas individuales</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sp>
        <p:nvSpPr>
          <p:cNvPr id="5" name="Text 2"/>
          <p:cNvSpPr txBox="1"/>
          <p:nvPr/>
        </p:nvSpPr>
        <p:spPr>
          <a:xfrm>
            <a:off x="502920" y="1097280"/>
            <a:ext cx="7589520" cy="320040"/>
          </a:xfrm>
          <a:prstGeom prst="rect">
            <a:avLst/>
          </a:prstGeom>
          <a:noFill/>
          <a:ln/>
        </p:spPr>
        <p:txBody>
          <a:bodyPr wrap="square" lIns="0" tIns="0" rIns="0" bIns="0" rtlCol="0" anchor="ctr"/>
          <a:lstStyle/>
          <a:p>
            <a:pPr indent="0" marL="0">
              <a:buNone/>
            </a:pPr>
            <a:r>
              <a:rPr lang="en-US" sz="1400" b="1" dirty="0">
                <a:solidFill>
                  <a:srgbClr val="2B6CB0"/>
                </a:solidFill>
              </a:rPr>
              <a:t>Interpretación (Matías)</a:t>
            </a:r>
            <a:endParaRPr lang="en-US" sz="1400" dirty="0"/>
          </a:p>
        </p:txBody>
      </p:sp>
      <p:pic>
        <p:nvPicPr>
          <p:cNvPr id="6" name="Image 0" descr="/home/tutexio/University/IA/ProyectoIA/pi2/img/PI2_Matias_fig1_red_semantica_conceptual.png">    </p:cNvPr>
          <p:cNvPicPr>
            <a:picLocks noChangeAspect="1"/>
          </p:cNvPicPr>
          <p:nvPr/>
        </p:nvPicPr>
        <p:blipFill>
          <a:blip r:embed="rId1"/>
          <a:stretch>
            <a:fillRect/>
          </a:stretch>
        </p:blipFill>
        <p:spPr>
          <a:xfrm>
            <a:off x="502920" y="1535320"/>
            <a:ext cx="7589520" cy="4701761"/>
          </a:xfrm>
          <a:prstGeom prst="rect">
            <a:avLst/>
          </a:prstGeom>
        </p:spPr>
      </p:pic>
      <p:sp>
        <p:nvSpPr>
          <p:cNvPr id="7" name="Text 3"/>
          <p:cNvSpPr txBox="1"/>
          <p:nvPr/>
        </p:nvSpPr>
        <p:spPr>
          <a:xfrm>
            <a:off x="8321040" y="1097280"/>
            <a:ext cx="3383280" cy="320040"/>
          </a:xfrm>
          <a:prstGeom prst="rect">
            <a:avLst/>
          </a:prstGeom>
          <a:noFill/>
          <a:ln/>
        </p:spPr>
        <p:txBody>
          <a:bodyPr wrap="square" lIns="0" tIns="0" rIns="0" bIns="0" rtlCol="0" anchor="ctr"/>
          <a:lstStyle/>
          <a:p>
            <a:pPr indent="0" marL="0">
              <a:buNone/>
            </a:pPr>
            <a:r>
              <a:rPr lang="en-US" sz="1400" b="1" dirty="0">
                <a:solidFill>
                  <a:srgbClr val="D9480F"/>
                </a:solidFill>
              </a:rPr>
              <a:t>Fabricación y rediseño (Luciano)</a:t>
            </a:r>
            <a:endParaRPr lang="en-US" sz="1400" dirty="0"/>
          </a:p>
        </p:txBody>
      </p:sp>
      <p:pic>
        <p:nvPicPr>
          <p:cNvPr id="8" name="Image 1" descr="/home/tutexio/University/IA/ProyectoIA/pi2/img/PI2_Luciano_red_semantica_conceptual.png">    </p:cNvPr>
          <p:cNvPicPr>
            <a:picLocks noChangeAspect="1"/>
          </p:cNvPicPr>
          <p:nvPr/>
        </p:nvPicPr>
        <p:blipFill>
          <a:blip r:embed="rId2"/>
          <a:stretch>
            <a:fillRect/>
          </a:stretch>
        </p:blipFill>
        <p:spPr>
          <a:xfrm>
            <a:off x="8396460" y="1463040"/>
            <a:ext cx="3232439" cy="484632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Jerarquía de frames (generada desde Neo4j)</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jerarquia_frames.png">    </p:cNvPr>
          <p:cNvPicPr>
            <a:picLocks noChangeAspect="1"/>
          </p:cNvPicPr>
          <p:nvPr/>
        </p:nvPicPr>
        <p:blipFill>
          <a:blip r:embed="rId1"/>
          <a:stretch>
            <a:fillRect/>
          </a:stretch>
        </p:blipFill>
        <p:spPr>
          <a:xfrm>
            <a:off x="411480" y="1412862"/>
            <a:ext cx="11338560" cy="4580916"/>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CU1 instanciado en Neo4j</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cu1_instanciado.png">    </p:cNvPr>
          <p:cNvPicPr>
            <a:picLocks noChangeAspect="1"/>
          </p:cNvPicPr>
          <p:nvPr/>
        </p:nvPicPr>
        <p:blipFill>
          <a:blip r:embed="rId1"/>
          <a:stretch>
            <a:fillRect/>
          </a:stretch>
        </p:blipFill>
        <p:spPr>
          <a:xfrm>
            <a:off x="1349930" y="1097280"/>
            <a:ext cx="9461661" cy="521208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CU2 instanciado en Neo4j</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cu2_instanciado.png">    </p:cNvPr>
          <p:cNvPicPr>
            <a:picLocks noChangeAspect="1"/>
          </p:cNvPicPr>
          <p:nvPr/>
        </p:nvPicPr>
        <p:blipFill>
          <a:blip r:embed="rId1"/>
          <a:stretch>
            <a:fillRect/>
          </a:stretch>
        </p:blipFill>
        <p:spPr>
          <a:xfrm>
            <a:off x="768055" y="1097280"/>
            <a:ext cx="10625410" cy="521208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FR-07 instanciado en Neo4j (caso 2 del PI2 de Lautaro)</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fr07_instanciado.png">    </p:cNvPr>
          <p:cNvPicPr>
            <a:picLocks noChangeAspect="1"/>
          </p:cNvPicPr>
          <p:nvPr/>
        </p:nvPicPr>
        <p:blipFill>
          <a:blip r:embed="rId1"/>
          <a:stretch>
            <a:fillRect/>
          </a:stretch>
        </p:blipFill>
        <p:spPr>
          <a:xfrm>
            <a:off x="498971" y="1097280"/>
            <a:ext cx="11163579" cy="5212080"/>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9235440" cy="731520"/>
          </a:xfrm>
          <a:prstGeom prst="rect">
            <a:avLst/>
          </a:prstGeom>
          <a:noFill/>
          <a:ln/>
        </p:spPr>
        <p:txBody>
          <a:bodyPr wrap="square" lIns="0" tIns="0" rIns="0" bIns="0" rtlCol="0" anchor="ctr"/>
          <a:lstStyle/>
          <a:p>
            <a:pPr algn="l" indent="0" marL="0">
              <a:buNone/>
            </a:pPr>
            <a:r>
              <a:rPr lang="en-US" sz="3400" b="1" dirty="0">
                <a:solidFill>
                  <a:srgbClr val="1A202C"/>
                </a:solidFill>
              </a:rPr>
              <a:t>Filtro por restricción del cliente</a:t>
            </a:r>
            <a:endParaRPr lang="en-US" sz="3400" dirty="0"/>
          </a:p>
        </p:txBody>
      </p:sp>
      <p:sp>
        <p:nvSpPr>
          <p:cNvPr id="3" name="Text 1"/>
          <p:cNvSpPr txBox="1"/>
          <p:nvPr/>
        </p:nvSpPr>
        <p:spPr>
          <a:xfrm>
            <a:off x="9921240" y="438912"/>
            <a:ext cx="1783080" cy="457200"/>
          </a:xfrm>
          <a:prstGeom prst="rect">
            <a:avLst/>
          </a:prstGeom>
          <a:noFill/>
          <a:ln/>
        </p:spPr>
        <p:txBody>
          <a:bodyPr wrap="square" lIns="0" tIns="0" rIns="0" bIns="0" rtlCol="0" anchor="ctr"/>
          <a:lstStyle/>
          <a:p>
            <a:pPr algn="ctr" indent="0" marL="0">
              <a:buNone/>
            </a:pPr>
            <a:r>
              <a:rPr lang="en-US" sz="1400" b="1" dirty="0">
                <a:solidFill>
                  <a:srgbClr val="8A94A6"/>
                </a:solidFill>
              </a:rPr>
              <a:t>ANEXO</a:t>
            </a:r>
            <a:endParaRPr lang="en-US" sz="1400" dirty="0"/>
          </a:p>
        </p:txBody>
      </p:sp>
      <p:pic>
        <p:nvPicPr>
          <p:cNvPr id="5" name="Image 0" descr="/home/tutexio/University/IA/ProyectoIA/salida/img/filtro_luciano.png">    </p:cNvPr>
          <p:cNvPicPr>
            <a:picLocks noChangeAspect="1"/>
          </p:cNvPicPr>
          <p:nvPr/>
        </p:nvPicPr>
        <p:blipFill>
          <a:blip r:embed="rId1"/>
          <a:stretch>
            <a:fillRect/>
          </a:stretch>
        </p:blipFill>
        <p:spPr>
          <a:xfrm>
            <a:off x="411480" y="1777072"/>
            <a:ext cx="11338560" cy="3852495"/>
          </a:xfrm>
          <a:prstGeom prst="rect">
            <a:avLst/>
          </a:prstGeom>
        </p:spPr>
      </p:pic>
      <p:sp>
        <p:nvSpPr>
          <p:cNvPr id="25" name="Slide Number Placeholder 0"/>
          <p:cNvSpPr>
            <a:spLocks noGrp="1"/>
          </p:cNvSpPr>
          <p:nvPr>
            <p:ph type="sldNum" sz="quarter" idx="4294967295"/>
          </p:nvPr>
        </p:nvSpPr>
        <p:spPr>
          <a:xfrm>
            <a:off x="1120140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Neon Carbon">
  <a:themeElements>
    <a:clrScheme name="Neon Carbon">
      <a:dk1>
        <a:srgbClr val="1A202C"/>
      </a:dk1>
      <a:lt1>
        <a:srgbClr val="FFFFFF"/>
      </a:lt1>
      <a:dk2>
        <a:srgbClr val="141824"/>
      </a:dk2>
      <a:lt2>
        <a:srgbClr val="F4F6FA"/>
      </a:lt2>
      <a:accent1>
        <a:srgbClr val="FF2E88"/>
      </a:accent1>
      <a:accent2>
        <a:srgbClr val="22D3EE"/>
      </a:accent2>
      <a:accent3>
        <a:srgbClr val="2B6CB0"/>
      </a:accent3>
      <a:accent4>
        <a:srgbClr val="2A9D8F"/>
      </a:accent4>
      <a:accent5>
        <a:srgbClr val="D9480F"/>
      </a:accent5>
      <a:accent6>
        <a:srgbClr val="6B46C1"/>
      </a:accent6>
      <a:hlink>
        <a:srgbClr val="2B6CB0"/>
      </a:hlink>
      <a:folHlink>
        <a:srgbClr val="6B46C1"/>
      </a:folHlink>
    </a:clrScheme>
    <a:fontScheme name="Neon Carb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Asistente para evaluar pedidos de cartelería — Grupo 11</dc:title>
  <dc:subject>PptxGenJS Presentation</dc:subject>
  <dc:creator>Grupo 11 — Zarandon, Quiros, Marquesini</dc:creator>
  <cp:lastModifiedBy>Grupo 11 — Zarandon, Quiros, Marquesini</cp:lastModifiedBy>
  <cp:revision>1</cp:revision>
  <dcterms:created xsi:type="dcterms:W3CDTF">2026-10-04T17:15:54Z</dcterms:created>
  <dcterms:modified xsi:type="dcterms:W3CDTF">2026-10-04T17:15:54Z</dcterms:modified>
</cp:coreProperties>
</file>