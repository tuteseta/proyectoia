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61eabec-6ada-2243-7aa6-6bdec815deb3}">
          <p14:sldIdLst>
            <p14:sldId id="256"/>
          </p14:sldIdLst>
        </p14:section>
        <p14:section name="Problema y objetivos" id="{77779d03-03a4-8bf5-4042-19b1afdf0fb2}">
          <p14:sldIdLst>
            <p14:sldId id="257"/>
            <p14:sldId id="258"/>
            <p14:sldId id="259"/>
          </p14:sldIdLst>
        </p14:section>
        <p14:section name="Modelado" id="{530ab02e-52d5-34ae-39e3-b872e661d434}">
          <p14:sldIdLst>
            <p14:sldId id="260"/>
            <p14:sldId id="261"/>
            <p14:sldId id="262"/>
            <p14:sldId id="263"/>
            <p14:sldId id="264"/>
            <p14:sldId id="265"/>
          </p14:sldIdLst>
        </p14:section>
        <p14:section name="Neo4j y demo" id="{a3fa41f4-e7c0-5d4d-88c1-602e141640cd}">
          <p14:sldIdLst>
            <p14:sldId id="266"/>
            <p14:sldId id="267"/>
            <p14:sldId id="268"/>
          </p14:sldIdLst>
        </p14:section>
        <p14:section name="Cierre" id="{f52c9db9-20df-b321-716b-4a9ae3ecea33}">
          <p14:sldIdLst>
            <p14:sldId id="269"/>
            <p14:sldId id="270"/>
          </p14:sldIdLst>
        </p14:section>
        <p14:section name="Anexos" id="{30ce2ceb-7b79-8472-c8ed-c380770d3aa5}">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02C"/>
                </a:solidFill>
                <a:latin typeface="+mn-lt"/>
              </a:defRPr>
            </a:pPr>
            <a:r>
              <a:rPr sz="1400" b="0" i="0" u="none" strike="noStrike">
                <a:solidFill>
                  <a:srgbClr val="1A202C"/>
                </a:solidFill>
                <a:latin typeface="+mn-lt"/>
              </a:rPr>
              <a:t>38 reglas por origen</a:t>
            </a:r>
          </a:p>
        </c:rich>
      </c:tx>
      <c:layout/>
      <c:overlay val="0"/>
    </c:title>
    <c:autoTitleDeleted val="0"/>
    <c:plotArea>
      <c:layout/>
      <c:barChart>
        <c:barDir val="bar"/>
        <c:grouping val="clustered"/>
        <c:varyColors val="0"/>
        <c:ser>
          <c:idx val="0"/>
          <c:order val="0"/>
          <c:tx>
            <c:strRef>
              <c:f>Sheet1!$B$1</c:f>
              <c:strCache>
                <c:ptCount val="1"/>
                <c:pt idx="0">
                  <c:v>Reglas</c:v>
                </c:pt>
              </c:strCache>
            </c:strRef>
          </c:tx>
          <c:spPr>
            <a:solidFill>
              <a:srgbClr val="FF2E88"/>
            </a:solidFill>
            <a:effectLst/>
          </c:spPr>
          <c:invertIfNegative val="0"/>
          <c:dLbls>
            <c:numFmt formatCode="#,##0" sourceLinked="0"/>
            <c:txPr>
              <a:bodyPr/>
              <a:lstStyle/>
              <a:p>
                <a:pPr>
                  <a:defRPr b="0" i="0" strike="noStrike" sz="1200" u="none">
                    <a:solidFill>
                      <a:srgbClr val="1A202C"/>
                    </a:solidFill>
                    <a:latin typeface="+mn-lt"/>
                  </a:defRPr>
                </a:pPr>
              </a:p>
            </c:txPr>
            <c:showLegendKey val="0"/>
            <c:showVal val="1"/>
            <c:showCatName val="0"/>
            <c:showSerName val="0"/>
            <c:showPercent val="0"/>
            <c:showBubbleSize val="0"/>
            <c:showLeaderLines val="0"/>
          </c:dLbls>
          <c:cat>
            <c:multiLvlStrRef>
              <c:f>Sheet1!$A$2:$A$6</c:f>
              <c:multiLvlStrCache>
                <c:ptCount val="5"/>
                <c:lvl>
                  <c:pt idx="0">
                    <c:v>propuesta</c:v>
                  </c:pt>
                  <c:pt idx="1">
                    <c:v>experto</c:v>
                  </c:pt>
                  <c:pt idx="2">
                    <c:v>documental</c:v>
                  </c:pt>
                  <c:pt idx="3">
                    <c:v>doc.+experto</c:v>
                  </c:pt>
                  <c:pt idx="4">
                    <c:v>experto+doc.</c:v>
                  </c:pt>
                </c:lvl>
              </c:multiLvlStrCache>
            </c:multiLvlStrRef>
          </c:cat>
          <c:val>
            <c:numRef>
              <c:f>Sheet1!$B$2:$B$6</c:f>
              <c:numCache>
                <c:formatCode>General</c:formatCode>
                <c:ptCount val="5"/>
                <c:pt idx="0">
                  <c:v>16</c:v>
                </c:pt>
                <c:pt idx="1">
                  <c:v>15</c:v>
                </c:pt>
                <c:pt idx="2">
                  <c:v>4</c:v>
                </c:pt>
                <c:pt idx="3">
                  <c:v>2</c:v>
                </c:pt>
                <c:pt idx="4">
                  <c:v>1</c:v>
                </c:pt>
              </c:numCache>
            </c:numRef>
          </c:val>
        </c:ser>
        <c:dLbls>
          <c:numFmt formatCode="#,##0" sourceLinked="0"/>
          <c:txPr>
            <a:bodyPr/>
            <a:lstStyle/>
            <a:p>
              <a:pPr>
                <a:defRPr b="0" i="0" strike="noStrike" sz="1200" u="none">
                  <a:solidFill>
                    <a:srgbClr val="1A20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02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Matías (≈0:30)
Buenas, somos el Grupo 11: Lautaro, Luciano y yo, Matías. Nuestro proyecto es un asistente para evaluar técnicamente pedidos de cartelería comercial (neón LED, corpórea y retroiluminada) y proponer rediseños.
Hoy no vamos a contar tanto el dominio sino cómo lo modelamos paso a paso: adquisición con el experto, red semántica, marcos, reglas, la lógica difusa como próximo paso y la implementación en Neo4j, con una demo en vivo.
Luciano, además de integrante, es la fuente experta: fabrica cartelería (Lux 3D). Cada uno de nosotros modeló un submódulo y lo que vamos a mostrar es el modelo integrado en un solo grafo.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(≈1:30)
Lo que hacemos en el taller: llega un pedido de un cartel a medida y antes de fabricar hay que decidir tres cosas. Si la información alcanza, si lo que se pide va a funcionar y durar en ese lugar, y si se puede fabricar con lo que tenemos.
Ese criterio no está escrito; se aprende con trabajos anteriores y con errores en obra. Ejemplos reales de los que sacamos reglas:
- Un logo cursivo con canales de 4 mm: la tira de neón mide 6 mm, físicamente no entra.
- Un cartel circular de 50 cm: la impresora 3D tiene cama de 40 × 40, no sale en una pieza.
- Un cartel exterior en PLA: se deforma con el sol; para exterior se usa PETG.
- Y del lado del cliente: «para poner en la pared» no dice si es adentro o afuera; un fabricante no lo supone, pregunta.
Por eso el sistema no reemplaza al fabricante: lo asiste con información estructurada, inferencias, alertas y explicaciones. El LLM solo interpreta el pedido en lenguaje natural y redacta la explicación; la decisión sale de las reglas y la toma el fabricante.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Matías (≈1:30)
El objetivo general es uno solo: asistir en la evaluación técnica. Lo dividimos en tres problemas expertos distintos, no en tecnologías:
- Interpretación (yo): convierte un pedido ambiguo en una ficha técnica confiable. Tarea: interpretación. Su regla de oro es no inventar datos.
- Materiales e instalación (Lautaro): con la ficha decide si material, componentes, soporte y fijación sirven para ese entorno. Tarea: evaluación; sale un dictamen apto / apto con condiciones / no apto.
- Manufacturabilidad y rediseño (Luciano): decide si se puede fabricar con la impresora 3D y, si no, qué alternativa respeta al cliente. Tarea: recomendación.
El flujo va de izquierda a derecha, pero tiene retornos: Lautaro puede pedir un dato que falta y Luciano puede devolver el caso si ninguna alternativa respeta las restricciones del cliente. En los dos casos el que habla con el cliente es Interpretación, mediante una Aclaración. Eso ya está modelado en el grafo.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Matías (≈1:30)
Elegimos dos casos que recorren los tres submódulos; los pedidos salen de mi PI2 y se continúan con las reglas de Lautaro y Luciano.
CU1, Café Andino: el cliente no sabe de técnica. «Neón» puede ser vidrio o aspecto neón, «la pared» no dice si es adentro o afuera, «un metro» puede ser el cartel o el espacio. Son tres ambigüedades y además falta el soporte. Lo interesante: ¿el soporte faltante bloquea? Yo no lo puedo decidir: le pregunto al submódulo de Lautaro, y su regla R-MI-01 dice que sin soporte no se evalúa. Entonces el pedido NO avanza. Cuando el cliente responde (esa respuesta es un dato de prueba simulado, lo aclaramos), el cartel resulta apto por ser interior, y Luciano detecta que 1 metro no entra en la cama de 40 cm: recomienda segmentar y reforzar.
CU2, letras corpóreas: el texto dice «con luz» y la foto no tiene luz; no elijo, pregunto. «Sí o sí» es restricción obligatoria; «si se puede» es preferencia. Con la ficha FR-02, Lautaro da apto con condiciones por ser exterior expuesto; Luciano elige PETG por exterior y segmenta letra por letra.
Además usamos los tres casos de Luciano para probar el filtro por restricciones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Lautaro (≈1:00)
La metodología fue en capas, siguiendo las entregas:
1. Adquisición (PI1): cada uno hizo el análisis de la tarea experta con Luciano como fuente — diagrama de procesos, casos típicos y límite, excepciones y reglas candidatas. (Los diagramas de cada uno están en el anexo A.)
2 y 3. En PI2 cada uno pasó eso a una red semántica y a frames con reglas (redes individuales en el anexo B).
4. Para hoy integramos: unificamos nombres, armamos una sola red y una sola jerarquía de frames.
5. Lo llevamos a Neo4j: esquema, instancias y las reglas como consultas Cypher.
6. La lógica difusa queda para PI3: identificamos las variables pero no inventamos funciones de pertenencia.
Dos criterios que respetamos todo el tiempo: cada regla dice de dónde sale (experto, propuesta nuestra o documento) y lo que no está relevado queda marcado como PENDIENTE. Aclaro que mi PI2 no está; mi submódulo se modeló con mi PI1 (conceptos de la sección 10 y reglas R-MI-01 a R-MI-11) y está marcado así en el grafo.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Lautaro (≈1:30)
Esta es la red integrada, generada directamente desde Neo4j. Los colores son los submódulos: azul Interpretación, verde Materiales, naranja Manufacturabilidad, violeta lo compartido.
Cómo se construyó: juntamos las tres redes y buscamos solapamientos. Ejemplos:
- Luciano decía «Diseño», yo «Cartel» o «configuración propuesta»: quedó Cartel, con Diseño como sinónimo.
- Lo que yo llamaba «restricción detectada con su causa» es lo mismo que el Conflicto de Luciano: un solo nodo, con un atributo origen (instalación o manufactura).
- Luciano usaba «Soporte» como sinónimo de sistema de fijación, y para mí Soporte es la pared: separamos los dos.
Reglas de diseño: relaciones con verbo y dirección; separar el límite (por ejemplo 6 mm o 400 mm) del hallazgo (el conflicto); lo que comparten dos submódulos es un nodo compartido (la ficha, el cartel, el conflicto); y toda relación creada por una regla guarda qué regla la creó.
En Neo4j quedaron 55 frames, 66 relaciones de esquema y 38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Lautaro (≈1:00)
La transformación red → marcos fue sistemática: cada concepto de la red pasa a ser un frame; sus atributos, slots; las restricciones de cada atributo (tipo, valores permitidos, valor por defecto, cardinalidad) son facetas; y los procedimientos asociados, demonios.
Las relaciones es_un pasan a herencia: por ejemplo DatoFaltante, DatoAmbiguo y DatoConfirmado heredan de Dato, y las alternativas de rediseño (segmentación, cambio de fijación, de tecnología...) heredan de AlternativaRediseño. El árbol completo, generado desde Neo4j, está en el anexo C.
En Neo4j cada frame es un nodo :Frame, los slots son nodos :Slot con las facetas como propiedades, y las instancias llevan varias etiquetas (por ejemplo :Dato:DatoFaltante), así un cambio de estado es un cambio de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Lautaro (≈1:30)
Un frame completo con slots y facetas. Elegimos DatoFaltante porque muestra herencia y demonios a la vez.
El slot propio es criticidad: puede ser bloqueante, postergable o sin clasificar, y el valor por defecto es sin clasificar porque el criterio todavía no está relevado con el experto. Su demonio si_agregado crea automáticamente la Aclaración para el cliente y, si la importancia del dato depende de otro submódulo, una Consulta.
El resto de los slots los hereda de Dato: atributo, categoría, valor, origen y estado. Fíjense la faceta del slot origen: solo admite «cliente» o «respuesta a aclaración»; no admite «supuesto». Esa faceta implementa la regla de no inventar datos.
En el caso CU1, la instancia D4 es el soporte que falta. Su criticidad la decide la regla R-MI-01 de mi submódulo: bloqueante. Cuando el cliente responde, D4 cambia de etiqueta a DatoConfirmado: en Neo4j es literalmente un REMOVE y un SET de etiqueta. Esta tabla sale de una consulta (paso 17 del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(≈1:00)
Tres reglas, una por submódulo, para mostrar el formato: condición, conclusión y origen.
- R-MI-01, de Lautaro: si falta entorno, soporte o dimensiones, no se evalúa y se pide el dato. Es conocimiento mío como experto, relevado en su PI1.
- MAN-R3, mía: si la pieza mide más de 400 mm no entra en la cama de la impresora; se genera el conflicto ExcedeCama y las alternativas segmentar y reforzar. El 400 sale de la ficha técnica: es documental.
- INT-R11, de Matías: el pedido pasa a evaluación solo cuando todo lo requerido está confirmado. Es una regla propuesta por nosotros, todavía pendiente de validar conmigo en sesiones de pensamiento en voz alta.
El gráfico muestra las 38 reglas del modelo por origen. Diferenciamos lo que es conocimiento adquirido del experto de lo que propusimos nosotros, como pidió la cátedra.
Y la trazabilidad está en el grafo: cada regla es un nodo que apunta a los slots que usa, y cada relación que una regla crea lleva el nombre de esa regla.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(≈1:00)
La lógica difusa es opcional en esta actividad y la presentamos como próximo paso, sin inventar números.
Donde aparece incertidumbre ya está identificado. Por ejemplo, la exposición ambiental: yo no decido «exterior = expuesto» de forma binaria; un frente al norte sin alero está más expuesto que uno bajo una marquesina. Lautaro lo modeló como baja, media o alta. Los triángulos son solo la forma: los rangos y funciones de pertenencia se van a definir conmigo en PI3.
Del lado de rediseño: flexibilidad estética del cliente (tolera un 5 % de cambio, duda con un 10 %, rechaza un 20 %), complejidad de fabricación, impacto estético, exceso de peso. Del lado de interpretación: ambigüedad, suficiencia, rigidez de una condición.
Cómo se combinaría con lo crisp: las reglas nítidas siguen decidiendo lo excluyente (un canal de 4 mm no aloja una tira de 6 mm), y lo difuso sirve para ordenar alternativas viables y graduar el dictamen. La regla de ejemplo es solo la forma, propuesta y sin validar. Hoy esas variables están en el grafo como valores crisp.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(≈1:00)
Así quedó en Neo4j, versión 5.21 en Docker, la que recomienda la cátedra. Son cuatro scripts idempotentes (todo con MERGE): esquema con constraints, modelo (red + frames + reglas), instancias de los casos, y consultas.
La imagen es el caso CU2 instanciado, generado desde la base. Arriba la parte de Matías: pedido, contradicción resuelta, restricción de plazo obligatoria, preferencia de colores y la ficha FR-02. En el medio, Lautaro: el cartel, su entorno exterior con exposición alta, y el dictamen apto con condiciones con sus dos conflictos de instalación y la verificación estructural a confirmar. Abajo, lo mío: los 3000 mm violan la restricción de 400 mm de la impresora, se genera ExcedeCama, y las alternativas segmentación y refuerzo conforman la recomendación. También se ve que el material pasa a PETG por ser exterior.
Cada relación creada por una regla tiene la regla entre corchetes. En números: 55 frames, 105 slots, 38 reglas, 122 instancias.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(≈1:00)
Una consulta que demuestra el funcionamiento: qué alternativas admite o rechaza cada restricción del cliente. Es corta: busca las relaciones ADMITE o RECHAZA entre una restricción y una alternativa, y devuelve qué regla las creó.
Esas relaciones no están cargadas a mano: las crean las reglas, que también son Cypher. Abajo, el extracto de MAN-R6: si el cliente exige fidelidad alta al logo y hay un conflicto de trazo fino, rechaza engrosar el trazo y admite pasar a retroiluminado. Es exactamente mi criterio del PI1: la identidad visual del cliente es prioritaria.
El resultado real: en L-C1 se rechaza engrosar y se admite retroiluminar; en L-C3, como el cliente no quiere perforar, se rechaza la fijación de mayor capacidad y se admite reducir el relleno interno, que baja el peso sin cambiar la apariencia; en L-C2 el tamaño fijo admite segmentar. Si todas quedaran rechazadas, MAN-R8 marca el conflicto como inviable y vuelve a Interpretación para renegociar con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Matías (≈2:00) — compartir pantalla con la terminal y el Browser.
Comando: bash neo4j/demo.sh. Recarga la base al estado inicial de los casos y ejecuta los pasos de a uno.
1. Pregunto por qué P-01 no puede evaluarse: falta D4 (soporte), la aclaración A4 está pendiente y la consulta Q1 a Materiales sin responder.
2. Materiales responde Q1 con su regla R-MI-01: bloqueante. Remarcar: la criticidad la decide el dueño del conocimiento, no el intérprete.
3. (Paso silencioso: llega la respuesta simulada del cliente.) Corre INT-R11: ahora sí, P-01 listo y se crea la ficha FR-01.
4. Se aplican las reglas de Materiales y Manufacturabilidad. Recorrido de CU1: apto, 1000 &gt; 400, segmentar y reforzar. Recorrido de CU2: apto con condiciones, PETG, letra por letra, advertencias de plazo y de verificación estructural.
5. Filtro admite/rechaza y la traza de CU2: reglas en orden, con su origen.
Si sobra tiempo, en el Browser: MATCH (n:Instancia {caso:'CU2'})-[r]-(m:Instancia) RETURN n,r,m.
Si falla la conexión: video de respaldo (salida/guion_demo.md).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Luciano (≈1:00)
La cátedra dijo que respondiendo estas preguntas el proyecto queda listo para el integrador; las adaptamos a cartelería y marcamos qué está hecho y qué es dirección de trabajo.
- Grafo (hecho): las entidades mínimas son las de la red integrada. Un requerimiento del cliente se conecta con la recomendación así: la ficha preserva la restricción, la restricción condiciona el cartel, y admite o rechaza cada alternativa, que conforma la recomendación.
- Difusa (dirección de trabajo): un índice de adecuación con las variables candidatas, para ordenar alternativas; lo excluyente sigue en reglas nítidas.
- Planificador (parcial): el flujo ya está en el orden de las reglas. Lo que dispara revisión del experto: un conflicto inviable, un umbral pendiente como el de verificación estructural, o que el fabricante no acepte la recomendación.
- LLM (dirección de trabajo): hace las dos cosas, interpreta y explica, pero no asigna valores (lo impide INT-R09) ni decide. RAG sobre fichas técnicas y normas.
- APIs (propuesta): evaluar, responder aclaración y obtener explicación.
- Trazabilidad (hecho): el rastro está en el grafo como nodos Evaluación con las reglas activadas en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Lautaro (≈0:30) y cierra Matías.
Lautaro: Lo que queda pendiente está marcado en el grafo con [PENDIENTE] y lo podemos listar con una consulta. Lo principal: mi PI2, que va a reemplazar los frames derivados del PI1; los umbrales que no inventamos (grado IP, peso por soporte, cuándo pedir verificación estructural, la carga de la cinta bifaz); criterios como qué faltante es postergable o cómo elige la tecnología el rediseño; validar con Luciano las reglas que hoy son propuestas; y la lógica difusa en PI3.
Matías: Esto es la base de la PG1, la integración conceptual. Gracias, quedamos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en los 20 minutos; queda para responder preguntas.
Diagramas de procesos del PI1 de cada integrante: el punto de partida del modelado (qué mira el experto, en qué orden, qué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en los 20 minutos; queda para responder preguntas.
Redes conceptuales de los PI2 de Matías y de Luciano antes de integrar. Lautaro no tiene PI2.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en los 20 minutos; queda para responder preguntas.
Herencia ES_UN y composición ES_PARTE_DE tal como están en la base: MATCH p=(:Frame)-[:ES_UN|ES_PARTE_DE]-&gt;(:Frame) RETURN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en los 20 minutos; queda para responder preguntas.
Grafo del caso CU1 al final de la ejecución: pedido incompleto → consulta a Materiales → respuesta (dato de prueba simulado) → ficha → dictamen apto → ExcedeCama → segmentación + refuerzo.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en los 20 minutos; queda para responder preguntas.
Casos del PI2 de Luciano: la restricción obligatoria del cliente rechaza una alternativa y admite la otra (MAN-R6, MAN-R9).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rtlCol="0"/>
          <a:lstStyle>
            <a:lvl1pPr indent="0" marL="0">
              <a:buNone/>
              <a:defRPr lang="en-US" sz="3000" b="1" dirty="0">
                <a:solidFill>
                  <a:srgbClr val="1A202C"/>
                </a:solidFill>
              </a:defRPr>
            </a:lvl1pPr>
          </a:lstStyle>
          <a:p>
            <a:pPr indent="0" marL="0">
              <a:buNone/>
            </a:pPr>
            <a:endParaRPr lang="en-US" sz="3000" dirty="0"/>
          </a:p>
        </p:txBody>
      </p:sp>
      <p:sp>
        <p:nvSpPr>
          <p:cNvPr id="3" name="Text 0"/>
          <p:cNvSpPr/>
          <p:nvPr/>
        </p:nvSpPr>
        <p:spPr>
          <a:xfrm>
            <a:off x="502920" y="6428232"/>
            <a:ext cx="8229600" cy="274320"/>
          </a:xfrm>
          <a:prstGeom prst="rect">
            <a:avLst/>
          </a:prstGeom>
          <a:noFill/>
          <a:ln/>
        </p:spPr>
        <p:txBody>
          <a:bodyPr wrap="square" lIns="0" tIns="0" rIns="0" bIns="0" rtlCol="0" anchor="ctr"/>
          <a:lstStyle/>
          <a:p>
            <a:pPr indent="0" marL="0">
              <a:buNone/>
            </a:pPr>
            <a:r>
              <a:rPr lang="en-US" sz="1000" dirty="0">
                <a:solidFill>
                  <a:srgbClr val="8A94A6"/>
                </a:solidFill>
              </a:rPr>
              <a:t>Grupo 11 · UTN FRM 5K9 · Actividad de modelado · 5/10/2026</a:t>
            </a:r>
            <a:endParaRPr lang="en-US" sz="10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rgbClr val="1418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10058400" cy="365760"/>
          </a:xfrm>
          <a:prstGeom prst="rect">
            <a:avLst/>
          </a:prstGeom>
          <a:noFill/>
          <a:ln/>
        </p:spPr>
        <p:txBody>
          <a:bodyPr wrap="square" lIns="0" tIns="0" rIns="0" bIns="0" rtlCol="0" anchor="ctr"/>
          <a:lstStyle/>
          <a:p>
            <a:pPr indent="0" marL="0">
              <a:buNone/>
            </a:pPr>
            <a:r>
              <a:rPr lang="en-US" sz="1400" b="1" spc="200" kern="0" dirty="0">
                <a:solidFill>
                  <a:srgbClr val="22D3EE"/>
                </a:solidFill>
              </a:rPr>
              <a:t>ACTIVIDAD DE MODELADO · AVANCE DEL PROYECTO</a:t>
            </a:r>
            <a:endParaRPr lang="en-US" sz="1400" dirty="0"/>
          </a:p>
        </p:txBody>
      </p:sp>
      <p:sp>
        <p:nvSpPr>
          <p:cNvPr id="3" name="Text 1"/>
          <p:cNvSpPr txBox="1"/>
          <p:nvPr/>
        </p:nvSpPr>
        <p:spPr>
          <a:xfrm>
            <a:off x="731520" y="1554480"/>
            <a:ext cx="9875520" cy="1737360"/>
          </a:xfrm>
          <a:prstGeom prst="rect">
            <a:avLst/>
          </a:prstGeom>
          <a:noFill/>
          <a:ln/>
        </p:spPr>
        <p:txBody>
          <a:bodyPr wrap="square" lIns="0" tIns="0" rIns="0" bIns="0" rtlCol="0" anchor="t"/>
          <a:lstStyle/>
          <a:p>
            <a:pPr indent="0" marL="0">
              <a:buNone/>
            </a:pPr>
            <a:r>
              <a:rPr lang="en-US" sz="4000" b="1" dirty="0">
                <a:solidFill>
                  <a:srgbClr val="FFFFFF"/>
                </a:solidFill>
              </a:rPr>
              <a:t>Asistente Inteligente para Evaluación Técnica y Rediseño de Cartelería Comercial</a:t>
            </a:r>
            <a:endParaRPr lang="en-US" sz="4000" dirty="0"/>
          </a:p>
        </p:txBody>
      </p:sp>
      <p:sp>
        <p:nvSpPr>
          <p:cNvPr id="4" name="Text 2"/>
          <p:cNvSpPr txBox="1"/>
          <p:nvPr/>
        </p:nvSpPr>
        <p:spPr>
          <a:xfrm>
            <a:off x="731520" y="3429000"/>
            <a:ext cx="9601200" cy="457200"/>
          </a:xfrm>
          <a:prstGeom prst="rect">
            <a:avLst/>
          </a:prstGeom>
          <a:noFill/>
          <a:ln/>
        </p:spPr>
        <p:txBody>
          <a:bodyPr wrap="square" lIns="0" tIns="0" rIns="0" bIns="0" rtlCol="0" anchor="ctr"/>
          <a:lstStyle/>
          <a:p>
            <a:pPr indent="0" marL="0">
              <a:buNone/>
            </a:pPr>
            <a:r>
              <a:rPr lang="en-US" sz="2000" i="1" dirty="0">
                <a:solidFill>
                  <a:srgbClr val="C9D1E0"/>
                </a:solidFill>
              </a:rPr>
              <a:t>Neón LED · corpórea · retroiluminada — de la red semántica a Neo4j</a:t>
            </a:r>
            <a:endParaRPr lang="en-US" sz="2000" dirty="0"/>
          </a:p>
        </p:txBody>
      </p:sp>
      <p:sp>
        <p:nvSpPr>
          <p:cNvPr id="5" name="Shape 3"/>
          <p:cNvSpPr/>
          <p:nvPr/>
        </p:nvSpPr>
        <p:spPr>
          <a:xfrm>
            <a:off x="731520" y="4434840"/>
            <a:ext cx="3291840" cy="82296"/>
          </a:xfrm>
          <a:prstGeom prst="roundRect">
            <a:avLst>
              <a:gd name="adj" fmla="val 50000"/>
            </a:avLst>
          </a:prstGeom>
          <a:solidFill>
            <a:srgbClr val="2B6CB0"/>
          </a:solidFill>
          <a:ln w="12700">
            <a:solidFill>
              <a:srgbClr val="2B6CB0"/>
            </a:solidFill>
            <a:prstDash val="solid"/>
          </a:ln>
          <a:effectLst>
            <a:outerShdw sx="100000" sy="100000" kx="0" ky="0" algn="bl" rotWithShape="0" blurRad="101600" dist="50800" dir="5400000">
              <a:srgbClr val="2B6CB0">
                <a:alpha val="90000"/>
              </a:srgbClr>
            </a:outerShdw>
          </a:effectLst>
        </p:spPr>
      </p:sp>
      <p:sp>
        <p:nvSpPr>
          <p:cNvPr id="6" name="Text 4"/>
          <p:cNvSpPr txBox="1"/>
          <p:nvPr/>
        </p:nvSpPr>
        <p:spPr>
          <a:xfrm>
            <a:off x="731520" y="4617720"/>
            <a:ext cx="3291840" cy="365760"/>
          </a:xfrm>
          <a:prstGeom prst="rect">
            <a:avLst/>
          </a:prstGeom>
          <a:noFill/>
          <a:ln/>
        </p:spPr>
        <p:txBody>
          <a:bodyPr wrap="square" lIns="0" tIns="0" rIns="0" bIns="0" rtlCol="0" anchor="ctr"/>
          <a:lstStyle/>
          <a:p>
            <a:pPr indent="0" marL="0">
              <a:buNone/>
            </a:pPr>
            <a:r>
              <a:rPr lang="en-US" sz="1800" b="1" dirty="0">
                <a:solidFill>
                  <a:srgbClr val="FFFFFF"/>
                </a:solidFill>
              </a:rPr>
              <a:t>Matías Zarandon</a:t>
            </a:r>
            <a:endParaRPr lang="en-US" sz="1800" dirty="0"/>
          </a:p>
        </p:txBody>
      </p:sp>
      <p:sp>
        <p:nvSpPr>
          <p:cNvPr id="7" name="Text 5"/>
          <p:cNvSpPr txBox="1"/>
          <p:nvPr/>
        </p:nvSpPr>
        <p:spPr>
          <a:xfrm>
            <a:off x="731520" y="4983480"/>
            <a:ext cx="3291840" cy="320040"/>
          </a:xfrm>
          <a:prstGeom prst="rect">
            <a:avLst/>
          </a:prstGeom>
          <a:noFill/>
          <a:ln/>
        </p:spPr>
        <p:txBody>
          <a:bodyPr wrap="square" lIns="0" tIns="0" rIns="0" bIns="0" rtlCol="0" anchor="ctr"/>
          <a:lstStyle/>
          <a:p>
            <a:pPr indent="0" marL="0">
              <a:buNone/>
            </a:pPr>
            <a:r>
              <a:rPr lang="en-US" sz="1300" dirty="0">
                <a:solidFill>
                  <a:srgbClr val="AEB8CC"/>
                </a:solidFill>
              </a:rPr>
              <a:t>Interpretación de requerimientos</a:t>
            </a:r>
            <a:endParaRPr lang="en-US" sz="1300" dirty="0"/>
          </a:p>
        </p:txBody>
      </p:sp>
      <p:sp>
        <p:nvSpPr>
          <p:cNvPr id="8" name="Shape 6"/>
          <p:cNvSpPr/>
          <p:nvPr/>
        </p:nvSpPr>
        <p:spPr>
          <a:xfrm>
            <a:off x="4343400" y="4434840"/>
            <a:ext cx="3291840" cy="82296"/>
          </a:xfrm>
          <a:prstGeom prst="roundRect">
            <a:avLst>
              <a:gd name="adj" fmla="val 50000"/>
            </a:avLst>
          </a:prstGeom>
          <a:solidFill>
            <a:srgbClr val="2A9D8F"/>
          </a:solidFill>
          <a:ln w="12700">
            <a:solidFill>
              <a:srgbClr val="2A9D8F"/>
            </a:solidFill>
            <a:prstDash val="solid"/>
          </a:ln>
          <a:effectLst>
            <a:outerShdw sx="100000" sy="100000" kx="0" ky="0" algn="bl" rotWithShape="0" blurRad="101600" dist="50800" dir="5400000">
              <a:srgbClr val="2A9D8F">
                <a:alpha val="90000"/>
              </a:srgbClr>
            </a:outerShdw>
          </a:effectLst>
        </p:spPr>
      </p:sp>
      <p:sp>
        <p:nvSpPr>
          <p:cNvPr id="9" name="Text 7"/>
          <p:cNvSpPr txBox="1"/>
          <p:nvPr/>
        </p:nvSpPr>
        <p:spPr>
          <a:xfrm>
            <a:off x="4343400" y="4617720"/>
            <a:ext cx="3291840" cy="365760"/>
          </a:xfrm>
          <a:prstGeom prst="rect">
            <a:avLst/>
          </a:prstGeom>
          <a:noFill/>
          <a:ln/>
        </p:spPr>
        <p:txBody>
          <a:bodyPr wrap="square" lIns="0" tIns="0" rIns="0" bIns="0" rtlCol="0" anchor="ctr"/>
          <a:lstStyle/>
          <a:p>
            <a:pPr indent="0" marL="0">
              <a:buNone/>
            </a:pPr>
            <a:r>
              <a:rPr lang="en-US" sz="1800" b="1" dirty="0">
                <a:solidFill>
                  <a:srgbClr val="FFFFFF"/>
                </a:solidFill>
              </a:rPr>
              <a:t>Lautaro Quiros</a:t>
            </a:r>
            <a:endParaRPr lang="en-US" sz="1800" dirty="0"/>
          </a:p>
        </p:txBody>
      </p:sp>
      <p:sp>
        <p:nvSpPr>
          <p:cNvPr id="10" name="Text 8"/>
          <p:cNvSpPr txBox="1"/>
          <p:nvPr/>
        </p:nvSpPr>
        <p:spPr>
          <a:xfrm>
            <a:off x="4343400" y="4983480"/>
            <a:ext cx="3291840" cy="320040"/>
          </a:xfrm>
          <a:prstGeom prst="rect">
            <a:avLst/>
          </a:prstGeom>
          <a:noFill/>
          <a:ln/>
        </p:spPr>
        <p:txBody>
          <a:bodyPr wrap="square" lIns="0" tIns="0" rIns="0" bIns="0" rtlCol="0" anchor="ctr"/>
          <a:lstStyle/>
          <a:p>
            <a:pPr indent="0" marL="0">
              <a:buNone/>
            </a:pPr>
            <a:r>
              <a:rPr lang="en-US" sz="1300" dirty="0">
                <a:solidFill>
                  <a:srgbClr val="AEB8CC"/>
                </a:solidFill>
              </a:rPr>
              <a:t>Materiales e instalación</a:t>
            </a:r>
            <a:endParaRPr lang="en-US" sz="1300" dirty="0"/>
          </a:p>
        </p:txBody>
      </p:sp>
      <p:sp>
        <p:nvSpPr>
          <p:cNvPr id="11" name="Shape 9"/>
          <p:cNvSpPr/>
          <p:nvPr/>
        </p:nvSpPr>
        <p:spPr>
          <a:xfrm>
            <a:off x="7955280" y="4434840"/>
            <a:ext cx="3291840" cy="82296"/>
          </a:xfrm>
          <a:prstGeom prst="roundRect">
            <a:avLst>
              <a:gd name="adj" fmla="val 50000"/>
            </a:avLst>
          </a:prstGeom>
          <a:solidFill>
            <a:srgbClr val="D9480F"/>
          </a:solidFill>
          <a:ln w="12700">
            <a:solidFill>
              <a:srgbClr val="D9480F"/>
            </a:solidFill>
            <a:prstDash val="solid"/>
          </a:ln>
          <a:effectLst>
            <a:outerShdw sx="100000" sy="100000" kx="0" ky="0" algn="bl" rotWithShape="0" blurRad="101600" dist="50800" dir="5400000">
              <a:srgbClr val="D9480F">
                <a:alpha val="90000"/>
              </a:srgbClr>
            </a:outerShdw>
          </a:effectLst>
        </p:spPr>
      </p:sp>
      <p:sp>
        <p:nvSpPr>
          <p:cNvPr id="12" name="Text 10"/>
          <p:cNvSpPr txBox="1"/>
          <p:nvPr/>
        </p:nvSpPr>
        <p:spPr>
          <a:xfrm>
            <a:off x="7955280" y="4617720"/>
            <a:ext cx="3291840" cy="365760"/>
          </a:xfrm>
          <a:prstGeom prst="rect">
            <a:avLst/>
          </a:prstGeom>
          <a:noFill/>
          <a:ln/>
        </p:spPr>
        <p:txBody>
          <a:bodyPr wrap="square" lIns="0" tIns="0" rIns="0" bIns="0" rtlCol="0" anchor="ctr"/>
          <a:lstStyle/>
          <a:p>
            <a:pPr indent="0" marL="0">
              <a:buNone/>
            </a:pPr>
            <a:r>
              <a:rPr lang="en-US" sz="1800" b="1" dirty="0">
                <a:solidFill>
                  <a:srgbClr val="FFFFFF"/>
                </a:solidFill>
              </a:rPr>
              <a:t>Luciano Marquesini</a:t>
            </a:r>
            <a:endParaRPr lang="en-US" sz="1800" dirty="0"/>
          </a:p>
        </p:txBody>
      </p:sp>
      <p:sp>
        <p:nvSpPr>
          <p:cNvPr id="13" name="Text 11"/>
          <p:cNvSpPr txBox="1"/>
          <p:nvPr/>
        </p:nvSpPr>
        <p:spPr>
          <a:xfrm>
            <a:off x="7955280" y="4983480"/>
            <a:ext cx="3291840" cy="320040"/>
          </a:xfrm>
          <a:prstGeom prst="rect">
            <a:avLst/>
          </a:prstGeom>
          <a:noFill/>
          <a:ln/>
        </p:spPr>
        <p:txBody>
          <a:bodyPr wrap="square" lIns="0" tIns="0" rIns="0" bIns="0" rtlCol="0" anchor="ctr"/>
          <a:lstStyle/>
          <a:p>
            <a:pPr indent="0" marL="0">
              <a:buNone/>
            </a:pPr>
            <a:r>
              <a:rPr lang="en-US" sz="1300" dirty="0">
                <a:solidFill>
                  <a:srgbClr val="AEB8CC"/>
                </a:solidFill>
              </a:rPr>
              <a:t>Manufacturabilidad y rediseño · experto</a:t>
            </a:r>
            <a:endParaRPr lang="en-US" sz="1300" dirty="0"/>
          </a:p>
        </p:txBody>
      </p:sp>
      <p:sp>
        <p:nvSpPr>
          <p:cNvPr id="14" name="Text 12"/>
          <p:cNvSpPr txBox="1"/>
          <p:nvPr/>
        </p:nvSpPr>
        <p:spPr>
          <a:xfrm>
            <a:off x="731520" y="6035040"/>
            <a:ext cx="10789920" cy="320040"/>
          </a:xfrm>
          <a:prstGeom prst="rect">
            <a:avLst/>
          </a:prstGeom>
          <a:noFill/>
          <a:ln/>
        </p:spPr>
        <p:txBody>
          <a:bodyPr wrap="square" lIns="0" tIns="0" rIns="0" bIns="0" rtlCol="0" anchor="ctr"/>
          <a:lstStyle/>
          <a:p>
            <a:pPr indent="0" marL="0">
              <a:buNone/>
            </a:pPr>
            <a:r>
              <a:rPr lang="en-US" sz="1200" dirty="0">
                <a:solidFill>
                  <a:srgbClr val="8A94A6"/>
                </a:solidFill>
              </a:rPr>
              <a:t>Grupo 11 · 5K9 · UTN FRM · Inteligencia Artificial · Prof. Matilde Césari y María Eugenia Stefanoni · lunes 5/10/2026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Hoy la factibilidad se decide «a ojo» con experiencia no escrita</a:t>
            </a:r>
            <a:endParaRPr lang="en-US" sz="3000" dirty="0"/>
          </a:p>
        </p:txBody>
      </p:sp>
      <p:sp>
        <p:nvSpPr>
          <p:cNvPr id="3" name="Text 1"/>
          <p:cNvSpPr txBox="1"/>
          <p:nvPr/>
        </p:nvSpPr>
        <p:spPr>
          <a:xfrm>
            <a:off x="502920" y="1325880"/>
            <a:ext cx="5394960" cy="4206240"/>
          </a:xfrm>
          <a:prstGeom prst="rect">
            <a:avLst/>
          </a:prstGeom>
          <a:noFill/>
          <a:ln/>
        </p:spPr>
        <p:txBody>
          <a:bodyPr wrap="square" lIns="0" tIns="0" rIns="0" bIns="0" rtlCol="0" anchor="t"/>
          <a:lstStyle/>
          <a:p>
            <a:pPr indent="0" marL="0">
              <a:spcAft>
                <a:spcPts val="800"/>
              </a:spcAft>
              <a:buNone/>
            </a:pPr>
            <a:r>
              <a:rPr lang="en-US" sz="1800" b="1" dirty="0">
                <a:solidFill>
                  <a:srgbClr val="1A202C"/>
                </a:solidFill>
              </a:rPr>
              <a:t>El fabricante recibe un pedido a medida y tiene que decidir:</a:t>
            </a:r>
            <a:endParaRPr lang="en-US" sz="1800" dirty="0"/>
          </a:p>
          <a:p>
            <a:pPr marL="342900" indent="-342900">
              <a:spcAft>
                <a:spcPts val="800"/>
              </a:spcAft>
              <a:buSzPct val="100000"/>
              <a:buChar char="•"/>
            </a:pPr>
            <a:r>
              <a:rPr lang="en-US" sz="1800" dirty="0">
                <a:solidFill>
                  <a:srgbClr val="1A202C"/>
                </a:solidFill>
              </a:rPr>
              <a:t>¿alcanza la información para evaluarlo?</a:t>
            </a:r>
            <a:endParaRPr lang="en-US" sz="1800" dirty="0"/>
          </a:p>
          <a:p>
            <a:pPr marL="342900" indent="-342900">
              <a:spcAft>
                <a:spcPts val="800"/>
              </a:spcAft>
              <a:buSzPct val="100000"/>
              <a:buChar char="•"/>
            </a:pPr>
            <a:r>
              <a:rPr lang="en-US" sz="1800" dirty="0">
                <a:solidFill>
                  <a:srgbClr val="1A202C"/>
                </a:solidFill>
              </a:rPr>
              <a:t>¿va a funcionar y durar en ese lugar?</a:t>
            </a:r>
            <a:endParaRPr lang="en-US" sz="1800" dirty="0"/>
          </a:p>
          <a:p>
            <a:pPr marL="342900" indent="-342900">
              <a:spcAft>
                <a:spcPts val="800"/>
              </a:spcAft>
              <a:buSzPct val="100000"/>
              <a:buChar char="•"/>
            </a:pPr>
            <a:r>
              <a:rPr lang="en-US" sz="1800" dirty="0">
                <a:solidFill>
                  <a:srgbClr val="1A202C"/>
                </a:solidFill>
              </a:rPr>
              <a:t>¿se puede fabricar con lo que tiene el taller? Si no, ¿qué cambia?</a:t>
            </a:r>
            <a:endParaRPr lang="en-US" sz="1800" dirty="0"/>
          </a:p>
          <a:p>
            <a:pPr indent="0" marL="0">
              <a:spcAft>
                <a:spcPts val="800"/>
              </a:spcAft>
              <a:buNone/>
            </a:pPr>
            <a:r>
              <a:rPr lang="en-US" sz="800" dirty="0">
                <a:solidFill>
                  <a:srgbClr val="1A202C"/>
                </a:solidFill>
              </a:rPr>
              <a:t> </a:t>
            </a:r>
            <a:endParaRPr lang="en-US" sz="1800" dirty="0"/>
          </a:p>
          <a:p>
            <a:pPr indent="0" marL="0">
              <a:spcAft>
                <a:spcPts val="800"/>
              </a:spcAft>
              <a:buNone/>
            </a:pPr>
            <a:r>
              <a:rPr lang="en-US" sz="1800" b="1" dirty="0">
                <a:solidFill>
                  <a:srgbClr val="1A202C"/>
                </a:solidFill>
              </a:rPr>
              <a:t>El asistente estructura, infiere, alerta y explica.</a:t>
            </a:r>
            <a:endParaRPr lang="en-US" sz="1800" dirty="0"/>
          </a:p>
          <a:p>
            <a:pPr indent="0" marL="0">
              <a:spcAft>
                <a:spcPts val="800"/>
              </a:spcAft>
              <a:buNone/>
            </a:pPr>
            <a:r>
              <a:rPr lang="en-US" sz="1800" b="1" dirty="0">
                <a:solidFill>
                  <a:srgbClr val="FF2E88"/>
                </a:solidFill>
              </a:rPr>
              <a:t>Decide el fabricante. El LLM interpreta y explica; no decide.</a:t>
            </a:r>
            <a:endParaRPr lang="en-US" sz="1800" dirty="0"/>
          </a:p>
        </p:txBody>
      </p:sp>
      <p:sp>
        <p:nvSpPr>
          <p:cNvPr id="4" name="Shape 2"/>
          <p:cNvSpPr/>
          <p:nvPr/>
        </p:nvSpPr>
        <p:spPr>
          <a:xfrm>
            <a:off x="6309360" y="1325880"/>
            <a:ext cx="5349240" cy="1024128"/>
          </a:xfrm>
          <a:prstGeom prst="roundRect">
            <a:avLst>
              <a:gd name="adj" fmla="val 7143"/>
            </a:avLst>
          </a:prstGeom>
          <a:solidFill>
            <a:srgbClr val="F4F6FA"/>
          </a:solidFill>
          <a:ln w="15875">
            <a:solidFill>
              <a:srgbClr val="CBD5E0"/>
            </a:solidFill>
            <a:prstDash val="solid"/>
          </a:ln>
        </p:spPr>
      </p:sp>
      <p:sp>
        <p:nvSpPr>
          <p:cNvPr id="5" name="Text 3"/>
          <p:cNvSpPr txBox="1"/>
          <p:nvPr/>
        </p:nvSpPr>
        <p:spPr>
          <a:xfrm>
            <a:off x="6537960" y="1435608"/>
            <a:ext cx="2377440" cy="804672"/>
          </a:xfrm>
          <a:prstGeom prst="rect">
            <a:avLst/>
          </a:prstGeom>
          <a:noFill/>
          <a:ln/>
        </p:spPr>
        <p:txBody>
          <a:bodyPr wrap="square" lIns="0" tIns="0" rIns="0" bIns="0" rtlCol="0" anchor="ctr"/>
          <a:lstStyle/>
          <a:p>
            <a:pPr indent="0" marL="0">
              <a:buNone/>
            </a:pPr>
            <a:r>
              <a:rPr lang="en-US" sz="2400" b="1" dirty="0">
                <a:solidFill>
                  <a:srgbClr val="D9480F"/>
                </a:solidFill>
              </a:rPr>
              <a:t>4 mm &lt; 6 mm</a:t>
            </a:r>
            <a:endParaRPr lang="en-US" sz="2400" dirty="0"/>
          </a:p>
        </p:txBody>
      </p:sp>
      <p:sp>
        <p:nvSpPr>
          <p:cNvPr id="6" name="Text 4"/>
          <p:cNvSpPr txBox="1"/>
          <p:nvPr/>
        </p:nvSpPr>
        <p:spPr>
          <a:xfrm>
            <a:off x="9006840" y="1435608"/>
            <a:ext cx="2514600" cy="804672"/>
          </a:xfrm>
          <a:prstGeom prst="rect">
            <a:avLst/>
          </a:prstGeom>
          <a:noFill/>
          <a:ln/>
        </p:spPr>
        <p:txBody>
          <a:bodyPr wrap="square" lIns="0" tIns="0" rIns="0" bIns="0" rtlCol="0" anchor="ctr"/>
          <a:lstStyle/>
          <a:p>
            <a:pPr indent="0" marL="0">
              <a:buNone/>
            </a:pPr>
            <a:r>
              <a:rPr lang="en-US" sz="1400" dirty="0">
                <a:solidFill>
                  <a:srgbClr val="5A6578"/>
                </a:solidFill>
              </a:rPr>
              <a:t>El trazo del logo no aloja la tira de neón</a:t>
            </a:r>
            <a:endParaRPr lang="en-US" sz="1400" dirty="0"/>
          </a:p>
        </p:txBody>
      </p:sp>
      <p:sp>
        <p:nvSpPr>
          <p:cNvPr id="7" name="Shape 5"/>
          <p:cNvSpPr/>
          <p:nvPr/>
        </p:nvSpPr>
        <p:spPr>
          <a:xfrm>
            <a:off x="6309360" y="2532888"/>
            <a:ext cx="5349240" cy="1024128"/>
          </a:xfrm>
          <a:prstGeom prst="roundRect">
            <a:avLst>
              <a:gd name="adj" fmla="val 7143"/>
            </a:avLst>
          </a:prstGeom>
          <a:solidFill>
            <a:srgbClr val="F4F6FA"/>
          </a:solidFill>
          <a:ln w="15875">
            <a:solidFill>
              <a:srgbClr val="CBD5E0"/>
            </a:solidFill>
            <a:prstDash val="solid"/>
          </a:ln>
        </p:spPr>
      </p:sp>
      <p:sp>
        <p:nvSpPr>
          <p:cNvPr id="8" name="Text 6"/>
          <p:cNvSpPr txBox="1"/>
          <p:nvPr/>
        </p:nvSpPr>
        <p:spPr>
          <a:xfrm>
            <a:off x="6537960" y="2642616"/>
            <a:ext cx="2377440" cy="804672"/>
          </a:xfrm>
          <a:prstGeom prst="rect">
            <a:avLst/>
          </a:prstGeom>
          <a:noFill/>
          <a:ln/>
        </p:spPr>
        <p:txBody>
          <a:bodyPr wrap="square" lIns="0" tIns="0" rIns="0" bIns="0" rtlCol="0" anchor="ctr"/>
          <a:lstStyle/>
          <a:p>
            <a:pPr indent="0" marL="0">
              <a:buNone/>
            </a:pPr>
            <a:r>
              <a:rPr lang="en-US" sz="2400" b="1" dirty="0">
                <a:solidFill>
                  <a:srgbClr val="D9480F"/>
                </a:solidFill>
              </a:rPr>
              <a:t>500 mm &gt; 400 mm</a:t>
            </a:r>
            <a:endParaRPr lang="en-US" sz="2400" dirty="0"/>
          </a:p>
        </p:txBody>
      </p:sp>
      <p:sp>
        <p:nvSpPr>
          <p:cNvPr id="9" name="Text 7"/>
          <p:cNvSpPr txBox="1"/>
          <p:nvPr/>
        </p:nvSpPr>
        <p:spPr>
          <a:xfrm>
            <a:off x="9006840" y="2642616"/>
            <a:ext cx="2514600" cy="804672"/>
          </a:xfrm>
          <a:prstGeom prst="rect">
            <a:avLst/>
          </a:prstGeom>
          <a:noFill/>
          <a:ln/>
        </p:spPr>
        <p:txBody>
          <a:bodyPr wrap="square" lIns="0" tIns="0" rIns="0" bIns="0" rtlCol="0" anchor="ctr"/>
          <a:lstStyle/>
          <a:p>
            <a:pPr indent="0" marL="0">
              <a:buNone/>
            </a:pPr>
            <a:r>
              <a:rPr lang="en-US" sz="1400" dirty="0">
                <a:solidFill>
                  <a:srgbClr val="5A6578"/>
                </a:solidFill>
              </a:rPr>
              <a:t>El cartel no entra en la cama de la impresora</a:t>
            </a:r>
            <a:endParaRPr lang="en-US" sz="1400" dirty="0"/>
          </a:p>
        </p:txBody>
      </p:sp>
      <p:sp>
        <p:nvSpPr>
          <p:cNvPr id="10" name="Shape 8"/>
          <p:cNvSpPr/>
          <p:nvPr/>
        </p:nvSpPr>
        <p:spPr>
          <a:xfrm>
            <a:off x="6309360" y="3739896"/>
            <a:ext cx="5349240" cy="1024128"/>
          </a:xfrm>
          <a:prstGeom prst="roundRect">
            <a:avLst>
              <a:gd name="adj" fmla="val 7143"/>
            </a:avLst>
          </a:prstGeom>
          <a:solidFill>
            <a:srgbClr val="F4F6FA"/>
          </a:solidFill>
          <a:ln w="15875">
            <a:solidFill>
              <a:srgbClr val="CBD5E0"/>
            </a:solidFill>
            <a:prstDash val="solid"/>
          </a:ln>
        </p:spPr>
      </p:sp>
      <p:sp>
        <p:nvSpPr>
          <p:cNvPr id="11" name="Text 9"/>
          <p:cNvSpPr txBox="1"/>
          <p:nvPr/>
        </p:nvSpPr>
        <p:spPr>
          <a:xfrm>
            <a:off x="6537960" y="3849624"/>
            <a:ext cx="2377440" cy="804672"/>
          </a:xfrm>
          <a:prstGeom prst="rect">
            <a:avLst/>
          </a:prstGeom>
          <a:noFill/>
          <a:ln/>
        </p:spPr>
        <p:txBody>
          <a:bodyPr wrap="square" lIns="0" tIns="0" rIns="0" bIns="0" rtlCol="0" anchor="ctr"/>
          <a:lstStyle/>
          <a:p>
            <a:pPr indent="0" marL="0">
              <a:buNone/>
            </a:pPr>
            <a:r>
              <a:rPr lang="en-US" sz="2400" b="1" dirty="0">
                <a:solidFill>
                  <a:srgbClr val="2A9D8F"/>
                </a:solidFill>
              </a:rPr>
              <a:t>Exterior + PLA</a:t>
            </a:r>
            <a:endParaRPr lang="en-US" sz="2400" dirty="0"/>
          </a:p>
        </p:txBody>
      </p:sp>
      <p:sp>
        <p:nvSpPr>
          <p:cNvPr id="12" name="Text 10"/>
          <p:cNvSpPr txBox="1"/>
          <p:nvPr/>
        </p:nvSpPr>
        <p:spPr>
          <a:xfrm>
            <a:off x="9006840" y="3849624"/>
            <a:ext cx="2514600" cy="804672"/>
          </a:xfrm>
          <a:prstGeom prst="rect">
            <a:avLst/>
          </a:prstGeom>
          <a:noFill/>
          <a:ln/>
        </p:spPr>
        <p:txBody>
          <a:bodyPr wrap="square" lIns="0" tIns="0" rIns="0" bIns="0" rtlCol="0" anchor="ctr"/>
          <a:lstStyle/>
          <a:p>
            <a:pPr indent="0" marL="0">
              <a:buNone/>
            </a:pPr>
            <a:r>
              <a:rPr lang="en-US" sz="1400" dirty="0">
                <a:solidFill>
                  <a:srgbClr val="5A6578"/>
                </a:solidFill>
              </a:rPr>
              <a:t>Se deforma al sol: hay que pasar a PETG</a:t>
            </a:r>
            <a:endParaRPr lang="en-US" sz="1400" dirty="0"/>
          </a:p>
        </p:txBody>
      </p:sp>
      <p:sp>
        <p:nvSpPr>
          <p:cNvPr id="13" name="Shape 11"/>
          <p:cNvSpPr/>
          <p:nvPr/>
        </p:nvSpPr>
        <p:spPr>
          <a:xfrm>
            <a:off x="6309360" y="4946904"/>
            <a:ext cx="5349240" cy="1024128"/>
          </a:xfrm>
          <a:prstGeom prst="roundRect">
            <a:avLst>
              <a:gd name="adj" fmla="val 7143"/>
            </a:avLst>
          </a:prstGeom>
          <a:solidFill>
            <a:srgbClr val="F4F6FA"/>
          </a:solidFill>
          <a:ln w="15875">
            <a:solidFill>
              <a:srgbClr val="CBD5E0"/>
            </a:solidFill>
            <a:prstDash val="solid"/>
          </a:ln>
        </p:spPr>
      </p:sp>
      <p:sp>
        <p:nvSpPr>
          <p:cNvPr id="14" name="Text 12"/>
          <p:cNvSpPr txBox="1"/>
          <p:nvPr/>
        </p:nvSpPr>
        <p:spPr>
          <a:xfrm>
            <a:off x="6537960" y="5056632"/>
            <a:ext cx="2377440" cy="804672"/>
          </a:xfrm>
          <a:prstGeom prst="rect">
            <a:avLst/>
          </a:prstGeom>
          <a:noFill/>
          <a:ln/>
        </p:spPr>
        <p:txBody>
          <a:bodyPr wrap="square" lIns="0" tIns="0" rIns="0" bIns="0" rtlCol="0" anchor="ctr"/>
          <a:lstStyle/>
          <a:p>
            <a:pPr indent="0" marL="0">
              <a:buNone/>
            </a:pPr>
            <a:r>
              <a:rPr lang="en-US" sz="2400" b="1" dirty="0">
                <a:solidFill>
                  <a:srgbClr val="2B6CB0"/>
                </a:solidFill>
              </a:rPr>
              <a:t>«para la pared»</a:t>
            </a:r>
            <a:endParaRPr lang="en-US" sz="2400" dirty="0"/>
          </a:p>
        </p:txBody>
      </p:sp>
      <p:sp>
        <p:nvSpPr>
          <p:cNvPr id="15" name="Text 13"/>
          <p:cNvSpPr txBox="1"/>
          <p:nvPr/>
        </p:nvSpPr>
        <p:spPr>
          <a:xfrm>
            <a:off x="9006840" y="5056632"/>
            <a:ext cx="2514600" cy="804672"/>
          </a:xfrm>
          <a:prstGeom prst="rect">
            <a:avLst/>
          </a:prstGeom>
          <a:noFill/>
          <a:ln/>
        </p:spPr>
        <p:txBody>
          <a:bodyPr wrap="square" lIns="0" tIns="0" rIns="0" bIns="0" rtlCol="0" anchor="ctr"/>
          <a:lstStyle/>
          <a:p>
            <a:pPr indent="0" marL="0">
              <a:buNone/>
            </a:pPr>
            <a:r>
              <a:rPr lang="en-US" sz="1400" dirty="0">
                <a:solidFill>
                  <a:srgbClr val="5A6578"/>
                </a:solidFill>
              </a:rPr>
              <a:t>¿Interior o exterior? Si no se sabe, se pregunta</a:t>
            </a:r>
            <a:endParaRPr lang="en-US" sz="1400" dirty="0"/>
          </a:p>
        </p:txBody>
      </p:sp>
      <p:sp>
        <p:nvSpPr>
          <p:cNvPr id="16" name="Text 14"/>
          <p:cNvSpPr txBox="1"/>
          <p:nvPr/>
        </p:nvSpPr>
        <p:spPr>
          <a:xfrm>
            <a:off x="6309360" y="6144768"/>
            <a:ext cx="5349240" cy="228600"/>
          </a:xfrm>
          <a:prstGeom prst="rect">
            <a:avLst/>
          </a:prstGeom>
          <a:noFill/>
          <a:ln/>
        </p:spPr>
        <p:txBody>
          <a:bodyPr wrap="square" lIns="0" tIns="0" rIns="0" bIns="0" rtlCol="0" anchor="ctr"/>
          <a:lstStyle/>
          <a:p>
            <a:pPr indent="0" marL="0">
              <a:buNone/>
            </a:pPr>
            <a:r>
              <a:rPr lang="en-US" sz="1000" i="1" dirty="0">
                <a:solidFill>
                  <a:srgbClr val="8A94A6"/>
                </a:solidFill>
              </a:rPr>
              <a:t>Casos reales del experto (PI1/PI2 de Luciano y Lautaro, PI2 de Matías)</a:t>
            </a:r>
            <a:endParaRPr lang="en-US" sz="10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Un objetivo, tres submódulos, un solo modelo</a:t>
            </a:r>
            <a:endParaRPr lang="en-US" sz="3000" dirty="0"/>
          </a:p>
        </p:txBody>
      </p:sp>
      <p:sp>
        <p:nvSpPr>
          <p:cNvPr id="3" name="Text 1"/>
          <p:cNvSpPr txBox="1"/>
          <p:nvPr/>
        </p:nvSpPr>
        <p:spPr>
          <a:xfrm>
            <a:off x="502920" y="1143000"/>
            <a:ext cx="11155680" cy="685800"/>
          </a:xfrm>
          <a:prstGeom prst="rect">
            <a:avLst/>
          </a:prstGeom>
          <a:noFill/>
          <a:ln/>
        </p:spPr>
        <p:txBody>
          <a:bodyPr wrap="square" lIns="0" tIns="0" rIns="0" bIns="0" rtlCol="0" anchor="ctr"/>
          <a:lstStyle/>
          <a:p>
            <a:pPr indent="0" marL="0">
              <a:buNone/>
            </a:pPr>
            <a:r>
              <a:rPr lang="en-US" sz="1700" dirty="0">
                <a:solidFill>
                  <a:srgbClr val="5A6578"/>
                </a:solidFill>
              </a:rPr>
              <a:t>Objetivo: asistir al fabricante en la evaluación técnica de una propuesta, detectando restricciones e información faltante y recomendando alternativas justificadas.</a:t>
            </a:r>
            <a:endParaRPr lang="en-US" sz="1700" dirty="0"/>
          </a:p>
        </p:txBody>
      </p:sp>
      <p:sp>
        <p:nvSpPr>
          <p:cNvPr id="4" name="Shape 2"/>
          <p:cNvSpPr/>
          <p:nvPr/>
        </p:nvSpPr>
        <p:spPr>
          <a:xfrm>
            <a:off x="502920" y="2103120"/>
            <a:ext cx="3429000" cy="3017520"/>
          </a:xfrm>
          <a:prstGeom prst="roundRect">
            <a:avLst>
              <a:gd name="adj" fmla="val 2424"/>
            </a:avLst>
          </a:prstGeom>
          <a:solidFill>
            <a:srgbClr val="E3EEF9"/>
          </a:solidFill>
          <a:ln w="15875">
            <a:solidFill>
              <a:srgbClr val="2B6CB0"/>
            </a:solidFill>
            <a:prstDash val="solid"/>
          </a:ln>
        </p:spPr>
      </p:sp>
      <p:sp>
        <p:nvSpPr>
          <p:cNvPr id="5" name="Text 3"/>
          <p:cNvSpPr txBox="1"/>
          <p:nvPr/>
        </p:nvSpPr>
        <p:spPr>
          <a:xfrm>
            <a:off x="731520" y="2240280"/>
            <a:ext cx="3017520" cy="685800"/>
          </a:xfrm>
          <a:prstGeom prst="rect">
            <a:avLst/>
          </a:prstGeom>
          <a:noFill/>
          <a:ln/>
        </p:spPr>
        <p:txBody>
          <a:bodyPr wrap="square" lIns="0" tIns="0" rIns="0" bIns="0" rtlCol="0" anchor="ctr"/>
          <a:lstStyle/>
          <a:p>
            <a:pPr indent="0" marL="0">
              <a:buNone/>
            </a:pPr>
            <a:r>
              <a:rPr lang="en-US" sz="1900" b="1" dirty="0">
                <a:solidFill>
                  <a:srgbClr val="2B6CB0"/>
                </a:solidFill>
              </a:rPr>
              <a:t>Interpretación</a:t>
            </a:r>
            <a:endParaRPr lang="en-US" sz="1900" dirty="0"/>
          </a:p>
        </p:txBody>
      </p:sp>
      <p:sp>
        <p:nvSpPr>
          <p:cNvPr id="6" name="Text 4"/>
          <p:cNvSpPr txBox="1"/>
          <p:nvPr/>
        </p:nvSpPr>
        <p:spPr>
          <a:xfrm>
            <a:off x="731520" y="2907792"/>
            <a:ext cx="3017520" cy="320040"/>
          </a:xfrm>
          <a:prstGeom prst="rect">
            <a:avLst/>
          </a:prstGeom>
          <a:noFill/>
          <a:ln/>
        </p:spPr>
        <p:txBody>
          <a:bodyPr wrap="square" lIns="0" tIns="0" rIns="0" bIns="0" rtlCol="0" anchor="ctr"/>
          <a:lstStyle/>
          <a:p>
            <a:pPr indent="0" marL="0">
              <a:buNone/>
            </a:pPr>
            <a:r>
              <a:rPr lang="en-US" sz="1400" dirty="0">
                <a:solidFill>
                  <a:srgbClr val="5A6578"/>
                </a:solidFill>
              </a:rPr>
              <a:t>Matías</a:t>
            </a:r>
            <a:endParaRPr lang="en-US" sz="1400" dirty="0"/>
          </a:p>
        </p:txBody>
      </p:sp>
      <p:sp>
        <p:nvSpPr>
          <p:cNvPr id="7" name="Text 5"/>
          <p:cNvSpPr txBox="1"/>
          <p:nvPr/>
        </p:nvSpPr>
        <p:spPr>
          <a:xfrm>
            <a:off x="731520" y="3337560"/>
            <a:ext cx="3017520" cy="1645920"/>
          </a:xfrm>
          <a:prstGeom prst="rect">
            <a:avLst/>
          </a:prstGeom>
          <a:noFill/>
          <a:ln/>
        </p:spPr>
        <p:txBody>
          <a:bodyPr wrap="square" lIns="0" tIns="0" rIns="0" bIns="0" rtlCol="0" anchor="t"/>
          <a:lstStyle/>
          <a:p>
            <a:pPr indent="0" marL="0">
              <a:spcAft>
                <a:spcPts val="600"/>
              </a:spcAft>
              <a:buNone/>
            </a:pPr>
            <a:r>
              <a:rPr lang="en-US" sz="1400" b="1" dirty="0">
                <a:solidFill>
                  <a:srgbClr val="1A202C"/>
                </a:solidFill>
              </a:rPr>
              <a:t>Tarea experta: </a:t>
            </a:r>
            <a:pPr indent="0" marL="0">
              <a:spcAft>
                <a:spcPts val="600"/>
              </a:spcAft>
              <a:buNone/>
            </a:pPr>
            <a:r>
              <a:rPr lang="en-US" sz="1400" dirty="0">
                <a:solidFill>
                  <a:srgbClr val="1A202C"/>
                </a:solidFill>
              </a:rPr>
              <a:t>Interpretación</a:t>
            </a:r>
            <a:endParaRPr lang="en-US" sz="1400" dirty="0"/>
          </a:p>
          <a:p>
            <a:pPr indent="0" marL="0">
              <a:spcAft>
                <a:spcPts val="600"/>
              </a:spcAft>
              <a:buNone/>
            </a:pPr>
            <a:r>
              <a:rPr lang="en-US" sz="1400" b="1" dirty="0">
                <a:solidFill>
                  <a:srgbClr val="1A202C"/>
                </a:solidFill>
              </a:rPr>
              <a:t>Entra: </a:t>
            </a:r>
            <a:pPr indent="0" marL="0">
              <a:spcAft>
                <a:spcPts val="600"/>
              </a:spcAft>
              <a:buNone/>
            </a:pPr>
            <a:r>
              <a:rPr lang="en-US" sz="1400" dirty="0">
                <a:solidFill>
                  <a:srgbClr val="1A202C"/>
                </a:solidFill>
              </a:rPr>
              <a:t>Pedido ambiguo</a:t>
            </a:r>
            <a:endParaRPr lang="en-US" sz="1400" dirty="0"/>
          </a:p>
          <a:p>
            <a:pPr indent="0" marL="0">
              <a:spcAft>
                <a:spcPts val="600"/>
              </a:spcAft>
              <a:buNone/>
            </a:pPr>
            <a:r>
              <a:rPr lang="en-US" sz="1400" b="1" dirty="0">
                <a:solidFill>
                  <a:srgbClr val="1A202C"/>
                </a:solidFill>
              </a:rPr>
              <a:t>Sale: </a:t>
            </a:r>
            <a:pPr indent="0" marL="0">
              <a:spcAft>
                <a:spcPts val="600"/>
              </a:spcAft>
              <a:buNone/>
            </a:pPr>
            <a:r>
              <a:rPr lang="en-US" sz="1400" dirty="0">
                <a:solidFill>
                  <a:srgbClr val="1A202C"/>
                </a:solidFill>
              </a:rPr>
              <a:t>Ficha de requerimientos</a:t>
            </a:r>
            <a:endParaRPr lang="en-US" sz="1400" dirty="0"/>
          </a:p>
          <a:p>
            <a:pPr indent="0" marL="0">
              <a:spcAft>
                <a:spcPts val="600"/>
              </a:spcAft>
              <a:buNone/>
            </a:pPr>
            <a:r>
              <a:rPr lang="en-US" sz="1400" dirty="0">
                <a:solidFill>
                  <a:srgbClr val="1A202C"/>
                </a:solidFill>
              </a:rPr>
              <a:t>o aclaraciones</a:t>
            </a:r>
            <a:endParaRPr lang="en-US" sz="1400" dirty="0"/>
          </a:p>
        </p:txBody>
      </p:sp>
      <p:sp>
        <p:nvSpPr>
          <p:cNvPr id="8" name="Shape 6"/>
          <p:cNvSpPr/>
          <p:nvPr/>
        </p:nvSpPr>
        <p:spPr>
          <a:xfrm>
            <a:off x="3977640" y="3566160"/>
            <a:ext cx="320040" cy="914"/>
          </a:xfrm>
          <a:prstGeom prst="line">
            <a:avLst/>
          </a:prstGeom>
          <a:noFill/>
          <a:ln w="25400">
            <a:solidFill>
              <a:srgbClr val="1A202C"/>
            </a:solidFill>
            <a:prstDash val="solid"/>
            <a:tailEnd type="triangle"/>
          </a:ln>
        </p:spPr>
      </p:sp>
      <p:sp>
        <p:nvSpPr>
          <p:cNvPr id="9" name="Shape 7"/>
          <p:cNvSpPr/>
          <p:nvPr/>
        </p:nvSpPr>
        <p:spPr>
          <a:xfrm>
            <a:off x="4343400" y="2103120"/>
            <a:ext cx="3429000" cy="3017520"/>
          </a:xfrm>
          <a:prstGeom prst="roundRect">
            <a:avLst>
              <a:gd name="adj" fmla="val 2424"/>
            </a:avLst>
          </a:prstGeom>
          <a:solidFill>
            <a:srgbClr val="E0F4F1"/>
          </a:solidFill>
          <a:ln w="15875">
            <a:solidFill>
              <a:srgbClr val="2A9D8F"/>
            </a:solidFill>
            <a:prstDash val="solid"/>
          </a:ln>
        </p:spPr>
      </p:sp>
      <p:sp>
        <p:nvSpPr>
          <p:cNvPr id="10" name="Text 8"/>
          <p:cNvSpPr txBox="1"/>
          <p:nvPr/>
        </p:nvSpPr>
        <p:spPr>
          <a:xfrm>
            <a:off x="4572000" y="2240280"/>
            <a:ext cx="3017520" cy="685800"/>
          </a:xfrm>
          <a:prstGeom prst="rect">
            <a:avLst/>
          </a:prstGeom>
          <a:noFill/>
          <a:ln/>
        </p:spPr>
        <p:txBody>
          <a:bodyPr wrap="square" lIns="0" tIns="0" rIns="0" bIns="0" rtlCol="0" anchor="ctr"/>
          <a:lstStyle/>
          <a:p>
            <a:pPr indent="0" marL="0">
              <a:buNone/>
            </a:pPr>
            <a:r>
              <a:rPr lang="en-US" sz="1900" b="1" dirty="0">
                <a:solidFill>
                  <a:srgbClr val="2A9D8F"/>
                </a:solidFill>
              </a:rPr>
              <a:t>Materiales e instalación</a:t>
            </a:r>
            <a:endParaRPr lang="en-US" sz="1900" dirty="0"/>
          </a:p>
        </p:txBody>
      </p:sp>
      <p:sp>
        <p:nvSpPr>
          <p:cNvPr id="11" name="Text 9"/>
          <p:cNvSpPr txBox="1"/>
          <p:nvPr/>
        </p:nvSpPr>
        <p:spPr>
          <a:xfrm>
            <a:off x="4572000" y="2907792"/>
            <a:ext cx="3017520" cy="320040"/>
          </a:xfrm>
          <a:prstGeom prst="rect">
            <a:avLst/>
          </a:prstGeom>
          <a:noFill/>
          <a:ln/>
        </p:spPr>
        <p:txBody>
          <a:bodyPr wrap="square" lIns="0" tIns="0" rIns="0" bIns="0" rtlCol="0" anchor="ctr"/>
          <a:lstStyle/>
          <a:p>
            <a:pPr indent="0" marL="0">
              <a:buNone/>
            </a:pPr>
            <a:r>
              <a:rPr lang="en-US" sz="1400" dirty="0">
                <a:solidFill>
                  <a:srgbClr val="5A6578"/>
                </a:solidFill>
              </a:rPr>
              <a:t>Lautaro</a:t>
            </a:r>
            <a:endParaRPr lang="en-US" sz="1400" dirty="0"/>
          </a:p>
        </p:txBody>
      </p:sp>
      <p:sp>
        <p:nvSpPr>
          <p:cNvPr id="12" name="Text 10"/>
          <p:cNvSpPr txBox="1"/>
          <p:nvPr/>
        </p:nvSpPr>
        <p:spPr>
          <a:xfrm>
            <a:off x="4572000" y="3337560"/>
            <a:ext cx="3017520" cy="1645920"/>
          </a:xfrm>
          <a:prstGeom prst="rect">
            <a:avLst/>
          </a:prstGeom>
          <a:noFill/>
          <a:ln/>
        </p:spPr>
        <p:txBody>
          <a:bodyPr wrap="square" lIns="0" tIns="0" rIns="0" bIns="0" rtlCol="0" anchor="t"/>
          <a:lstStyle/>
          <a:p>
            <a:pPr indent="0" marL="0">
              <a:spcAft>
                <a:spcPts val="600"/>
              </a:spcAft>
              <a:buNone/>
            </a:pPr>
            <a:r>
              <a:rPr lang="en-US" sz="1400" b="1" dirty="0">
                <a:solidFill>
                  <a:srgbClr val="1A202C"/>
                </a:solidFill>
              </a:rPr>
              <a:t>Tarea experta: </a:t>
            </a:r>
            <a:pPr indent="0" marL="0">
              <a:spcAft>
                <a:spcPts val="600"/>
              </a:spcAft>
              <a:buNone/>
            </a:pPr>
            <a:r>
              <a:rPr lang="en-US" sz="1400" dirty="0">
                <a:solidFill>
                  <a:srgbClr val="1A202C"/>
                </a:solidFill>
              </a:rPr>
              <a:t>Evaluación</a:t>
            </a:r>
            <a:endParaRPr lang="en-US" sz="1400" dirty="0"/>
          </a:p>
          <a:p>
            <a:pPr indent="0" marL="0">
              <a:spcAft>
                <a:spcPts val="600"/>
              </a:spcAft>
              <a:buNone/>
            </a:pPr>
            <a:r>
              <a:rPr lang="en-US" sz="1400" b="1" dirty="0">
                <a:solidFill>
                  <a:srgbClr val="1A202C"/>
                </a:solidFill>
              </a:rPr>
              <a:t>Entra: </a:t>
            </a:r>
            <a:pPr indent="0" marL="0">
              <a:spcAft>
                <a:spcPts val="600"/>
              </a:spcAft>
              <a:buNone/>
            </a:pPr>
            <a:r>
              <a:rPr lang="en-US" sz="1400" dirty="0">
                <a:solidFill>
                  <a:srgbClr val="1A202C"/>
                </a:solidFill>
              </a:rPr>
              <a:t>Ficha</a:t>
            </a:r>
            <a:endParaRPr lang="en-US" sz="1400" dirty="0"/>
          </a:p>
          <a:p>
            <a:pPr indent="0" marL="0">
              <a:spcAft>
                <a:spcPts val="600"/>
              </a:spcAft>
              <a:buNone/>
            </a:pPr>
            <a:r>
              <a:rPr lang="en-US" sz="1400" b="1" dirty="0">
                <a:solidFill>
                  <a:srgbClr val="1A202C"/>
                </a:solidFill>
              </a:rPr>
              <a:t>Sale: </a:t>
            </a:r>
            <a:pPr indent="0" marL="0">
              <a:spcAft>
                <a:spcPts val="600"/>
              </a:spcAft>
              <a:buNone/>
            </a:pPr>
            <a:r>
              <a:rPr lang="en-US" sz="1400" dirty="0">
                <a:solidFill>
                  <a:srgbClr val="1A202C"/>
                </a:solidFill>
              </a:rPr>
              <a:t>Dictamen: apto / con condiciones / no apto</a:t>
            </a:r>
            <a:endParaRPr lang="en-US" sz="1400" dirty="0"/>
          </a:p>
        </p:txBody>
      </p:sp>
      <p:sp>
        <p:nvSpPr>
          <p:cNvPr id="13" name="Shape 11"/>
          <p:cNvSpPr/>
          <p:nvPr/>
        </p:nvSpPr>
        <p:spPr>
          <a:xfrm>
            <a:off x="7818120" y="3566160"/>
            <a:ext cx="320040" cy="914"/>
          </a:xfrm>
          <a:prstGeom prst="line">
            <a:avLst/>
          </a:prstGeom>
          <a:noFill/>
          <a:ln w="25400">
            <a:solidFill>
              <a:srgbClr val="1A202C"/>
            </a:solidFill>
            <a:prstDash val="solid"/>
            <a:tailEnd type="triangle"/>
          </a:ln>
        </p:spPr>
      </p:sp>
      <p:sp>
        <p:nvSpPr>
          <p:cNvPr id="14" name="Shape 12"/>
          <p:cNvSpPr/>
          <p:nvPr/>
        </p:nvSpPr>
        <p:spPr>
          <a:xfrm>
            <a:off x="8183880" y="2103120"/>
            <a:ext cx="3429000" cy="3017520"/>
          </a:xfrm>
          <a:prstGeom prst="roundRect">
            <a:avLst>
              <a:gd name="adj" fmla="val 2424"/>
            </a:avLst>
          </a:prstGeom>
          <a:solidFill>
            <a:srgbClr val="FDEBDD"/>
          </a:solidFill>
          <a:ln w="15875">
            <a:solidFill>
              <a:srgbClr val="D9480F"/>
            </a:solidFill>
            <a:prstDash val="solid"/>
          </a:ln>
        </p:spPr>
      </p:sp>
      <p:sp>
        <p:nvSpPr>
          <p:cNvPr id="15" name="Text 13"/>
          <p:cNvSpPr txBox="1"/>
          <p:nvPr/>
        </p:nvSpPr>
        <p:spPr>
          <a:xfrm>
            <a:off x="8412480" y="2240280"/>
            <a:ext cx="3017520" cy="685800"/>
          </a:xfrm>
          <a:prstGeom prst="rect">
            <a:avLst/>
          </a:prstGeom>
          <a:noFill/>
          <a:ln/>
        </p:spPr>
        <p:txBody>
          <a:bodyPr wrap="square" lIns="0" tIns="0" rIns="0" bIns="0" rtlCol="0" anchor="ctr"/>
          <a:lstStyle/>
          <a:p>
            <a:pPr indent="0" marL="0">
              <a:buNone/>
            </a:pPr>
            <a:r>
              <a:rPr lang="en-US" sz="1900" b="1" dirty="0">
                <a:solidFill>
                  <a:srgbClr val="D9480F"/>
                </a:solidFill>
              </a:rPr>
              <a:t>Manufacturabilidad y rediseño</a:t>
            </a:r>
            <a:endParaRPr lang="en-US" sz="1900" dirty="0"/>
          </a:p>
        </p:txBody>
      </p:sp>
      <p:sp>
        <p:nvSpPr>
          <p:cNvPr id="16" name="Text 14"/>
          <p:cNvSpPr txBox="1"/>
          <p:nvPr/>
        </p:nvSpPr>
        <p:spPr>
          <a:xfrm>
            <a:off x="8412480" y="2907792"/>
            <a:ext cx="3017520" cy="320040"/>
          </a:xfrm>
          <a:prstGeom prst="rect">
            <a:avLst/>
          </a:prstGeom>
          <a:noFill/>
          <a:ln/>
        </p:spPr>
        <p:txBody>
          <a:bodyPr wrap="square" lIns="0" tIns="0" rIns="0" bIns="0" rtlCol="0" anchor="ctr"/>
          <a:lstStyle/>
          <a:p>
            <a:pPr indent="0" marL="0">
              <a:buNone/>
            </a:pPr>
            <a:r>
              <a:rPr lang="en-US" sz="1400" dirty="0">
                <a:solidFill>
                  <a:srgbClr val="5A6578"/>
                </a:solidFill>
              </a:rPr>
              <a:t>Luciano (experto)</a:t>
            </a:r>
            <a:endParaRPr lang="en-US" sz="1400" dirty="0"/>
          </a:p>
        </p:txBody>
      </p:sp>
      <p:sp>
        <p:nvSpPr>
          <p:cNvPr id="17" name="Text 15"/>
          <p:cNvSpPr txBox="1"/>
          <p:nvPr/>
        </p:nvSpPr>
        <p:spPr>
          <a:xfrm>
            <a:off x="8412480" y="3337560"/>
            <a:ext cx="3017520" cy="1645920"/>
          </a:xfrm>
          <a:prstGeom prst="rect">
            <a:avLst/>
          </a:prstGeom>
          <a:noFill/>
          <a:ln/>
        </p:spPr>
        <p:txBody>
          <a:bodyPr wrap="square" lIns="0" tIns="0" rIns="0" bIns="0" rtlCol="0" anchor="t"/>
          <a:lstStyle/>
          <a:p>
            <a:pPr indent="0" marL="0">
              <a:spcAft>
                <a:spcPts val="600"/>
              </a:spcAft>
              <a:buNone/>
            </a:pPr>
            <a:r>
              <a:rPr lang="en-US" sz="1400" b="1" dirty="0">
                <a:solidFill>
                  <a:srgbClr val="1A202C"/>
                </a:solidFill>
              </a:rPr>
              <a:t>Tarea experta: </a:t>
            </a:r>
            <a:pPr indent="0" marL="0">
              <a:spcAft>
                <a:spcPts val="600"/>
              </a:spcAft>
              <a:buNone/>
            </a:pPr>
            <a:r>
              <a:rPr lang="en-US" sz="1400" dirty="0">
                <a:solidFill>
                  <a:srgbClr val="1A202C"/>
                </a:solidFill>
              </a:rPr>
              <a:t>Recomendación</a:t>
            </a:r>
            <a:endParaRPr lang="en-US" sz="1400" dirty="0"/>
          </a:p>
          <a:p>
            <a:pPr indent="0" marL="0">
              <a:spcAft>
                <a:spcPts val="600"/>
              </a:spcAft>
              <a:buNone/>
            </a:pPr>
            <a:r>
              <a:rPr lang="en-US" sz="1400" b="1" dirty="0">
                <a:solidFill>
                  <a:srgbClr val="1A202C"/>
                </a:solidFill>
              </a:rPr>
              <a:t>Entra: </a:t>
            </a:r>
            <a:pPr indent="0" marL="0">
              <a:spcAft>
                <a:spcPts val="600"/>
              </a:spcAft>
              <a:buNone/>
            </a:pPr>
            <a:r>
              <a:rPr lang="en-US" sz="1400" dirty="0">
                <a:solidFill>
                  <a:srgbClr val="1A202C"/>
                </a:solidFill>
              </a:rPr>
              <a:t>Ficha + dictamen</a:t>
            </a:r>
            <a:endParaRPr lang="en-US" sz="1400" dirty="0"/>
          </a:p>
          <a:p>
            <a:pPr indent="0" marL="0">
              <a:spcAft>
                <a:spcPts val="600"/>
              </a:spcAft>
              <a:buNone/>
            </a:pPr>
            <a:r>
              <a:rPr lang="en-US" sz="1400" b="1" dirty="0">
                <a:solidFill>
                  <a:srgbClr val="1A202C"/>
                </a:solidFill>
              </a:rPr>
              <a:t>Sale: </a:t>
            </a:r>
            <a:pPr indent="0" marL="0">
              <a:spcAft>
                <a:spcPts val="600"/>
              </a:spcAft>
              <a:buNone/>
            </a:pPr>
            <a:r>
              <a:rPr lang="en-US" sz="1400" dirty="0">
                <a:solidFill>
                  <a:srgbClr val="1A202C"/>
                </a:solidFill>
              </a:rPr>
              <a:t>Recomendación justificada</a:t>
            </a:r>
            <a:endParaRPr lang="en-US" sz="1400" dirty="0"/>
          </a:p>
        </p:txBody>
      </p:sp>
      <p:sp>
        <p:nvSpPr>
          <p:cNvPr id="18" name="Shape 16"/>
          <p:cNvSpPr/>
          <p:nvPr/>
        </p:nvSpPr>
        <p:spPr>
          <a:xfrm>
            <a:off x="502920" y="5394960"/>
            <a:ext cx="11155680" cy="731520"/>
          </a:xfrm>
          <a:prstGeom prst="roundRect">
            <a:avLst>
              <a:gd name="adj" fmla="val 10000"/>
            </a:avLst>
          </a:prstGeom>
          <a:solidFill>
            <a:srgbClr val="F4F6FA"/>
          </a:solidFill>
          <a:ln w="15875">
            <a:solidFill>
              <a:srgbClr val="F4F6FA"/>
            </a:solidFill>
            <a:prstDash val="solid"/>
          </a:ln>
        </p:spPr>
      </p:sp>
      <p:sp>
        <p:nvSpPr>
          <p:cNvPr id="19" name="Text 17"/>
          <p:cNvSpPr txBox="1"/>
          <p:nvPr/>
        </p:nvSpPr>
        <p:spPr>
          <a:xfrm>
            <a:off x="731520" y="5440680"/>
            <a:ext cx="10789920" cy="640080"/>
          </a:xfrm>
          <a:prstGeom prst="rect">
            <a:avLst/>
          </a:prstGeom>
          <a:noFill/>
          <a:ln/>
        </p:spPr>
        <p:txBody>
          <a:bodyPr wrap="square" lIns="0" tIns="0" rIns="0" bIns="0" rtlCol="0" anchor="ctr"/>
          <a:lstStyle/>
          <a:p>
            <a:pPr indent="0" marL="0">
              <a:buNone/>
            </a:pPr>
            <a:r>
              <a:rPr lang="en-US" sz="1400" b="1" dirty="0">
                <a:solidFill>
                  <a:srgbClr val="1A202C"/>
                </a:solidFill>
              </a:rPr>
              <a:t>Retornos: </a:t>
            </a:r>
            <a:pPr indent="0" marL="0">
              <a:buNone/>
            </a:pPr>
            <a:r>
              <a:rPr lang="en-US" sz="1400" dirty="0">
                <a:solidFill>
                  <a:srgbClr val="1A202C"/>
                </a:solidFill>
              </a:rPr>
              <a:t>Materiales devuelve datos faltantes a Interpretación (R-MI-01) · Manufacturabilidad devuelve el caso si ninguna alternativa respeta al cliente (MAN-R8) · todo pedido al cliente pasa por una Aclaración.</a:t>
            </a:r>
            <a:endParaRPr lang="en-US" sz="14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Dos casos de uso guiaron el modelado (y cruzan los tres submódulos)</a:t>
            </a:r>
            <a:endParaRPr lang="en-US" sz="3000" dirty="0"/>
          </a:p>
        </p:txBody>
      </p:sp>
      <p:sp>
        <p:nvSpPr>
          <p:cNvPr id="3" name="Text 1"/>
          <p:cNvSpPr txBox="1"/>
          <p:nvPr/>
        </p:nvSpPr>
        <p:spPr>
          <a:xfrm>
            <a:off x="502920" y="1143000"/>
            <a:ext cx="5394960" cy="457200"/>
          </a:xfrm>
          <a:prstGeom prst="rect">
            <a:avLst/>
          </a:prstGeom>
          <a:noFill/>
          <a:ln/>
        </p:spPr>
        <p:txBody>
          <a:bodyPr wrap="square" lIns="0" tIns="0" rIns="0" bIns="0" rtlCol="0" anchor="ctr"/>
          <a:lstStyle/>
          <a:p>
            <a:pPr indent="0" marL="0">
              <a:buNone/>
            </a:pPr>
            <a:r>
              <a:rPr lang="en-US" sz="2100" b="1" dirty="0">
                <a:solidFill>
                  <a:srgbClr val="2B6CB0"/>
                </a:solidFill>
              </a:rPr>
              <a:t>CU1 · «Café Andino»</a:t>
            </a:r>
            <a:endParaRPr lang="en-US" sz="2100" dirty="0"/>
          </a:p>
        </p:txBody>
      </p:sp>
      <p:sp>
        <p:nvSpPr>
          <p:cNvPr id="4" name="Text 2"/>
          <p:cNvSpPr txBox="1"/>
          <p:nvPr/>
        </p:nvSpPr>
        <p:spPr>
          <a:xfrm>
            <a:off x="502920" y="1645920"/>
            <a:ext cx="1828800" cy="256032"/>
          </a:xfrm>
          <a:prstGeom prst="rect">
            <a:avLst/>
          </a:prstGeom>
          <a:noFill/>
          <a:ln/>
        </p:spPr>
        <p:txBody>
          <a:bodyPr wrap="square" lIns="0" tIns="0" rIns="0" bIns="0" rtlCol="0" anchor="ctr"/>
          <a:lstStyle/>
          <a:p>
            <a:pPr indent="0" marL="0">
              <a:buNone/>
            </a:pPr>
            <a:r>
              <a:rPr lang="en-US" sz="1100" b="1" dirty="0">
                <a:solidFill>
                  <a:srgbClr val="8A94A6"/>
                </a:solidFill>
              </a:rPr>
              <a:t>ENTRADA</a:t>
            </a:r>
            <a:endParaRPr lang="en-US" sz="1100" dirty="0"/>
          </a:p>
        </p:txBody>
      </p:sp>
      <p:sp>
        <p:nvSpPr>
          <p:cNvPr id="5" name="Shape 3"/>
          <p:cNvSpPr/>
          <p:nvPr/>
        </p:nvSpPr>
        <p:spPr>
          <a:xfrm>
            <a:off x="502920" y="1920240"/>
            <a:ext cx="5394960" cy="1188720"/>
          </a:xfrm>
          <a:prstGeom prst="roundRect">
            <a:avLst>
              <a:gd name="adj" fmla="val 6154"/>
            </a:avLst>
          </a:prstGeom>
          <a:solidFill>
            <a:srgbClr val="F4F6FA"/>
          </a:solidFill>
          <a:ln w="15875">
            <a:solidFill>
              <a:srgbClr val="F4F6FA"/>
            </a:solidFill>
            <a:prstDash val="solid"/>
          </a:ln>
        </p:spPr>
      </p:sp>
      <p:sp>
        <p:nvSpPr>
          <p:cNvPr id="6" name="Text 4"/>
          <p:cNvSpPr txBox="1"/>
          <p:nvPr/>
        </p:nvSpPr>
        <p:spPr>
          <a:xfrm>
            <a:off x="685800" y="1965960"/>
            <a:ext cx="5029200" cy="1097280"/>
          </a:xfrm>
          <a:prstGeom prst="rect">
            <a:avLst/>
          </a:prstGeom>
          <a:noFill/>
          <a:ln/>
        </p:spPr>
        <p:txBody>
          <a:bodyPr wrap="square" lIns="0" tIns="0" rIns="0" bIns="0" rtlCol="0" anchor="ctr"/>
          <a:lstStyle/>
          <a:p>
            <a:pPr indent="0" marL="0">
              <a:buNone/>
            </a:pPr>
            <a:r>
              <a:rPr lang="en-US" sz="1400" i="1" dirty="0">
                <a:solidFill>
                  <a:srgbClr val="1A202C"/>
                </a:solidFill>
              </a:rPr>
              <a:t>«Quiero un cartel de neón con el nombre del café… para poner en la pared. Más o menos de un metro. Que se vea lindo de noche.» + foto</a:t>
            </a:r>
            <a:endParaRPr lang="en-US" sz="1400" dirty="0"/>
          </a:p>
        </p:txBody>
      </p:sp>
      <p:sp>
        <p:nvSpPr>
          <p:cNvPr id="7" name="Text 5"/>
          <p:cNvSpPr txBox="1"/>
          <p:nvPr/>
        </p:nvSpPr>
        <p:spPr>
          <a:xfrm>
            <a:off x="502920" y="3291840"/>
            <a:ext cx="2743200" cy="256032"/>
          </a:xfrm>
          <a:prstGeom prst="rect">
            <a:avLst/>
          </a:prstGeom>
          <a:noFill/>
          <a:ln/>
        </p:spPr>
        <p:txBody>
          <a:bodyPr wrap="square" lIns="0" tIns="0" rIns="0" bIns="0" rtlCol="0" anchor="ctr"/>
          <a:lstStyle/>
          <a:p>
            <a:pPr indent="0" marL="0">
              <a:buNone/>
            </a:pPr>
            <a:r>
              <a:rPr lang="en-US" sz="1100" b="1" dirty="0">
                <a:solidFill>
                  <a:srgbClr val="2B6CB0"/>
                </a:solidFill>
              </a:rPr>
              <a:t>SALIDA ESPERADA</a:t>
            </a:r>
            <a:endParaRPr lang="en-US" sz="1100" dirty="0"/>
          </a:p>
        </p:txBody>
      </p:sp>
      <p:sp>
        <p:nvSpPr>
          <p:cNvPr id="8" name="Shape 6"/>
          <p:cNvSpPr/>
          <p:nvPr/>
        </p:nvSpPr>
        <p:spPr>
          <a:xfrm>
            <a:off x="502920" y="3639312"/>
            <a:ext cx="384048" cy="384048"/>
          </a:xfrm>
          <a:prstGeom prst="ellipse">
            <a:avLst/>
          </a:prstGeom>
          <a:solidFill>
            <a:srgbClr val="2B6CB0"/>
          </a:solidFill>
          <a:ln w="12700">
            <a:solidFill>
              <a:srgbClr val="2B6CB0"/>
            </a:solidFill>
            <a:prstDash val="solid"/>
          </a:ln>
        </p:spPr>
      </p:sp>
      <p:sp>
        <p:nvSpPr>
          <p:cNvPr id="9" name="Text 7"/>
          <p:cNvSpPr txBox="1"/>
          <p:nvPr/>
        </p:nvSpPr>
        <p:spPr>
          <a:xfrm>
            <a:off x="5029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txBox="1"/>
          <p:nvPr/>
        </p:nvSpPr>
        <p:spPr>
          <a:xfrm>
            <a:off x="1005840" y="3621024"/>
            <a:ext cx="4846320" cy="420624"/>
          </a:xfrm>
          <a:prstGeom prst="rect">
            <a:avLst/>
          </a:prstGeom>
          <a:noFill/>
          <a:ln/>
        </p:spPr>
        <p:txBody>
          <a:bodyPr wrap="square" lIns="0" tIns="0" rIns="0" bIns="0" rtlCol="0" anchor="ctr"/>
          <a:lstStyle/>
          <a:p>
            <a:pPr indent="0" marL="0">
              <a:buNone/>
            </a:pPr>
            <a:r>
              <a:rPr lang="en-US" sz="1400" dirty="0">
                <a:solidFill>
                  <a:srgbClr val="1A202C"/>
                </a:solidFill>
              </a:rPr>
              <a:t>3 datos ambiguos y 1 faltante → aclaraciones</a:t>
            </a:r>
            <a:endParaRPr lang="en-US" sz="1400" dirty="0"/>
          </a:p>
        </p:txBody>
      </p:sp>
      <p:sp>
        <p:nvSpPr>
          <p:cNvPr id="11" name="Shape 9"/>
          <p:cNvSpPr/>
          <p:nvPr/>
        </p:nvSpPr>
        <p:spPr>
          <a:xfrm>
            <a:off x="502920" y="4187952"/>
            <a:ext cx="384048" cy="384048"/>
          </a:xfrm>
          <a:prstGeom prst="ellipse">
            <a:avLst/>
          </a:prstGeom>
          <a:solidFill>
            <a:srgbClr val="2A9D8F"/>
          </a:solidFill>
          <a:ln w="12700">
            <a:solidFill>
              <a:srgbClr val="2A9D8F"/>
            </a:solidFill>
            <a:prstDash val="solid"/>
          </a:ln>
        </p:spPr>
      </p:sp>
      <p:sp>
        <p:nvSpPr>
          <p:cNvPr id="12" name="Text 10"/>
          <p:cNvSpPr txBox="1"/>
          <p:nvPr/>
        </p:nvSpPr>
        <p:spPr>
          <a:xfrm>
            <a:off x="502920" y="41879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1005840" y="4169664"/>
            <a:ext cx="4846320" cy="420624"/>
          </a:xfrm>
          <a:prstGeom prst="rect">
            <a:avLst/>
          </a:prstGeom>
          <a:noFill/>
          <a:ln/>
        </p:spPr>
        <p:txBody>
          <a:bodyPr wrap="square" lIns="0" tIns="0" rIns="0" bIns="0" rtlCol="0" anchor="ctr"/>
          <a:lstStyle/>
          <a:p>
            <a:pPr indent="0" marL="0">
              <a:buNone/>
            </a:pPr>
            <a:r>
              <a:rPr lang="en-US" sz="1400" dirty="0">
                <a:solidFill>
                  <a:srgbClr val="1A202C"/>
                </a:solidFill>
              </a:rPr>
              <a:t>Materiales: sin soporte no se evalúa (R-MI-01) → no avanza</a:t>
            </a:r>
            <a:endParaRPr lang="en-US" sz="1400" dirty="0"/>
          </a:p>
        </p:txBody>
      </p:sp>
      <p:sp>
        <p:nvSpPr>
          <p:cNvPr id="14" name="Shape 12"/>
          <p:cNvSpPr/>
          <p:nvPr/>
        </p:nvSpPr>
        <p:spPr>
          <a:xfrm>
            <a:off x="502920" y="4736592"/>
            <a:ext cx="384048" cy="384048"/>
          </a:xfrm>
          <a:prstGeom prst="ellipse">
            <a:avLst/>
          </a:prstGeom>
          <a:solidFill>
            <a:srgbClr val="2A9D8F"/>
          </a:solidFill>
          <a:ln w="12700">
            <a:solidFill>
              <a:srgbClr val="2A9D8F"/>
            </a:solidFill>
            <a:prstDash val="solid"/>
          </a:ln>
        </p:spPr>
      </p:sp>
      <p:sp>
        <p:nvSpPr>
          <p:cNvPr id="15" name="Text 13"/>
          <p:cNvSpPr txBox="1"/>
          <p:nvPr/>
        </p:nvSpPr>
        <p:spPr>
          <a:xfrm>
            <a:off x="502920" y="47365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1005840" y="4718304"/>
            <a:ext cx="4846320" cy="420624"/>
          </a:xfrm>
          <a:prstGeom prst="rect">
            <a:avLst/>
          </a:prstGeom>
          <a:noFill/>
          <a:ln/>
        </p:spPr>
        <p:txBody>
          <a:bodyPr wrap="square" lIns="0" tIns="0" rIns="0" bIns="0" rtlCol="0" anchor="ctr"/>
          <a:lstStyle/>
          <a:p>
            <a:pPr indent="0" marL="0">
              <a:buNone/>
            </a:pPr>
            <a:r>
              <a:rPr lang="en-US" sz="1400" dirty="0">
                <a:solidFill>
                  <a:srgbClr val="1A202C"/>
                </a:solidFill>
              </a:rPr>
              <a:t>Con la respuesta: apto (interior)</a:t>
            </a:r>
            <a:endParaRPr lang="en-US" sz="1400" dirty="0"/>
          </a:p>
        </p:txBody>
      </p:sp>
      <p:sp>
        <p:nvSpPr>
          <p:cNvPr id="17" name="Shape 15"/>
          <p:cNvSpPr/>
          <p:nvPr/>
        </p:nvSpPr>
        <p:spPr>
          <a:xfrm>
            <a:off x="502920" y="5285232"/>
            <a:ext cx="384048" cy="384048"/>
          </a:xfrm>
          <a:prstGeom prst="ellipse">
            <a:avLst/>
          </a:prstGeom>
          <a:solidFill>
            <a:srgbClr val="D9480F"/>
          </a:solidFill>
          <a:ln w="12700">
            <a:solidFill>
              <a:srgbClr val="D9480F"/>
            </a:solidFill>
            <a:prstDash val="solid"/>
          </a:ln>
        </p:spPr>
      </p:sp>
      <p:sp>
        <p:nvSpPr>
          <p:cNvPr id="18" name="Text 16"/>
          <p:cNvSpPr txBox="1"/>
          <p:nvPr/>
        </p:nvSpPr>
        <p:spPr>
          <a:xfrm>
            <a:off x="502920" y="52852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 17"/>
          <p:cNvSpPr txBox="1"/>
          <p:nvPr/>
        </p:nvSpPr>
        <p:spPr>
          <a:xfrm>
            <a:off x="1005840" y="5266944"/>
            <a:ext cx="4846320" cy="420624"/>
          </a:xfrm>
          <a:prstGeom prst="rect">
            <a:avLst/>
          </a:prstGeom>
          <a:noFill/>
          <a:ln/>
        </p:spPr>
        <p:txBody>
          <a:bodyPr wrap="square" lIns="0" tIns="0" rIns="0" bIns="0" rtlCol="0" anchor="ctr"/>
          <a:lstStyle/>
          <a:p>
            <a:pPr indent="0" marL="0">
              <a:buNone/>
            </a:pPr>
            <a:r>
              <a:rPr lang="en-US" sz="1400" dirty="0">
                <a:solidFill>
                  <a:srgbClr val="1A202C"/>
                </a:solidFill>
              </a:rPr>
              <a:t>1000 mm &gt; 400 mm → segmentar + reforzar</a:t>
            </a:r>
            <a:endParaRPr lang="en-US" sz="1400" dirty="0"/>
          </a:p>
        </p:txBody>
      </p:sp>
      <p:sp>
        <p:nvSpPr>
          <p:cNvPr id="20" name="Text 18"/>
          <p:cNvSpPr txBox="1"/>
          <p:nvPr/>
        </p:nvSpPr>
        <p:spPr>
          <a:xfrm>
            <a:off x="6172200" y="1143000"/>
            <a:ext cx="5394960" cy="457200"/>
          </a:xfrm>
          <a:prstGeom prst="rect">
            <a:avLst/>
          </a:prstGeom>
          <a:noFill/>
          <a:ln/>
        </p:spPr>
        <p:txBody>
          <a:bodyPr wrap="square" lIns="0" tIns="0" rIns="0" bIns="0" rtlCol="0" anchor="ctr"/>
          <a:lstStyle/>
          <a:p>
            <a:pPr indent="0" marL="0">
              <a:buNone/>
            </a:pPr>
            <a:r>
              <a:rPr lang="en-US" sz="2100" b="1" dirty="0">
                <a:solidFill>
                  <a:srgbClr val="D9480F"/>
                </a:solidFill>
              </a:rPr>
              <a:t>CU2 · Letras corpóreas exterior</a:t>
            </a:r>
            <a:endParaRPr lang="en-US" sz="2100" dirty="0"/>
          </a:p>
        </p:txBody>
      </p:sp>
      <p:sp>
        <p:nvSpPr>
          <p:cNvPr id="21" name="Text 19"/>
          <p:cNvSpPr txBox="1"/>
          <p:nvPr/>
        </p:nvSpPr>
        <p:spPr>
          <a:xfrm>
            <a:off x="6172200" y="1645920"/>
            <a:ext cx="1828800" cy="256032"/>
          </a:xfrm>
          <a:prstGeom prst="rect">
            <a:avLst/>
          </a:prstGeom>
          <a:noFill/>
          <a:ln/>
        </p:spPr>
        <p:txBody>
          <a:bodyPr wrap="square" lIns="0" tIns="0" rIns="0" bIns="0" rtlCol="0" anchor="ctr"/>
          <a:lstStyle/>
          <a:p>
            <a:pPr indent="0" marL="0">
              <a:buNone/>
            </a:pPr>
            <a:r>
              <a:rPr lang="en-US" sz="1100" b="1" dirty="0">
                <a:solidFill>
                  <a:srgbClr val="8A94A6"/>
                </a:solidFill>
              </a:rPr>
              <a:t>ENTRADA</a:t>
            </a:r>
            <a:endParaRPr lang="en-US" sz="1100" dirty="0"/>
          </a:p>
        </p:txBody>
      </p:sp>
      <p:sp>
        <p:nvSpPr>
          <p:cNvPr id="22" name="Shape 20"/>
          <p:cNvSpPr/>
          <p:nvPr/>
        </p:nvSpPr>
        <p:spPr>
          <a:xfrm>
            <a:off x="6172200" y="1920240"/>
            <a:ext cx="5394960" cy="1188720"/>
          </a:xfrm>
          <a:prstGeom prst="roundRect">
            <a:avLst>
              <a:gd name="adj" fmla="val 6154"/>
            </a:avLst>
          </a:prstGeom>
          <a:solidFill>
            <a:srgbClr val="F4F6FA"/>
          </a:solidFill>
          <a:ln w="15875">
            <a:solidFill>
              <a:srgbClr val="F4F6FA"/>
            </a:solidFill>
            <a:prstDash val="solid"/>
          </a:ln>
        </p:spPr>
      </p:sp>
      <p:sp>
        <p:nvSpPr>
          <p:cNvPr id="23" name="Text 21"/>
          <p:cNvSpPr txBox="1"/>
          <p:nvPr/>
        </p:nvSpPr>
        <p:spPr>
          <a:xfrm>
            <a:off x="6355080" y="1965960"/>
            <a:ext cx="5029200" cy="1097280"/>
          </a:xfrm>
          <a:prstGeom prst="rect">
            <a:avLst/>
          </a:prstGeom>
          <a:noFill/>
          <a:ln/>
        </p:spPr>
        <p:txBody>
          <a:bodyPr wrap="square" lIns="0" tIns="0" rIns="0" bIns="0" rtlCol="0" anchor="ctr"/>
          <a:lstStyle/>
          <a:p>
            <a:pPr indent="0" marL="0">
              <a:buNone/>
            </a:pPr>
            <a:r>
              <a:rPr lang="en-US" sz="1400" i="1" dirty="0">
                <a:solidFill>
                  <a:srgbClr val="1A202C"/>
                </a:solidFill>
              </a:rPr>
              <a:t>«Letras corpóreas con luz para el frente que da a la calle. 3 metros. Sí o sí antes de la inauguración. Si se puede, colores del logo.» + foto sin luz</a:t>
            </a:r>
            <a:endParaRPr lang="en-US" sz="1400" dirty="0"/>
          </a:p>
        </p:txBody>
      </p:sp>
      <p:sp>
        <p:nvSpPr>
          <p:cNvPr id="24" name="Text 22"/>
          <p:cNvSpPr txBox="1"/>
          <p:nvPr/>
        </p:nvSpPr>
        <p:spPr>
          <a:xfrm>
            <a:off x="6172200" y="3291840"/>
            <a:ext cx="2743200" cy="256032"/>
          </a:xfrm>
          <a:prstGeom prst="rect">
            <a:avLst/>
          </a:prstGeom>
          <a:noFill/>
          <a:ln/>
        </p:spPr>
        <p:txBody>
          <a:bodyPr wrap="square" lIns="0" tIns="0" rIns="0" bIns="0" rtlCol="0" anchor="ctr"/>
          <a:lstStyle/>
          <a:p>
            <a:pPr indent="0" marL="0">
              <a:buNone/>
            </a:pPr>
            <a:r>
              <a:rPr lang="en-US" sz="1100" b="1" dirty="0">
                <a:solidFill>
                  <a:srgbClr val="D9480F"/>
                </a:solidFill>
              </a:rPr>
              <a:t>SALIDA ESPERADA</a:t>
            </a:r>
            <a:endParaRPr lang="en-US" sz="1100" dirty="0"/>
          </a:p>
        </p:txBody>
      </p:sp>
      <p:sp>
        <p:nvSpPr>
          <p:cNvPr id="25" name="Shape 23"/>
          <p:cNvSpPr/>
          <p:nvPr/>
        </p:nvSpPr>
        <p:spPr>
          <a:xfrm>
            <a:off x="6172200" y="3639312"/>
            <a:ext cx="384048" cy="384048"/>
          </a:xfrm>
          <a:prstGeom prst="ellipse">
            <a:avLst/>
          </a:prstGeom>
          <a:solidFill>
            <a:srgbClr val="2B6CB0"/>
          </a:solidFill>
          <a:ln w="12700">
            <a:solidFill>
              <a:srgbClr val="2B6CB0"/>
            </a:solidFill>
            <a:prstDash val="solid"/>
          </a:ln>
        </p:spPr>
      </p:sp>
      <p:sp>
        <p:nvSpPr>
          <p:cNvPr id="26" name="Text 24"/>
          <p:cNvSpPr txBox="1"/>
          <p:nvPr/>
        </p:nvSpPr>
        <p:spPr>
          <a:xfrm>
            <a:off x="617220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27" name="Text 25"/>
          <p:cNvSpPr txBox="1"/>
          <p:nvPr/>
        </p:nvSpPr>
        <p:spPr>
          <a:xfrm>
            <a:off x="6675120" y="3621024"/>
            <a:ext cx="4846320" cy="420624"/>
          </a:xfrm>
          <a:prstGeom prst="rect">
            <a:avLst/>
          </a:prstGeom>
          <a:noFill/>
          <a:ln/>
        </p:spPr>
        <p:txBody>
          <a:bodyPr wrap="square" lIns="0" tIns="0" rIns="0" bIns="0" rtlCol="0" anchor="ctr"/>
          <a:lstStyle/>
          <a:p>
            <a:pPr indent="0" marL="0">
              <a:buNone/>
            </a:pPr>
            <a:r>
              <a:rPr lang="en-US" sz="1400" dirty="0">
                <a:solidFill>
                  <a:srgbClr val="1A202C"/>
                </a:solidFill>
              </a:rPr>
              <a:t>Contradicción texto–foto → se pregunta; plazo obligatorio</a:t>
            </a:r>
            <a:endParaRPr lang="en-US" sz="1400" dirty="0"/>
          </a:p>
        </p:txBody>
      </p:sp>
      <p:sp>
        <p:nvSpPr>
          <p:cNvPr id="28" name="Shape 26"/>
          <p:cNvSpPr/>
          <p:nvPr/>
        </p:nvSpPr>
        <p:spPr>
          <a:xfrm>
            <a:off x="6172200" y="4187952"/>
            <a:ext cx="384048" cy="384048"/>
          </a:xfrm>
          <a:prstGeom prst="ellipse">
            <a:avLst/>
          </a:prstGeom>
          <a:solidFill>
            <a:srgbClr val="2A9D8F"/>
          </a:solidFill>
          <a:ln w="12700">
            <a:solidFill>
              <a:srgbClr val="2A9D8F"/>
            </a:solidFill>
            <a:prstDash val="solid"/>
          </a:ln>
        </p:spPr>
      </p:sp>
      <p:sp>
        <p:nvSpPr>
          <p:cNvPr id="29" name="Text 27"/>
          <p:cNvSpPr txBox="1"/>
          <p:nvPr/>
        </p:nvSpPr>
        <p:spPr>
          <a:xfrm>
            <a:off x="6172200" y="41879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30" name="Text 28"/>
          <p:cNvSpPr txBox="1"/>
          <p:nvPr/>
        </p:nvSpPr>
        <p:spPr>
          <a:xfrm>
            <a:off x="6675120" y="4169664"/>
            <a:ext cx="4846320" cy="420624"/>
          </a:xfrm>
          <a:prstGeom prst="rect">
            <a:avLst/>
          </a:prstGeom>
          <a:noFill/>
          <a:ln/>
        </p:spPr>
        <p:txBody>
          <a:bodyPr wrap="square" lIns="0" tIns="0" rIns="0" bIns="0" rtlCol="0" anchor="ctr"/>
          <a:lstStyle/>
          <a:p>
            <a:pPr indent="0" marL="0">
              <a:buNone/>
            </a:pPr>
            <a:r>
              <a:rPr lang="en-US" sz="1400" dirty="0">
                <a:solidFill>
                  <a:srgbClr val="1A202C"/>
                </a:solidFill>
              </a:rPr>
              <a:t>Exterior expuesto → apto con condiciones</a:t>
            </a:r>
            <a:endParaRPr lang="en-US" sz="1400" dirty="0"/>
          </a:p>
        </p:txBody>
      </p:sp>
      <p:sp>
        <p:nvSpPr>
          <p:cNvPr id="31" name="Shape 29"/>
          <p:cNvSpPr/>
          <p:nvPr/>
        </p:nvSpPr>
        <p:spPr>
          <a:xfrm>
            <a:off x="6172200" y="4736592"/>
            <a:ext cx="384048" cy="384048"/>
          </a:xfrm>
          <a:prstGeom prst="ellipse">
            <a:avLst/>
          </a:prstGeom>
          <a:solidFill>
            <a:srgbClr val="D9480F"/>
          </a:solidFill>
          <a:ln w="12700">
            <a:solidFill>
              <a:srgbClr val="D9480F"/>
            </a:solidFill>
            <a:prstDash val="solid"/>
          </a:ln>
        </p:spPr>
      </p:sp>
      <p:sp>
        <p:nvSpPr>
          <p:cNvPr id="32" name="Text 30"/>
          <p:cNvSpPr txBox="1"/>
          <p:nvPr/>
        </p:nvSpPr>
        <p:spPr>
          <a:xfrm>
            <a:off x="6172200" y="47365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3" name="Text 31"/>
          <p:cNvSpPr txBox="1"/>
          <p:nvPr/>
        </p:nvSpPr>
        <p:spPr>
          <a:xfrm>
            <a:off x="6675120" y="4718304"/>
            <a:ext cx="4846320" cy="420624"/>
          </a:xfrm>
          <a:prstGeom prst="rect">
            <a:avLst/>
          </a:prstGeom>
          <a:noFill/>
          <a:ln/>
        </p:spPr>
        <p:txBody>
          <a:bodyPr wrap="square" lIns="0" tIns="0" rIns="0" bIns="0" rtlCol="0" anchor="ctr"/>
          <a:lstStyle/>
          <a:p>
            <a:pPr indent="0" marL="0">
              <a:buNone/>
            </a:pPr>
            <a:r>
              <a:rPr lang="en-US" sz="1400" dirty="0">
                <a:solidFill>
                  <a:srgbClr val="1A202C"/>
                </a:solidFill>
              </a:rPr>
              <a:t>Exterior → PETG</a:t>
            </a:r>
            <a:endParaRPr lang="en-US" sz="1400" dirty="0"/>
          </a:p>
        </p:txBody>
      </p:sp>
      <p:sp>
        <p:nvSpPr>
          <p:cNvPr id="34" name="Shape 32"/>
          <p:cNvSpPr/>
          <p:nvPr/>
        </p:nvSpPr>
        <p:spPr>
          <a:xfrm>
            <a:off x="6172200" y="5285232"/>
            <a:ext cx="384048" cy="384048"/>
          </a:xfrm>
          <a:prstGeom prst="ellipse">
            <a:avLst/>
          </a:prstGeom>
          <a:solidFill>
            <a:srgbClr val="D9480F"/>
          </a:solidFill>
          <a:ln w="12700">
            <a:solidFill>
              <a:srgbClr val="D9480F"/>
            </a:solidFill>
            <a:prstDash val="solid"/>
          </a:ln>
        </p:spPr>
      </p:sp>
      <p:sp>
        <p:nvSpPr>
          <p:cNvPr id="35" name="Text 33"/>
          <p:cNvSpPr txBox="1"/>
          <p:nvPr/>
        </p:nvSpPr>
        <p:spPr>
          <a:xfrm>
            <a:off x="6172200" y="52852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6" name="Text 34"/>
          <p:cNvSpPr txBox="1"/>
          <p:nvPr/>
        </p:nvSpPr>
        <p:spPr>
          <a:xfrm>
            <a:off x="6675120" y="5266944"/>
            <a:ext cx="4846320" cy="420624"/>
          </a:xfrm>
          <a:prstGeom prst="rect">
            <a:avLst/>
          </a:prstGeom>
          <a:noFill/>
          <a:ln/>
        </p:spPr>
        <p:txBody>
          <a:bodyPr wrap="square" lIns="0" tIns="0" rIns="0" bIns="0" rtlCol="0" anchor="ctr"/>
          <a:lstStyle/>
          <a:p>
            <a:pPr indent="0" marL="0">
              <a:buNone/>
            </a:pPr>
            <a:r>
              <a:rPr lang="en-US" sz="1400" dirty="0">
                <a:solidFill>
                  <a:srgbClr val="1A202C"/>
                </a:solidFill>
              </a:rPr>
              <a:t>3000 mm → letra por letra + refuerzo</a:t>
            </a:r>
            <a:endParaRPr lang="en-US" sz="1400" dirty="0"/>
          </a:p>
        </p:txBody>
      </p:sp>
      <p:sp>
        <p:nvSpPr>
          <p:cNvPr id="37" name="Text 35"/>
          <p:cNvSpPr txBox="1"/>
          <p:nvPr/>
        </p:nvSpPr>
        <p:spPr>
          <a:xfrm>
            <a:off x="502920" y="5943600"/>
            <a:ext cx="11155680" cy="365760"/>
          </a:xfrm>
          <a:prstGeom prst="rect">
            <a:avLst/>
          </a:prstGeom>
          <a:noFill/>
          <a:ln/>
        </p:spPr>
        <p:txBody>
          <a:bodyPr wrap="square" lIns="0" tIns="0" rIns="0" bIns="0" rtlCol="0" anchor="ctr"/>
          <a:lstStyle/>
          <a:p>
            <a:pPr indent="0" marL="0">
              <a:buNone/>
            </a:pPr>
            <a:r>
              <a:rPr lang="en-US" sz="1000" i="1" dirty="0">
                <a:solidFill>
                  <a:srgbClr val="8A94A6"/>
                </a:solidFill>
              </a:rPr>
              <a:t>Color del círculo = submódulo que actúa (azul Interpretación · verde Materiales · naranja Manufacturabilidad). Pedidos ilustrativos del PI2 de Matías; casos L-C1/L-C2/L-C3 de Luciano como pruebas complementarias.</a:t>
            </a:r>
            <a:endParaRPr lang="en-US" sz="10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Metodología: del experto al grafo, en capas</a:t>
            </a:r>
            <a:endParaRPr lang="en-US" sz="3000" dirty="0"/>
          </a:p>
        </p:txBody>
      </p:sp>
      <p:sp>
        <p:nvSpPr>
          <p:cNvPr id="3" name="Shape 1"/>
          <p:cNvSpPr/>
          <p:nvPr/>
        </p:nvSpPr>
        <p:spPr>
          <a:xfrm>
            <a:off x="502920" y="1234440"/>
            <a:ext cx="1737360" cy="3749040"/>
          </a:xfrm>
          <a:prstGeom prst="roundRect">
            <a:avLst>
              <a:gd name="adj" fmla="val 4211"/>
            </a:avLst>
          </a:prstGeom>
          <a:solidFill>
            <a:srgbClr val="F4F6FA"/>
          </a:solidFill>
          <a:ln w="15875">
            <a:solidFill>
              <a:srgbClr val="CBD5E0"/>
            </a:solidFill>
            <a:prstDash val="solid"/>
          </a:ln>
        </p:spPr>
      </p:sp>
      <p:sp>
        <p:nvSpPr>
          <p:cNvPr id="4" name="Shape 2"/>
          <p:cNvSpPr/>
          <p:nvPr/>
        </p:nvSpPr>
        <p:spPr>
          <a:xfrm>
            <a:off x="685800" y="1417320"/>
            <a:ext cx="502920" cy="502920"/>
          </a:xfrm>
          <a:prstGeom prst="ellipse">
            <a:avLst/>
          </a:prstGeom>
          <a:solidFill>
            <a:srgbClr val="1A202C"/>
          </a:solidFill>
          <a:ln w="12700">
            <a:solidFill>
              <a:srgbClr val="1A202C"/>
            </a:solidFill>
            <a:prstDash val="solid"/>
          </a:ln>
        </p:spPr>
      </p:sp>
      <p:sp>
        <p:nvSpPr>
          <p:cNvPr id="5" name="Text 3"/>
          <p:cNvSpPr txBox="1"/>
          <p:nvPr/>
        </p:nvSpPr>
        <p:spPr>
          <a:xfrm>
            <a:off x="68580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685800" y="2057400"/>
            <a:ext cx="1463040" cy="594360"/>
          </a:xfrm>
          <a:prstGeom prst="rect">
            <a:avLst/>
          </a:prstGeom>
          <a:noFill/>
          <a:ln/>
        </p:spPr>
        <p:txBody>
          <a:bodyPr wrap="square" lIns="0" tIns="0" rIns="0" bIns="0" rtlCol="0" anchor="t"/>
          <a:lstStyle/>
          <a:p>
            <a:pPr indent="0" marL="0">
              <a:buNone/>
            </a:pPr>
            <a:r>
              <a:rPr lang="en-US" sz="1600" b="1" dirty="0">
                <a:solidFill>
                  <a:srgbClr val="1A202C"/>
                </a:solidFill>
              </a:rPr>
              <a:t>Adquisición</a:t>
            </a:r>
            <a:endParaRPr lang="en-US" sz="1600" dirty="0"/>
          </a:p>
        </p:txBody>
      </p:sp>
      <p:sp>
        <p:nvSpPr>
          <p:cNvPr id="7" name="Text 5"/>
          <p:cNvSpPr txBox="1"/>
          <p:nvPr/>
        </p:nvSpPr>
        <p:spPr>
          <a:xfrm>
            <a:off x="685800"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PI1</a:t>
            </a:r>
            <a:endParaRPr lang="en-US" sz="1200" dirty="0"/>
          </a:p>
        </p:txBody>
      </p:sp>
      <p:sp>
        <p:nvSpPr>
          <p:cNvPr id="8" name="Text 6"/>
          <p:cNvSpPr txBox="1"/>
          <p:nvPr/>
        </p:nvSpPr>
        <p:spPr>
          <a:xfrm>
            <a:off x="685800"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Procesos, casos típicos y límite, excepciones y reglas candidatas con el experto</a:t>
            </a:r>
            <a:endParaRPr lang="en-US" sz="1300" dirty="0"/>
          </a:p>
        </p:txBody>
      </p:sp>
      <p:sp>
        <p:nvSpPr>
          <p:cNvPr id="9" name="Text 7"/>
          <p:cNvSpPr txBox="1"/>
          <p:nvPr/>
        </p:nvSpPr>
        <p:spPr>
          <a:xfrm>
            <a:off x="685800"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Anexo A</a:t>
            </a:r>
            <a:endParaRPr lang="en-US" sz="1100" dirty="0"/>
          </a:p>
        </p:txBody>
      </p:sp>
      <p:sp>
        <p:nvSpPr>
          <p:cNvPr id="10" name="Shape 8"/>
          <p:cNvSpPr/>
          <p:nvPr/>
        </p:nvSpPr>
        <p:spPr>
          <a:xfrm>
            <a:off x="2258568" y="3108960"/>
            <a:ext cx="109728" cy="914"/>
          </a:xfrm>
          <a:prstGeom prst="line">
            <a:avLst/>
          </a:prstGeom>
          <a:noFill/>
          <a:ln w="19050">
            <a:solidFill>
              <a:srgbClr val="1A202C"/>
            </a:solidFill>
            <a:prstDash val="solid"/>
            <a:tailEnd type="triangle"/>
          </a:ln>
        </p:spPr>
      </p:sp>
      <p:sp>
        <p:nvSpPr>
          <p:cNvPr id="11" name="Shape 9"/>
          <p:cNvSpPr/>
          <p:nvPr/>
        </p:nvSpPr>
        <p:spPr>
          <a:xfrm>
            <a:off x="2386584" y="1234440"/>
            <a:ext cx="1737360" cy="3749040"/>
          </a:xfrm>
          <a:prstGeom prst="roundRect">
            <a:avLst>
              <a:gd name="adj" fmla="val 4211"/>
            </a:avLst>
          </a:prstGeom>
          <a:solidFill>
            <a:srgbClr val="F4F6FA"/>
          </a:solidFill>
          <a:ln w="15875">
            <a:solidFill>
              <a:srgbClr val="CBD5E0"/>
            </a:solidFill>
            <a:prstDash val="solid"/>
          </a:ln>
        </p:spPr>
      </p:sp>
      <p:sp>
        <p:nvSpPr>
          <p:cNvPr id="12" name="Shape 10"/>
          <p:cNvSpPr/>
          <p:nvPr/>
        </p:nvSpPr>
        <p:spPr>
          <a:xfrm>
            <a:off x="2569464" y="1417320"/>
            <a:ext cx="502920" cy="502920"/>
          </a:xfrm>
          <a:prstGeom prst="ellipse">
            <a:avLst/>
          </a:prstGeom>
          <a:solidFill>
            <a:srgbClr val="1A202C"/>
          </a:solidFill>
          <a:ln w="12700">
            <a:solidFill>
              <a:srgbClr val="1A202C"/>
            </a:solidFill>
            <a:prstDash val="solid"/>
          </a:ln>
        </p:spPr>
      </p:sp>
      <p:sp>
        <p:nvSpPr>
          <p:cNvPr id="13" name="Text 11"/>
          <p:cNvSpPr txBox="1"/>
          <p:nvPr/>
        </p:nvSpPr>
        <p:spPr>
          <a:xfrm>
            <a:off x="2569464"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2"/>
          <p:cNvSpPr txBox="1"/>
          <p:nvPr/>
        </p:nvSpPr>
        <p:spPr>
          <a:xfrm>
            <a:off x="2569464" y="2057400"/>
            <a:ext cx="1463040" cy="594360"/>
          </a:xfrm>
          <a:prstGeom prst="rect">
            <a:avLst/>
          </a:prstGeom>
          <a:noFill/>
          <a:ln/>
        </p:spPr>
        <p:txBody>
          <a:bodyPr wrap="square" lIns="0" tIns="0" rIns="0" bIns="0" rtlCol="0" anchor="t"/>
          <a:lstStyle/>
          <a:p>
            <a:pPr indent="0" marL="0">
              <a:buNone/>
            </a:pPr>
            <a:r>
              <a:rPr lang="en-US" sz="1600" b="1" dirty="0">
                <a:solidFill>
                  <a:srgbClr val="1A202C"/>
                </a:solidFill>
              </a:rPr>
              <a:t>Red semántica</a:t>
            </a:r>
            <a:endParaRPr lang="en-US" sz="1600" dirty="0"/>
          </a:p>
        </p:txBody>
      </p:sp>
      <p:sp>
        <p:nvSpPr>
          <p:cNvPr id="15" name="Text 13"/>
          <p:cNvSpPr txBox="1"/>
          <p:nvPr/>
        </p:nvSpPr>
        <p:spPr>
          <a:xfrm>
            <a:off x="2569464"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PI2</a:t>
            </a:r>
            <a:endParaRPr lang="en-US" sz="1200" dirty="0"/>
          </a:p>
        </p:txBody>
      </p:sp>
      <p:sp>
        <p:nvSpPr>
          <p:cNvPr id="16" name="Text 14"/>
          <p:cNvSpPr txBox="1"/>
          <p:nvPr/>
        </p:nvSpPr>
        <p:spPr>
          <a:xfrm>
            <a:off x="2569464"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Conceptos y relaciones con verbo; jerarquías es_un</a:t>
            </a:r>
            <a:endParaRPr lang="en-US" sz="1300" dirty="0"/>
          </a:p>
        </p:txBody>
      </p:sp>
      <p:sp>
        <p:nvSpPr>
          <p:cNvPr id="17" name="Text 15"/>
          <p:cNvSpPr txBox="1"/>
          <p:nvPr/>
        </p:nvSpPr>
        <p:spPr>
          <a:xfrm>
            <a:off x="2569464"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Anexo B</a:t>
            </a:r>
            <a:endParaRPr lang="en-US" sz="1100" dirty="0"/>
          </a:p>
        </p:txBody>
      </p:sp>
      <p:sp>
        <p:nvSpPr>
          <p:cNvPr id="18" name="Shape 16"/>
          <p:cNvSpPr/>
          <p:nvPr/>
        </p:nvSpPr>
        <p:spPr>
          <a:xfrm>
            <a:off x="4142232" y="3108960"/>
            <a:ext cx="109728" cy="914"/>
          </a:xfrm>
          <a:prstGeom prst="line">
            <a:avLst/>
          </a:prstGeom>
          <a:noFill/>
          <a:ln w="19050">
            <a:solidFill>
              <a:srgbClr val="1A202C"/>
            </a:solidFill>
            <a:prstDash val="solid"/>
            <a:tailEnd type="triangle"/>
          </a:ln>
        </p:spPr>
      </p:sp>
      <p:sp>
        <p:nvSpPr>
          <p:cNvPr id="19" name="Shape 17"/>
          <p:cNvSpPr/>
          <p:nvPr/>
        </p:nvSpPr>
        <p:spPr>
          <a:xfrm>
            <a:off x="4270248" y="1234440"/>
            <a:ext cx="1737360" cy="3749040"/>
          </a:xfrm>
          <a:prstGeom prst="roundRect">
            <a:avLst>
              <a:gd name="adj" fmla="val 4211"/>
            </a:avLst>
          </a:prstGeom>
          <a:solidFill>
            <a:srgbClr val="F4F6FA"/>
          </a:solidFill>
          <a:ln w="15875">
            <a:solidFill>
              <a:srgbClr val="CBD5E0"/>
            </a:solidFill>
            <a:prstDash val="solid"/>
          </a:ln>
        </p:spPr>
      </p:sp>
      <p:sp>
        <p:nvSpPr>
          <p:cNvPr id="20" name="Shape 18"/>
          <p:cNvSpPr/>
          <p:nvPr/>
        </p:nvSpPr>
        <p:spPr>
          <a:xfrm>
            <a:off x="4453128" y="1417320"/>
            <a:ext cx="502920" cy="502920"/>
          </a:xfrm>
          <a:prstGeom prst="ellipse">
            <a:avLst/>
          </a:prstGeom>
          <a:solidFill>
            <a:srgbClr val="1A202C"/>
          </a:solidFill>
          <a:ln w="12700">
            <a:solidFill>
              <a:srgbClr val="1A202C"/>
            </a:solidFill>
            <a:prstDash val="solid"/>
          </a:ln>
        </p:spPr>
      </p:sp>
      <p:sp>
        <p:nvSpPr>
          <p:cNvPr id="21" name="Text 19"/>
          <p:cNvSpPr txBox="1"/>
          <p:nvPr/>
        </p:nvSpPr>
        <p:spPr>
          <a:xfrm>
            <a:off x="4453128"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2" name="Text 20"/>
          <p:cNvSpPr txBox="1"/>
          <p:nvPr/>
        </p:nvSpPr>
        <p:spPr>
          <a:xfrm>
            <a:off x="4453128" y="2057400"/>
            <a:ext cx="1463040" cy="594360"/>
          </a:xfrm>
          <a:prstGeom prst="rect">
            <a:avLst/>
          </a:prstGeom>
          <a:noFill/>
          <a:ln/>
        </p:spPr>
        <p:txBody>
          <a:bodyPr wrap="square" lIns="0" tIns="0" rIns="0" bIns="0" rtlCol="0" anchor="t"/>
          <a:lstStyle/>
          <a:p>
            <a:pPr indent="0" marL="0">
              <a:buNone/>
            </a:pPr>
            <a:r>
              <a:rPr lang="en-US" sz="1600" b="1" dirty="0">
                <a:solidFill>
                  <a:srgbClr val="1A202C"/>
                </a:solidFill>
              </a:rPr>
              <a:t>Frames + reglas</a:t>
            </a:r>
            <a:endParaRPr lang="en-US" sz="1600" dirty="0"/>
          </a:p>
        </p:txBody>
      </p:sp>
      <p:sp>
        <p:nvSpPr>
          <p:cNvPr id="23" name="Text 21"/>
          <p:cNvSpPr txBox="1"/>
          <p:nvPr/>
        </p:nvSpPr>
        <p:spPr>
          <a:xfrm>
            <a:off x="4453128"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PI2</a:t>
            </a:r>
            <a:endParaRPr lang="en-US" sz="1200" dirty="0"/>
          </a:p>
        </p:txBody>
      </p:sp>
      <p:sp>
        <p:nvSpPr>
          <p:cNvPr id="24" name="Text 22"/>
          <p:cNvSpPr txBox="1"/>
          <p:nvPr/>
        </p:nvSpPr>
        <p:spPr>
          <a:xfrm>
            <a:off x="4453128"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Slots, facetas y demonios; reglas SI / ENTONCES trazables</a:t>
            </a:r>
            <a:endParaRPr lang="en-US" sz="1300" dirty="0"/>
          </a:p>
        </p:txBody>
      </p:sp>
      <p:sp>
        <p:nvSpPr>
          <p:cNvPr id="25" name="Text 23"/>
          <p:cNvSpPr txBox="1"/>
          <p:nvPr/>
        </p:nvSpPr>
        <p:spPr>
          <a:xfrm>
            <a:off x="4453128"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slide 8–9</a:t>
            </a:r>
            <a:endParaRPr lang="en-US" sz="1100" dirty="0"/>
          </a:p>
        </p:txBody>
      </p:sp>
      <p:sp>
        <p:nvSpPr>
          <p:cNvPr id="26" name="Shape 24"/>
          <p:cNvSpPr/>
          <p:nvPr/>
        </p:nvSpPr>
        <p:spPr>
          <a:xfrm>
            <a:off x="6025896" y="3108960"/>
            <a:ext cx="109728" cy="914"/>
          </a:xfrm>
          <a:prstGeom prst="line">
            <a:avLst/>
          </a:prstGeom>
          <a:noFill/>
          <a:ln w="19050">
            <a:solidFill>
              <a:srgbClr val="1A202C"/>
            </a:solidFill>
            <a:prstDash val="solid"/>
            <a:tailEnd type="triangle"/>
          </a:ln>
        </p:spPr>
      </p:sp>
      <p:sp>
        <p:nvSpPr>
          <p:cNvPr id="27" name="Shape 25"/>
          <p:cNvSpPr/>
          <p:nvPr/>
        </p:nvSpPr>
        <p:spPr>
          <a:xfrm>
            <a:off x="6153912" y="1234440"/>
            <a:ext cx="1737360" cy="3749040"/>
          </a:xfrm>
          <a:prstGeom prst="roundRect">
            <a:avLst>
              <a:gd name="adj" fmla="val 4211"/>
            </a:avLst>
          </a:prstGeom>
          <a:solidFill>
            <a:srgbClr val="F4F6FA"/>
          </a:solidFill>
          <a:ln w="15875">
            <a:solidFill>
              <a:srgbClr val="CBD5E0"/>
            </a:solidFill>
            <a:prstDash val="solid"/>
          </a:ln>
        </p:spPr>
      </p:sp>
      <p:sp>
        <p:nvSpPr>
          <p:cNvPr id="28" name="Shape 26"/>
          <p:cNvSpPr/>
          <p:nvPr/>
        </p:nvSpPr>
        <p:spPr>
          <a:xfrm>
            <a:off x="6336792" y="1417320"/>
            <a:ext cx="502920" cy="502920"/>
          </a:xfrm>
          <a:prstGeom prst="ellipse">
            <a:avLst/>
          </a:prstGeom>
          <a:solidFill>
            <a:srgbClr val="1A202C"/>
          </a:solidFill>
          <a:ln w="12700">
            <a:solidFill>
              <a:srgbClr val="1A202C"/>
            </a:solidFill>
            <a:prstDash val="solid"/>
          </a:ln>
        </p:spPr>
      </p:sp>
      <p:sp>
        <p:nvSpPr>
          <p:cNvPr id="29" name="Text 27"/>
          <p:cNvSpPr txBox="1"/>
          <p:nvPr/>
        </p:nvSpPr>
        <p:spPr>
          <a:xfrm>
            <a:off x="6336792"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0" name="Text 28"/>
          <p:cNvSpPr txBox="1"/>
          <p:nvPr/>
        </p:nvSpPr>
        <p:spPr>
          <a:xfrm>
            <a:off x="6336792" y="2057400"/>
            <a:ext cx="1463040" cy="594360"/>
          </a:xfrm>
          <a:prstGeom prst="rect">
            <a:avLst/>
          </a:prstGeom>
          <a:noFill/>
          <a:ln/>
        </p:spPr>
        <p:txBody>
          <a:bodyPr wrap="square" lIns="0" tIns="0" rIns="0" bIns="0" rtlCol="0" anchor="t"/>
          <a:lstStyle/>
          <a:p>
            <a:pPr indent="0" marL="0">
              <a:buNone/>
            </a:pPr>
            <a:r>
              <a:rPr lang="en-US" sz="1600" b="1" dirty="0">
                <a:solidFill>
                  <a:srgbClr val="1A202C"/>
                </a:solidFill>
              </a:rPr>
              <a:t>Integración</a:t>
            </a:r>
            <a:endParaRPr lang="en-US" sz="1600" dirty="0"/>
          </a:p>
        </p:txBody>
      </p:sp>
      <p:sp>
        <p:nvSpPr>
          <p:cNvPr id="31" name="Text 29"/>
          <p:cNvSpPr txBox="1"/>
          <p:nvPr/>
        </p:nvSpPr>
        <p:spPr>
          <a:xfrm>
            <a:off x="6336792"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PG1</a:t>
            </a:r>
            <a:endParaRPr lang="en-US" sz="1200" dirty="0"/>
          </a:p>
        </p:txBody>
      </p:sp>
      <p:sp>
        <p:nvSpPr>
          <p:cNvPr id="32" name="Text 30"/>
          <p:cNvSpPr txBox="1"/>
          <p:nvPr/>
        </p:nvSpPr>
        <p:spPr>
          <a:xfrm>
            <a:off x="6336792"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Nombres unificados: una red y una jerarquía (Lautaro desde su PI1)</a:t>
            </a:r>
            <a:endParaRPr lang="en-US" sz="1300" dirty="0"/>
          </a:p>
        </p:txBody>
      </p:sp>
      <p:sp>
        <p:nvSpPr>
          <p:cNvPr id="33" name="Text 31"/>
          <p:cNvSpPr txBox="1"/>
          <p:nvPr/>
        </p:nvSpPr>
        <p:spPr>
          <a:xfrm>
            <a:off x="6336792"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slide 6–7</a:t>
            </a:r>
            <a:endParaRPr lang="en-US" sz="1100" dirty="0"/>
          </a:p>
        </p:txBody>
      </p:sp>
      <p:sp>
        <p:nvSpPr>
          <p:cNvPr id="34" name="Shape 32"/>
          <p:cNvSpPr/>
          <p:nvPr/>
        </p:nvSpPr>
        <p:spPr>
          <a:xfrm>
            <a:off x="7909560" y="3108960"/>
            <a:ext cx="109728" cy="914"/>
          </a:xfrm>
          <a:prstGeom prst="line">
            <a:avLst/>
          </a:prstGeom>
          <a:noFill/>
          <a:ln w="19050">
            <a:solidFill>
              <a:srgbClr val="1A202C"/>
            </a:solidFill>
            <a:prstDash val="solid"/>
            <a:tailEnd type="triangle"/>
          </a:ln>
        </p:spPr>
      </p:sp>
      <p:sp>
        <p:nvSpPr>
          <p:cNvPr id="35" name="Shape 33"/>
          <p:cNvSpPr/>
          <p:nvPr/>
        </p:nvSpPr>
        <p:spPr>
          <a:xfrm>
            <a:off x="8037576" y="1234440"/>
            <a:ext cx="1737360" cy="3749040"/>
          </a:xfrm>
          <a:prstGeom prst="roundRect">
            <a:avLst>
              <a:gd name="adj" fmla="val 4211"/>
            </a:avLst>
          </a:prstGeom>
          <a:solidFill>
            <a:srgbClr val="FFF0F6"/>
          </a:solidFill>
          <a:ln w="15875">
            <a:solidFill>
              <a:srgbClr val="FF2E88"/>
            </a:solidFill>
            <a:prstDash val="solid"/>
          </a:ln>
        </p:spPr>
      </p:sp>
      <p:sp>
        <p:nvSpPr>
          <p:cNvPr id="36" name="Shape 34"/>
          <p:cNvSpPr/>
          <p:nvPr/>
        </p:nvSpPr>
        <p:spPr>
          <a:xfrm>
            <a:off x="8220456" y="1417320"/>
            <a:ext cx="502920" cy="502920"/>
          </a:xfrm>
          <a:prstGeom prst="ellipse">
            <a:avLst/>
          </a:prstGeom>
          <a:solidFill>
            <a:srgbClr val="FF2E88"/>
          </a:solidFill>
          <a:ln w="12700">
            <a:solidFill>
              <a:srgbClr val="FF2E88"/>
            </a:solidFill>
            <a:prstDash val="solid"/>
          </a:ln>
        </p:spPr>
      </p:sp>
      <p:sp>
        <p:nvSpPr>
          <p:cNvPr id="37" name="Text 35"/>
          <p:cNvSpPr txBox="1"/>
          <p:nvPr/>
        </p:nvSpPr>
        <p:spPr>
          <a:xfrm>
            <a:off x="8220456"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8" name="Text 36"/>
          <p:cNvSpPr txBox="1"/>
          <p:nvPr/>
        </p:nvSpPr>
        <p:spPr>
          <a:xfrm>
            <a:off x="8220456" y="2057400"/>
            <a:ext cx="1463040" cy="594360"/>
          </a:xfrm>
          <a:prstGeom prst="rect">
            <a:avLst/>
          </a:prstGeom>
          <a:noFill/>
          <a:ln/>
        </p:spPr>
        <p:txBody>
          <a:bodyPr wrap="square" lIns="0" tIns="0" rIns="0" bIns="0" rtlCol="0" anchor="t"/>
          <a:lstStyle/>
          <a:p>
            <a:pPr indent="0" marL="0">
              <a:buNone/>
            </a:pPr>
            <a:r>
              <a:rPr lang="en-US" sz="1600" b="1" dirty="0">
                <a:solidFill>
                  <a:srgbClr val="FF2E88"/>
                </a:solidFill>
              </a:rPr>
              <a:t>Neo4j</a:t>
            </a:r>
            <a:endParaRPr lang="en-US" sz="1600" dirty="0"/>
          </a:p>
        </p:txBody>
      </p:sp>
      <p:sp>
        <p:nvSpPr>
          <p:cNvPr id="39" name="Text 37"/>
          <p:cNvSpPr txBox="1"/>
          <p:nvPr/>
        </p:nvSpPr>
        <p:spPr>
          <a:xfrm>
            <a:off x="8220456"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hoy</a:t>
            </a:r>
            <a:endParaRPr lang="en-US" sz="1200" dirty="0"/>
          </a:p>
        </p:txBody>
      </p:sp>
      <p:sp>
        <p:nvSpPr>
          <p:cNvPr id="40" name="Text 38"/>
          <p:cNvSpPr txBox="1"/>
          <p:nvPr/>
        </p:nvSpPr>
        <p:spPr>
          <a:xfrm>
            <a:off x="8220456"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Esquema, modelo, instancias y reglas como consultas Cypher</a:t>
            </a:r>
            <a:endParaRPr lang="en-US" sz="1300" dirty="0"/>
          </a:p>
        </p:txBody>
      </p:sp>
      <p:sp>
        <p:nvSpPr>
          <p:cNvPr id="41" name="Text 39"/>
          <p:cNvSpPr txBox="1"/>
          <p:nvPr/>
        </p:nvSpPr>
        <p:spPr>
          <a:xfrm>
            <a:off x="8220456"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demo</a:t>
            </a:r>
            <a:endParaRPr lang="en-US" sz="1100" dirty="0"/>
          </a:p>
        </p:txBody>
      </p:sp>
      <p:sp>
        <p:nvSpPr>
          <p:cNvPr id="42" name="Shape 40"/>
          <p:cNvSpPr/>
          <p:nvPr/>
        </p:nvSpPr>
        <p:spPr>
          <a:xfrm>
            <a:off x="9793224" y="3108960"/>
            <a:ext cx="109728" cy="914"/>
          </a:xfrm>
          <a:prstGeom prst="line">
            <a:avLst/>
          </a:prstGeom>
          <a:noFill/>
          <a:ln w="19050">
            <a:solidFill>
              <a:srgbClr val="1A202C"/>
            </a:solidFill>
            <a:prstDash val="solid"/>
            <a:tailEnd type="triangle"/>
          </a:ln>
        </p:spPr>
      </p:sp>
      <p:sp>
        <p:nvSpPr>
          <p:cNvPr id="43" name="Shape 41"/>
          <p:cNvSpPr/>
          <p:nvPr/>
        </p:nvSpPr>
        <p:spPr>
          <a:xfrm>
            <a:off x="9921240" y="1234440"/>
            <a:ext cx="1737360" cy="3749040"/>
          </a:xfrm>
          <a:prstGeom prst="roundRect">
            <a:avLst>
              <a:gd name="adj" fmla="val 4211"/>
            </a:avLst>
          </a:prstGeom>
          <a:solidFill>
            <a:srgbClr val="F4F6FA"/>
          </a:solidFill>
          <a:ln w="15875">
            <a:solidFill>
              <a:srgbClr val="CBD5E0"/>
            </a:solidFill>
            <a:prstDash val="solid"/>
          </a:ln>
        </p:spPr>
      </p:sp>
      <p:sp>
        <p:nvSpPr>
          <p:cNvPr id="44" name="Shape 42"/>
          <p:cNvSpPr/>
          <p:nvPr/>
        </p:nvSpPr>
        <p:spPr>
          <a:xfrm>
            <a:off x="10104120" y="1417320"/>
            <a:ext cx="502920" cy="502920"/>
          </a:xfrm>
          <a:prstGeom prst="ellipse">
            <a:avLst/>
          </a:prstGeom>
          <a:solidFill>
            <a:srgbClr val="8A94A6"/>
          </a:solidFill>
          <a:ln w="12700">
            <a:solidFill>
              <a:srgbClr val="8A94A6"/>
            </a:solidFill>
            <a:prstDash val="solid"/>
          </a:ln>
        </p:spPr>
      </p:sp>
      <p:sp>
        <p:nvSpPr>
          <p:cNvPr id="45" name="Text 43"/>
          <p:cNvSpPr txBox="1"/>
          <p:nvPr/>
        </p:nvSpPr>
        <p:spPr>
          <a:xfrm>
            <a:off x="1010412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46" name="Text 44"/>
          <p:cNvSpPr txBox="1"/>
          <p:nvPr/>
        </p:nvSpPr>
        <p:spPr>
          <a:xfrm>
            <a:off x="10104120" y="2057400"/>
            <a:ext cx="1463040" cy="594360"/>
          </a:xfrm>
          <a:prstGeom prst="rect">
            <a:avLst/>
          </a:prstGeom>
          <a:noFill/>
          <a:ln/>
        </p:spPr>
        <p:txBody>
          <a:bodyPr wrap="square" lIns="0" tIns="0" rIns="0" bIns="0" rtlCol="0" anchor="t"/>
          <a:lstStyle/>
          <a:p>
            <a:pPr indent="0" marL="0">
              <a:buNone/>
            </a:pPr>
            <a:r>
              <a:rPr lang="en-US" sz="1600" b="1" dirty="0">
                <a:solidFill>
                  <a:srgbClr val="8A94A6"/>
                </a:solidFill>
              </a:rPr>
              <a:t>Difusa</a:t>
            </a:r>
            <a:endParaRPr lang="en-US" sz="1600" dirty="0"/>
          </a:p>
        </p:txBody>
      </p:sp>
      <p:sp>
        <p:nvSpPr>
          <p:cNvPr id="47" name="Text 45"/>
          <p:cNvSpPr txBox="1"/>
          <p:nvPr/>
        </p:nvSpPr>
        <p:spPr>
          <a:xfrm>
            <a:off x="10104120" y="2651760"/>
            <a:ext cx="1463040" cy="274320"/>
          </a:xfrm>
          <a:prstGeom prst="rect">
            <a:avLst/>
          </a:prstGeom>
          <a:noFill/>
          <a:ln/>
        </p:spPr>
        <p:txBody>
          <a:bodyPr wrap="square" lIns="0" tIns="0" rIns="0" bIns="0" rtlCol="0" anchor="ctr"/>
          <a:lstStyle/>
          <a:p>
            <a:pPr indent="0" marL="0">
              <a:buNone/>
            </a:pPr>
            <a:r>
              <a:rPr lang="en-US" sz="1200" b="1" dirty="0">
                <a:solidFill>
                  <a:srgbClr val="5A6578"/>
                </a:solidFill>
              </a:rPr>
              <a:t>PI3</a:t>
            </a:r>
            <a:endParaRPr lang="en-US" sz="1200" dirty="0"/>
          </a:p>
        </p:txBody>
      </p:sp>
      <p:sp>
        <p:nvSpPr>
          <p:cNvPr id="48" name="Text 46"/>
          <p:cNvSpPr txBox="1"/>
          <p:nvPr/>
        </p:nvSpPr>
        <p:spPr>
          <a:xfrm>
            <a:off x="10104120" y="3017520"/>
            <a:ext cx="1463040" cy="1463040"/>
          </a:xfrm>
          <a:prstGeom prst="rect">
            <a:avLst/>
          </a:prstGeom>
          <a:noFill/>
          <a:ln/>
        </p:spPr>
        <p:txBody>
          <a:bodyPr wrap="square" lIns="0" tIns="0" rIns="0" bIns="0" rtlCol="0" anchor="t"/>
          <a:lstStyle/>
          <a:p>
            <a:pPr indent="0" marL="0">
              <a:buNone/>
            </a:pPr>
            <a:r>
              <a:rPr lang="en-US" sz="1300" dirty="0">
                <a:solidFill>
                  <a:srgbClr val="1A202C"/>
                </a:solidFill>
              </a:rPr>
              <a:t>Variables candidatas identificadas; sin funciones inventadas</a:t>
            </a:r>
            <a:endParaRPr lang="en-US" sz="1300" dirty="0"/>
          </a:p>
        </p:txBody>
      </p:sp>
      <p:sp>
        <p:nvSpPr>
          <p:cNvPr id="49" name="Text 47"/>
          <p:cNvSpPr txBox="1"/>
          <p:nvPr/>
        </p:nvSpPr>
        <p:spPr>
          <a:xfrm>
            <a:off x="10104120" y="4526280"/>
            <a:ext cx="1463040" cy="274320"/>
          </a:xfrm>
          <a:prstGeom prst="rect">
            <a:avLst/>
          </a:prstGeom>
          <a:noFill/>
          <a:ln/>
        </p:spPr>
        <p:txBody>
          <a:bodyPr wrap="square" lIns="0" tIns="0" rIns="0" bIns="0" rtlCol="0" anchor="ctr"/>
          <a:lstStyle/>
          <a:p>
            <a:pPr indent="0" marL="0">
              <a:buNone/>
            </a:pPr>
            <a:r>
              <a:rPr lang="en-US" sz="1100" i="1" dirty="0">
                <a:solidFill>
                  <a:srgbClr val="5A6578"/>
                </a:solidFill>
              </a:rPr>
              <a:t>→ slide 10</a:t>
            </a:r>
            <a:endParaRPr lang="en-US" sz="1100" dirty="0"/>
          </a:p>
        </p:txBody>
      </p:sp>
      <p:sp>
        <p:nvSpPr>
          <p:cNvPr id="50" name="Text 48"/>
          <p:cNvSpPr txBox="1"/>
          <p:nvPr/>
        </p:nvSpPr>
        <p:spPr>
          <a:xfrm>
            <a:off x="502920" y="5303520"/>
            <a:ext cx="11155680" cy="640080"/>
          </a:xfrm>
          <a:prstGeom prst="rect">
            <a:avLst/>
          </a:prstGeom>
          <a:noFill/>
          <a:ln/>
        </p:spPr>
        <p:txBody>
          <a:bodyPr wrap="square" lIns="0" tIns="0" rIns="0" bIns="0" rtlCol="0" anchor="ctr"/>
          <a:lstStyle/>
          <a:p>
            <a:pPr indent="0" marL="0">
              <a:buNone/>
            </a:pPr>
            <a:r>
              <a:rPr lang="en-US" sz="1400" b="1" dirty="0">
                <a:solidFill>
                  <a:srgbClr val="1A202C"/>
                </a:solidFill>
              </a:rPr>
              <a:t>Cada regla lleva su origen: </a:t>
            </a:r>
            <a:pPr indent="0" marL="0">
              <a:buNone/>
            </a:pPr>
            <a:r>
              <a:rPr lang="en-US" sz="1400" dirty="0">
                <a:solidFill>
                  <a:srgbClr val="1A202C"/>
                </a:solidFill>
              </a:rPr>
              <a:t>experto · propuesta · documental.  </a:t>
            </a:r>
            <a:pPr indent="0" marL="0">
              <a:buNone/>
            </a:pPr>
            <a:r>
              <a:rPr lang="en-US" sz="1400" dirty="0">
                <a:solidFill>
                  <a:srgbClr val="1A202C"/>
                </a:solidFill>
              </a:rPr>
              <a:t>Lo que no se relevó queda </a:t>
            </a:r>
            <a:pPr indent="0" marL="0">
              <a:buNone/>
            </a:pPr>
            <a:r>
              <a:rPr lang="en-US" sz="1400" b="1" dirty="0">
                <a:solidFill>
                  <a:srgbClr val="FF2E88"/>
                </a:solidFill>
              </a:rPr>
              <a:t>[PENDIENTE]</a:t>
            </a:r>
            <a:pPr indent="0" marL="0">
              <a:buNone/>
            </a:pPr>
            <a:r>
              <a:rPr lang="en-US" sz="1400" dirty="0">
                <a:solidFill>
                  <a:srgbClr val="1A202C"/>
                </a:solidFill>
              </a:rPr>
              <a:t> (no se inventan umbrales).  Lautaro no tiene PI2: su parte sale de su PI1.</a:t>
            </a:r>
            <a:endParaRPr lang="en-US" sz="14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Red semántica integrada: un concepto, un nombre, un grafo</a:t>
            </a:r>
            <a:endParaRPr lang="en-US" sz="3000" dirty="0"/>
          </a:p>
        </p:txBody>
      </p:sp>
      <p:pic>
        <p:nvPicPr>
          <p:cNvPr id="3" name="Image 0" descr="D:\University\Quinto\IA\Proyecto IA\salida\img\red_semantica_integrada.png">    </p:cNvPr>
          <p:cNvPicPr>
            <a:picLocks noChangeAspect="1"/>
          </p:cNvPicPr>
          <p:nvPr/>
        </p:nvPicPr>
        <p:blipFill>
          <a:blip r:embed="rId1"/>
          <a:stretch>
            <a:fillRect/>
          </a:stretch>
        </p:blipFill>
        <p:spPr>
          <a:xfrm>
            <a:off x="411480" y="1250618"/>
            <a:ext cx="8595360" cy="4859684"/>
          </a:xfrm>
          <a:prstGeom prst="rect">
            <a:avLst/>
          </a:prstGeom>
        </p:spPr>
      </p:pic>
      <p:sp>
        <p:nvSpPr>
          <p:cNvPr id="4" name="Text 1"/>
          <p:cNvSpPr txBox="1"/>
          <p:nvPr/>
        </p:nvSpPr>
        <p:spPr>
          <a:xfrm>
            <a:off x="9189720" y="1143000"/>
            <a:ext cx="2560320" cy="320040"/>
          </a:xfrm>
          <a:prstGeom prst="rect">
            <a:avLst/>
          </a:prstGeom>
          <a:noFill/>
          <a:ln/>
        </p:spPr>
        <p:txBody>
          <a:bodyPr wrap="square" lIns="0" tIns="0" rIns="0" bIns="0" rtlCol="0" anchor="ctr"/>
          <a:lstStyle/>
          <a:p>
            <a:pPr indent="0" marL="0">
              <a:buNone/>
            </a:pPr>
            <a:r>
              <a:rPr lang="en-US" sz="1500" b="1" dirty="0">
                <a:solidFill>
                  <a:srgbClr val="FF2E88"/>
                </a:solidFill>
              </a:rPr>
              <a:t>Reglas de diseño</a:t>
            </a:r>
            <a:endParaRPr lang="en-US" sz="1500" dirty="0"/>
          </a:p>
        </p:txBody>
      </p:sp>
      <p:sp>
        <p:nvSpPr>
          <p:cNvPr id="5" name="Text 2"/>
          <p:cNvSpPr txBox="1"/>
          <p:nvPr/>
        </p:nvSpPr>
        <p:spPr>
          <a:xfrm>
            <a:off x="9189720" y="1554480"/>
            <a:ext cx="2560320" cy="292608"/>
          </a:xfrm>
          <a:prstGeom prst="rect">
            <a:avLst/>
          </a:prstGeom>
          <a:noFill/>
          <a:ln/>
        </p:spPr>
        <p:txBody>
          <a:bodyPr wrap="square" lIns="0" tIns="0" rIns="0" bIns="0" rtlCol="0" anchor="ctr"/>
          <a:lstStyle/>
          <a:p>
            <a:pPr indent="0" marL="0">
              <a:buNone/>
            </a:pPr>
            <a:r>
              <a:rPr lang="en-US" sz="1400" b="1" dirty="0">
                <a:solidFill>
                  <a:srgbClr val="1A202C"/>
                </a:solidFill>
              </a:rPr>
              <a:t>Verbos dirigidos</a:t>
            </a:r>
            <a:endParaRPr lang="en-US" sz="1400" dirty="0"/>
          </a:p>
        </p:txBody>
      </p:sp>
      <p:sp>
        <p:nvSpPr>
          <p:cNvPr id="6" name="Text 3"/>
          <p:cNvSpPr txBox="1"/>
          <p:nvPr/>
        </p:nvSpPr>
        <p:spPr>
          <a:xfrm>
            <a:off x="9189720" y="1847088"/>
            <a:ext cx="2560320" cy="548640"/>
          </a:xfrm>
          <a:prstGeom prst="rect">
            <a:avLst/>
          </a:prstGeom>
          <a:noFill/>
          <a:ln/>
        </p:spPr>
        <p:txBody>
          <a:bodyPr wrap="square" lIns="0" tIns="0" rIns="0" bIns="0" rtlCol="0" anchor="t"/>
          <a:lstStyle/>
          <a:p>
            <a:pPr indent="0" marL="0">
              <a:buNone/>
            </a:pPr>
            <a:r>
              <a:rPr lang="en-US" sz="1200" dirty="0">
                <a:solidFill>
                  <a:srgbClr val="5A6578"/>
                </a:solidFill>
              </a:rPr>
              <a:t>el mismo verbo en el esquema y en las instancias</a:t>
            </a:r>
            <a:endParaRPr lang="en-US" sz="1200" dirty="0"/>
          </a:p>
        </p:txBody>
      </p:sp>
      <p:sp>
        <p:nvSpPr>
          <p:cNvPr id="7" name="Text 4"/>
          <p:cNvSpPr txBox="1"/>
          <p:nvPr/>
        </p:nvSpPr>
        <p:spPr>
          <a:xfrm>
            <a:off x="9189720" y="2468880"/>
            <a:ext cx="2560320" cy="292608"/>
          </a:xfrm>
          <a:prstGeom prst="rect">
            <a:avLst/>
          </a:prstGeom>
          <a:noFill/>
          <a:ln/>
        </p:spPr>
        <p:txBody>
          <a:bodyPr wrap="square" lIns="0" tIns="0" rIns="0" bIns="0" rtlCol="0" anchor="ctr"/>
          <a:lstStyle/>
          <a:p>
            <a:pPr indent="0" marL="0">
              <a:buNone/>
            </a:pPr>
            <a:r>
              <a:rPr lang="en-US" sz="1400" b="1" dirty="0">
                <a:solidFill>
                  <a:srgbClr val="1A202C"/>
                </a:solidFill>
              </a:rPr>
              <a:t>Sin sinónimos</a:t>
            </a:r>
            <a:endParaRPr lang="en-US" sz="1400" dirty="0"/>
          </a:p>
        </p:txBody>
      </p:sp>
      <p:sp>
        <p:nvSpPr>
          <p:cNvPr id="8" name="Text 5"/>
          <p:cNvSpPr txBox="1"/>
          <p:nvPr/>
        </p:nvSpPr>
        <p:spPr>
          <a:xfrm>
            <a:off x="9189720" y="2761488"/>
            <a:ext cx="2560320" cy="548640"/>
          </a:xfrm>
          <a:prstGeom prst="rect">
            <a:avLst/>
          </a:prstGeom>
          <a:noFill/>
          <a:ln/>
        </p:spPr>
        <p:txBody>
          <a:bodyPr wrap="square" lIns="0" tIns="0" rIns="0" bIns="0" rtlCol="0" anchor="t"/>
          <a:lstStyle/>
          <a:p>
            <a:pPr indent="0" marL="0">
              <a:buNone/>
            </a:pPr>
            <a:r>
              <a:rPr lang="en-US" sz="1200" dirty="0">
                <a:solidFill>
                  <a:srgbClr val="5A6578"/>
                </a:solidFill>
              </a:rPr>
              <a:t>Diseño → Cartel · «restricción detectada» → Conflicto</a:t>
            </a:r>
            <a:endParaRPr lang="en-US" sz="1200" dirty="0"/>
          </a:p>
        </p:txBody>
      </p:sp>
      <p:sp>
        <p:nvSpPr>
          <p:cNvPr id="9" name="Text 6"/>
          <p:cNvSpPr txBox="1"/>
          <p:nvPr/>
        </p:nvSpPr>
        <p:spPr>
          <a:xfrm>
            <a:off x="9189720" y="3383280"/>
            <a:ext cx="2560320" cy="292608"/>
          </a:xfrm>
          <a:prstGeom prst="rect">
            <a:avLst/>
          </a:prstGeom>
          <a:noFill/>
          <a:ln/>
        </p:spPr>
        <p:txBody>
          <a:bodyPr wrap="square" lIns="0" tIns="0" rIns="0" bIns="0" rtlCol="0" anchor="ctr"/>
          <a:lstStyle/>
          <a:p>
            <a:pPr indent="0" marL="0">
              <a:buNone/>
            </a:pPr>
            <a:r>
              <a:rPr lang="en-US" sz="1400" b="1" dirty="0">
                <a:solidFill>
                  <a:srgbClr val="1A202C"/>
                </a:solidFill>
              </a:rPr>
              <a:t>Límite ≠ hallazgo</a:t>
            </a:r>
            <a:endParaRPr lang="en-US" sz="1400" dirty="0"/>
          </a:p>
        </p:txBody>
      </p:sp>
      <p:sp>
        <p:nvSpPr>
          <p:cNvPr id="10" name="Text 7"/>
          <p:cNvSpPr txBox="1"/>
          <p:nvPr/>
        </p:nvSpPr>
        <p:spPr>
          <a:xfrm>
            <a:off x="9189720" y="3675888"/>
            <a:ext cx="2560320" cy="548640"/>
          </a:xfrm>
          <a:prstGeom prst="rect">
            <a:avLst/>
          </a:prstGeom>
          <a:noFill/>
          <a:ln/>
        </p:spPr>
        <p:txBody>
          <a:bodyPr wrap="square" lIns="0" tIns="0" rIns="0" bIns="0" rtlCol="0" anchor="t"/>
          <a:lstStyle/>
          <a:p>
            <a:pPr indent="0" marL="0">
              <a:buNone/>
            </a:pPr>
            <a:r>
              <a:rPr lang="en-US" sz="1200" dirty="0">
                <a:solidFill>
                  <a:srgbClr val="5A6578"/>
                </a:solidFill>
              </a:rPr>
              <a:t>RestricciónConstructiva se viola → Conflicto</a:t>
            </a:r>
            <a:endParaRPr lang="en-US" sz="1200" dirty="0"/>
          </a:p>
        </p:txBody>
      </p:sp>
      <p:sp>
        <p:nvSpPr>
          <p:cNvPr id="11" name="Text 8"/>
          <p:cNvSpPr txBox="1"/>
          <p:nvPr/>
        </p:nvSpPr>
        <p:spPr>
          <a:xfrm>
            <a:off x="9189720" y="4297680"/>
            <a:ext cx="2560320" cy="292608"/>
          </a:xfrm>
          <a:prstGeom prst="rect">
            <a:avLst/>
          </a:prstGeom>
          <a:noFill/>
          <a:ln/>
        </p:spPr>
        <p:txBody>
          <a:bodyPr wrap="square" lIns="0" tIns="0" rIns="0" bIns="0" rtlCol="0" anchor="ctr"/>
          <a:lstStyle/>
          <a:p>
            <a:pPr indent="0" marL="0">
              <a:buNone/>
            </a:pPr>
            <a:r>
              <a:rPr lang="en-US" sz="1400" b="1" dirty="0">
                <a:solidFill>
                  <a:srgbClr val="1A202C"/>
                </a:solidFill>
              </a:rPr>
              <a:t>Nodos compartidos</a:t>
            </a:r>
            <a:endParaRPr lang="en-US" sz="1400" dirty="0"/>
          </a:p>
        </p:txBody>
      </p:sp>
      <p:sp>
        <p:nvSpPr>
          <p:cNvPr id="12" name="Text 9"/>
          <p:cNvSpPr txBox="1"/>
          <p:nvPr/>
        </p:nvSpPr>
        <p:spPr>
          <a:xfrm>
            <a:off x="9189720" y="4590288"/>
            <a:ext cx="2560320" cy="548640"/>
          </a:xfrm>
          <a:prstGeom prst="rect">
            <a:avLst/>
          </a:prstGeom>
          <a:noFill/>
          <a:ln/>
        </p:spPr>
        <p:txBody>
          <a:bodyPr wrap="square" lIns="0" tIns="0" rIns="0" bIns="0" rtlCol="0" anchor="t"/>
          <a:lstStyle/>
          <a:p>
            <a:pPr indent="0" marL="0">
              <a:buNone/>
            </a:pPr>
            <a:r>
              <a:rPr lang="en-US" sz="1200" dirty="0">
                <a:solidFill>
                  <a:srgbClr val="5A6578"/>
                </a:solidFill>
              </a:rPr>
              <a:t>Ficha, Cartel, Conflicto unen submódulos</a:t>
            </a:r>
            <a:endParaRPr lang="en-US" sz="1200" dirty="0"/>
          </a:p>
        </p:txBody>
      </p:sp>
      <p:sp>
        <p:nvSpPr>
          <p:cNvPr id="13" name="Text 10"/>
          <p:cNvSpPr txBox="1"/>
          <p:nvPr/>
        </p:nvSpPr>
        <p:spPr>
          <a:xfrm>
            <a:off x="9189720" y="5212080"/>
            <a:ext cx="2560320" cy="292608"/>
          </a:xfrm>
          <a:prstGeom prst="rect">
            <a:avLst/>
          </a:prstGeom>
          <a:noFill/>
          <a:ln/>
        </p:spPr>
        <p:txBody>
          <a:bodyPr wrap="square" lIns="0" tIns="0" rIns="0" bIns="0" rtlCol="0" anchor="ctr"/>
          <a:lstStyle/>
          <a:p>
            <a:pPr indent="0" marL="0">
              <a:buNone/>
            </a:pPr>
            <a:r>
              <a:rPr lang="en-US" sz="1400" b="1" dirty="0">
                <a:solidFill>
                  <a:srgbClr val="1A202C"/>
                </a:solidFill>
              </a:rPr>
              <a:t>Trazable</a:t>
            </a:r>
            <a:endParaRPr lang="en-US" sz="1400" dirty="0"/>
          </a:p>
        </p:txBody>
      </p:sp>
      <p:sp>
        <p:nvSpPr>
          <p:cNvPr id="14" name="Text 11"/>
          <p:cNvSpPr txBox="1"/>
          <p:nvPr/>
        </p:nvSpPr>
        <p:spPr>
          <a:xfrm>
            <a:off x="9189720" y="5504688"/>
            <a:ext cx="2560320" cy="548640"/>
          </a:xfrm>
          <a:prstGeom prst="rect">
            <a:avLst/>
          </a:prstGeom>
          <a:noFill/>
          <a:ln/>
        </p:spPr>
        <p:txBody>
          <a:bodyPr wrap="square" lIns="0" tIns="0" rIns="0" bIns="0" rtlCol="0" anchor="t"/>
          <a:lstStyle/>
          <a:p>
            <a:pPr indent="0" marL="0">
              <a:buNone/>
            </a:pPr>
            <a:r>
              <a:rPr lang="en-US" sz="1200" dirty="0">
                <a:solidFill>
                  <a:srgbClr val="5A6578"/>
                </a:solidFill>
              </a:rPr>
              <a:t>cada relación inferida guarda su regla</a:t>
            </a:r>
            <a:endParaRPr lang="en-US" sz="12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De la red a los marcos: cada concepto es un frame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2377440"/>
                <a:gridCol w="4206240"/>
                <a:gridCol w="4572000"/>
              </a:tblGrid>
              <a:tr h="384048">
                <a:tc>
                  <a:txBody>
                    <a:bodyPr/>
                    <a:lstStyle/>
                    <a:p>
                      <a:pPr indent="0" marL="0">
                        <a:buNone/>
                      </a:pPr>
                      <a:r>
                        <a:rPr lang="en-US" sz="1400" b="1" dirty="0">
                          <a:solidFill>
                            <a:srgbClr val="FFFFFF"/>
                          </a:solidFill>
                        </a:rPr>
                        <a:t>Red semántica</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400" b="1" dirty="0">
                          <a:solidFill>
                            <a:srgbClr val="FFFFFF"/>
                          </a:solidFill>
                        </a:rPr>
                        <a:t>Marco (frame)</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400" b="1" dirty="0">
                          <a:solidFill>
                            <a:srgbClr val="FFFFFF"/>
                          </a:solidFill>
                        </a:rPr>
                        <a:t>Neo4j</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r>
              <a:tr h="384048">
                <a:tc>
                  <a:txBody>
                    <a:bodyPr/>
                    <a:lstStyle/>
                    <a:p>
                      <a:pPr indent="0" marL="0">
                        <a:buNone/>
                      </a:pPr>
                      <a:r>
                        <a:rPr lang="en-US" sz="1400" dirty="0">
                          <a:solidFill>
                            <a:srgbClr val="1A202C"/>
                          </a:solidFill>
                        </a:rPr>
                        <a:t>Concepto</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400" dirty="0">
                          <a:solidFill>
                            <a:srgbClr val="1A202C"/>
                          </a:solidFill>
                        </a:rPr>
                        <a:t>Frame</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(:Frame {nombre, submodulo})</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A202C"/>
                          </a:solidFill>
                        </a:rPr>
                        <a:t>Atributo</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400" dirty="0">
                          <a:solidFill>
                            <a:srgbClr val="1A202C"/>
                          </a:solidFill>
                        </a:rPr>
                        <a:t>Slot</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(:Frame)-[:TIENE_SLOT]-&gt;(:Slot)</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384048">
                <a:tc>
                  <a:txBody>
                    <a:bodyPr/>
                    <a:lstStyle/>
                    <a:p>
                      <a:pPr indent="0" marL="0">
                        <a:buNone/>
                      </a:pPr>
                      <a:r>
                        <a:rPr lang="en-US" sz="1400" dirty="0">
                          <a:solidFill>
                            <a:srgbClr val="1A202C"/>
                          </a:solidFill>
                        </a:rPr>
                        <a:t>Restricción del atributo</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400" dirty="0">
                          <a:solidFill>
                            <a:srgbClr val="1A202C"/>
                          </a:solidFill>
                        </a:rPr>
                        <a:t>Faceta (tipo, rango, defecto, card.)</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propiedades del :Slot</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A202C"/>
                          </a:solidFill>
                        </a:rPr>
                        <a:t>Procedimiento</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400" dirty="0">
                          <a:solidFill>
                            <a:srgbClr val="1A202C"/>
                          </a:solidFill>
                        </a:rPr>
                        <a:t>Demonio (si_necesario / si_agregado / si_modificado)</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propiedad + consulta Cypher</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384048">
                <a:tc>
                  <a:txBody>
                    <a:bodyPr/>
                    <a:lstStyle/>
                    <a:p>
                      <a:pPr indent="0" marL="0">
                        <a:buNone/>
                      </a:pPr>
                      <a:r>
                        <a:rPr lang="en-US" sz="1400" dirty="0">
                          <a:solidFill>
                            <a:srgbClr val="1A202C"/>
                          </a:solidFill>
                        </a:rPr>
                        <a:t>es_un</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400" dirty="0">
                          <a:solidFill>
                            <a:srgbClr val="1A202C"/>
                          </a:solidFill>
                        </a:rPr>
                        <a:t>Herencia</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[:ES_UN] · instancias con etiquetas múltiples</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A202C"/>
                          </a:solidFill>
                        </a:rPr>
                        <a:t>parte_de</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400" dirty="0">
                          <a:solidFill>
                            <a:srgbClr val="1A202C"/>
                          </a:solidFill>
                        </a:rPr>
                        <a:t>Composición</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[:ES_PARTE_DE]</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384048">
                <a:tc>
                  <a:txBody>
                    <a:bodyPr/>
                    <a:lstStyle/>
                    <a:p>
                      <a:pPr indent="0" marL="0">
                        <a:buNone/>
                      </a:pPr>
                      <a:r>
                        <a:rPr lang="en-US" sz="1400" dirty="0">
                          <a:solidFill>
                            <a:srgbClr val="1A202C"/>
                          </a:solidFill>
                        </a:rPr>
                        <a:t>Instancia</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400" dirty="0">
                          <a:solidFill>
                            <a:srgbClr val="1A202C"/>
                          </a:solidFill>
                        </a:rPr>
                        <a:t>Frame instancia</a:t>
                      </a:r>
                      <a:endParaRPr lang="en-US" sz="14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200" dirty="0">
                          <a:solidFill>
                            <a:srgbClr val="1A202C"/>
                          </a:solidFill>
                          <a:latin typeface="Consolas" pitchFamily="34" charset="0"/>
                          <a:ea typeface="Consolas" pitchFamily="34" charset="-122"/>
                          <a:cs typeface="Consolas" pitchFamily="34" charset="-120"/>
                        </a:rPr>
                        <a:t>(:Dato:DatoFaltante)-[:INSTANCIA_DE]-&gt;(:Frame)</a:t>
                      </a:r>
                      <a:endParaRPr lang="en-US" sz="1200" dirty="0">
                        <a:latin typeface="Consolas" charset="0"/>
                        <a:ea typeface="Consolas" charset="0"/>
                        <a:cs typeface="Consolas"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
        <p:nvSpPr>
          <p:cNvPr id="4" name="Shape 1"/>
          <p:cNvSpPr/>
          <p:nvPr/>
        </p:nvSpPr>
        <p:spPr>
          <a:xfrm>
            <a:off x="502920" y="4709160"/>
            <a:ext cx="11155680" cy="1325880"/>
          </a:xfrm>
          <a:prstGeom prst="roundRect">
            <a:avLst>
              <a:gd name="adj" fmla="val 5517"/>
            </a:avLst>
          </a:prstGeom>
          <a:solidFill>
            <a:srgbClr val="F4F6FA"/>
          </a:solidFill>
          <a:ln w="15875">
            <a:solidFill>
              <a:srgbClr val="F4F6FA"/>
            </a:solidFill>
            <a:prstDash val="solid"/>
          </a:ln>
        </p:spPr>
      </p:sp>
      <p:sp>
        <p:nvSpPr>
          <p:cNvPr id="5" name="Text 2"/>
          <p:cNvSpPr txBox="1"/>
          <p:nvPr/>
        </p:nvSpPr>
        <p:spPr>
          <a:xfrm>
            <a:off x="731520" y="4754880"/>
            <a:ext cx="10789920" cy="1234440"/>
          </a:xfrm>
          <a:prstGeom prst="rect">
            <a:avLst/>
          </a:prstGeom>
          <a:noFill/>
          <a:ln/>
        </p:spPr>
        <p:txBody>
          <a:bodyPr wrap="square" lIns="0" tIns="0" rIns="0" bIns="0" rtlCol="0" anchor="ctr"/>
          <a:lstStyle/>
          <a:p>
            <a:pPr indent="0" marL="0">
              <a:spcAft>
                <a:spcPts val="600"/>
              </a:spcAft>
              <a:buNone/>
            </a:pPr>
            <a:r>
              <a:rPr lang="en-US" sz="1400" b="1" dirty="0">
                <a:solidFill>
                  <a:srgbClr val="1A202C"/>
                </a:solidFill>
              </a:rPr>
              <a:t>7 jerarquías ES_UN: </a:t>
            </a:r>
            <a:pPr indent="0" marL="0">
              <a:spcAft>
                <a:spcPts val="600"/>
              </a:spcAft>
              <a:buNone/>
            </a:pPr>
            <a:r>
              <a:rPr lang="en-US" sz="1400" dirty="0">
                <a:solidFill>
                  <a:srgbClr val="1A202C"/>
                </a:solidFill>
              </a:rPr>
              <a:t>Dato · Requerimiento · AlternativaRediseño · RestricciónConstructiva · Material · TecnologíaIluminación · Submódulo</a:t>
            </a:r>
            <a:endParaRPr lang="en-US" sz="1400" dirty="0"/>
          </a:p>
          <a:p>
            <a:pPr indent="0" marL="0">
              <a:spcAft>
                <a:spcPts val="600"/>
              </a:spcAft>
              <a:buNone/>
            </a:pPr>
            <a:r>
              <a:rPr lang="en-US" sz="1400" b="1" dirty="0">
                <a:solidFill>
                  <a:srgbClr val="1A202C"/>
                </a:solidFill>
              </a:rPr>
              <a:t>Composición ES_PARTE_DE: </a:t>
            </a:r>
            <a:pPr indent="0" marL="0">
              <a:spcAft>
                <a:spcPts val="600"/>
              </a:spcAft>
              <a:buNone/>
            </a:pPr>
            <a:r>
              <a:rPr lang="en-US" sz="1400" dirty="0">
                <a:solidFill>
                  <a:srgbClr val="1A202C"/>
                </a:solidFill>
              </a:rPr>
              <a:t>Geometría y ComponenteEléctrico de Cartel · Advertencia de Ficha · Expresión de Pedido   (árbol completo: anexo C)</a:t>
            </a:r>
            <a:endParaRPr lang="en-US" sz="14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Frame de ejemplo: DatoFaltante (hereda de Dato)</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371600"/>
                <a:gridCol w="1463040"/>
                <a:gridCol w="3566160"/>
                <a:gridCol w="1280160"/>
                <a:gridCol w="3474720"/>
              </a:tblGrid>
              <a:tr h="457200">
                <a:tc>
                  <a:txBody>
                    <a:bodyPr/>
                    <a:lstStyle/>
                    <a:p>
                      <a:pPr indent="0" marL="0">
                        <a:buNone/>
                      </a:pPr>
                      <a:r>
                        <a:rPr lang="en-US" sz="1300" b="1" dirty="0">
                          <a:solidFill>
                            <a:srgbClr val="FFFFFF"/>
                          </a:solidFill>
                        </a:rPr>
                        <a:t>Slot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B6CB0"/>
                    </a:solidFill>
                  </a:tcPr>
                </a:tc>
                <a:tc>
                  <a:txBody>
                    <a:bodyPr/>
                    <a:lstStyle/>
                    <a:p>
                      <a:pPr indent="0" marL="0">
                        <a:buNone/>
                      </a:pPr>
                      <a:r>
                        <a:rPr lang="en-US" sz="1300" b="1" dirty="0">
                          <a:solidFill>
                            <a:srgbClr val="FFFFFF"/>
                          </a:solidFill>
                        </a:rPr>
                        <a:t>Definido en</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B6CB0"/>
                    </a:solidFill>
                  </a:tcPr>
                </a:tc>
                <a:tc>
                  <a:txBody>
                    <a:bodyPr/>
                    <a:lstStyle/>
                    <a:p>
                      <a:pPr indent="0" marL="0">
                        <a:buNone/>
                      </a:pPr>
                      <a:r>
                        <a:rPr lang="en-US" sz="1300" b="1" dirty="0">
                          <a:solidFill>
                            <a:srgbClr val="FFFFFF"/>
                          </a:solidFill>
                        </a:rPr>
                        <a:t>Tipo / valores</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B6CB0"/>
                    </a:solidFill>
                  </a:tcPr>
                </a:tc>
                <a:tc>
                  <a:txBody>
                    <a:bodyPr/>
                    <a:lstStyle/>
                    <a:p>
                      <a:pPr indent="0" marL="0">
                        <a:buNone/>
                      </a:pPr>
                      <a:r>
                        <a:rPr lang="en-US" sz="1300" b="1" dirty="0">
                          <a:solidFill>
                            <a:srgbClr val="FFFFFF"/>
                          </a:solidFill>
                        </a:rPr>
                        <a:t>Defecto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B6CB0"/>
                    </a:solidFill>
                  </a:tcPr>
                </a:tc>
                <a:tc>
                  <a:txBody>
                    <a:bodyPr/>
                    <a:lstStyle/>
                    <a:p>
                      <a:pPr indent="0" marL="0">
                        <a:buNone/>
                      </a:pPr>
                      <a:r>
                        <a:rPr lang="en-US" sz="1300" b="1" dirty="0">
                          <a:solidFill>
                            <a:srgbClr val="FFFFFF"/>
                          </a:solidFill>
                        </a:rPr>
                        <a:t>Demonio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B6CB0"/>
                    </a:solidFill>
                  </a:tcPr>
                </a:tc>
              </a:tr>
              <a:tr h="457200">
                <a:tc>
                  <a:txBody>
                    <a:bodyPr/>
                    <a:lstStyle/>
                    <a:p>
                      <a:pPr indent="0" marL="0">
                        <a:buNone/>
                      </a:pPr>
                      <a:r>
                        <a:rPr lang="en-US" sz="1300" b="1" dirty="0">
                          <a:solidFill>
                            <a:srgbClr val="1A202C"/>
                          </a:solidFill>
                        </a:rPr>
                        <a:t>criticidad</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3EEF9"/>
                    </a:solidFill>
                  </a:tcPr>
                </a:tc>
                <a:tc>
                  <a:txBody>
                    <a:bodyPr/>
                    <a:lstStyle/>
                    <a:p>
                      <a:pPr indent="0" marL="0">
                        <a:buNone/>
                      </a:pPr>
                      <a:r>
                        <a:rPr lang="en-US" sz="1300" dirty="0">
                          <a:solidFill>
                            <a:srgbClr val="1A202C"/>
                          </a:solidFill>
                        </a:rPr>
                        <a:t>DatoFaltante</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3EEF9"/>
                    </a:solidFill>
                  </a:tcPr>
                </a:tc>
                <a:tc>
                  <a:txBody>
                    <a:bodyPr/>
                    <a:lstStyle/>
                    <a:p>
                      <a:pPr indent="0" marL="0">
                        <a:buNone/>
                      </a:pPr>
                      <a:r>
                        <a:rPr lang="en-US" sz="1300" dirty="0">
                          <a:solidFill>
                            <a:srgbClr val="1A202C"/>
                          </a:solidFill>
                        </a:rPr>
                        <a:t>bloqueante · postergable · sin_clasificar</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3EEF9"/>
                    </a:solidFill>
                  </a:tcPr>
                </a:tc>
                <a:tc>
                  <a:txBody>
                    <a:bodyPr/>
                    <a:lstStyle/>
                    <a:p>
                      <a:pPr indent="0" marL="0">
                        <a:buNone/>
                      </a:pPr>
                      <a:r>
                        <a:rPr lang="en-US" sz="1300" dirty="0">
                          <a:solidFill>
                            <a:srgbClr val="1A202C"/>
                          </a:solidFill>
                        </a:rPr>
                        <a:t>sin_clasificar</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3EEF9"/>
                    </a:solidFill>
                  </a:tcPr>
                </a:tc>
                <a:tc>
                  <a:txBody>
                    <a:bodyPr/>
                    <a:lstStyle/>
                    <a:p>
                      <a:pPr indent="0" marL="0">
                        <a:buNone/>
                      </a:pPr>
                      <a:r>
                        <a:rPr lang="en-US" sz="1300" dirty="0">
                          <a:solidFill>
                            <a:srgbClr val="1A202C"/>
                          </a:solidFill>
                        </a:rPr>
                        <a:t>si_agregado → crear Aclaración (INT-R02) y Consulta a submódulo (INT-R10)</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3EEF9"/>
                    </a:solidFill>
                  </a:tcPr>
                </a:tc>
              </a:tr>
              <a:tr h="457200">
                <a:tc>
                  <a:txBody>
                    <a:bodyPr/>
                    <a:lstStyle/>
                    <a:p>
                      <a:pPr indent="0" marL="0">
                        <a:buNone/>
                      </a:pPr>
                      <a:r>
                        <a:rPr lang="en-US" sz="1300" b="1" dirty="0">
                          <a:solidFill>
                            <a:srgbClr val="1A202C"/>
                          </a:solidFill>
                        </a:rPr>
                        <a:t>atributo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Dato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Texto (p. ej. soporte_y_montaje)</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457200">
                <a:tc>
                  <a:txBody>
                    <a:bodyPr/>
                    <a:lstStyle/>
                    <a:p>
                      <a:pPr indent="0" marL="0">
                        <a:buNone/>
                      </a:pPr>
                      <a:r>
                        <a:rPr lang="en-US" sz="1300" b="1" dirty="0">
                          <a:solidFill>
                            <a:srgbClr val="1A202C"/>
                          </a:solidFill>
                        </a:rPr>
                        <a:t>categoria</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Dato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producto · dimensiones · entorno · instalación · …</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A202C"/>
                          </a:solidFill>
                        </a:rPr>
                        <a:t>valor</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Dato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cualquiera, 0..1</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nulo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si_agregado → verificar origen (INT-R09)</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457200">
                <a:tc>
                  <a:txBody>
                    <a:bodyPr/>
                    <a:lstStyle/>
                    <a:p>
                      <a:pPr indent="0" marL="0">
                        <a:buNone/>
                      </a:pPr>
                      <a:r>
                        <a:rPr lang="en-US" sz="1300" b="1" dirty="0">
                          <a:solidFill>
                            <a:srgbClr val="1A202C"/>
                          </a:solidFill>
                        </a:rPr>
                        <a:t>origen</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Dato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cliente · respuesta_a_aclaración</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1A202C"/>
                          </a:solidFill>
                        </a:rPr>
                        <a:t>no admite «supuesto» (faceta)</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A202C"/>
                          </a:solidFill>
                        </a:rPr>
                        <a:t>estado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Dato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confirmado · faltante · ambiguo · en_conflicto · descartado</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300" dirty="0">
                          <a:solidFill>
                            <a:srgbClr val="1A202C"/>
                          </a:solidFill>
                        </a:rPr>
                        <a:t>si_modificado → reclasificar etiqueta</a:t>
                      </a:r>
                      <a:endParaRPr lang="en-US" sz="13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bl>
          </a:graphicData>
        </a:graphic>
      </p:graphicFrame>
      <p:sp>
        <p:nvSpPr>
          <p:cNvPr id="4" name="Shape 1"/>
          <p:cNvSpPr/>
          <p:nvPr/>
        </p:nvSpPr>
        <p:spPr>
          <a:xfrm>
            <a:off x="502920" y="4892040"/>
            <a:ext cx="11155680" cy="1234440"/>
          </a:xfrm>
          <a:prstGeom prst="roundRect">
            <a:avLst>
              <a:gd name="adj" fmla="val 5926"/>
            </a:avLst>
          </a:prstGeom>
          <a:solidFill>
            <a:srgbClr val="F4F6FA"/>
          </a:solidFill>
          <a:ln w="15875">
            <a:solidFill>
              <a:srgbClr val="F4F6FA"/>
            </a:solidFill>
            <a:prstDash val="solid"/>
          </a:ln>
        </p:spPr>
      </p:sp>
      <p:sp>
        <p:nvSpPr>
          <p:cNvPr id="5" name="Text 2"/>
          <p:cNvSpPr txBox="1"/>
          <p:nvPr/>
        </p:nvSpPr>
        <p:spPr>
          <a:xfrm>
            <a:off x="731520" y="4956048"/>
            <a:ext cx="10789920" cy="1097280"/>
          </a:xfrm>
          <a:prstGeom prst="rect">
            <a:avLst/>
          </a:prstGeom>
          <a:noFill/>
          <a:ln/>
        </p:spPr>
        <p:txBody>
          <a:bodyPr wrap="square" lIns="0" tIns="0" rIns="0" bIns="0" rtlCol="0" anchor="ctr"/>
          <a:lstStyle/>
          <a:p>
            <a:pPr indent="0" marL="0">
              <a:spcAft>
                <a:spcPts val="400"/>
              </a:spcAft>
              <a:buNone/>
            </a:pPr>
            <a:r>
              <a:rPr lang="en-US" sz="1400" b="1" dirty="0">
                <a:solidFill>
                  <a:srgbClr val="1A202C"/>
                </a:solidFill>
              </a:rPr>
              <a:t>Instancia D4 (CU1): </a:t>
            </a:r>
            <a:pPr indent="0" marL="0">
              <a:spcAft>
                <a:spcPts val="400"/>
              </a:spcAft>
              <a:buNone/>
            </a:pPr>
            <a:r>
              <a:rPr lang="en-US" sz="1400" dirty="0">
                <a:solidFill>
                  <a:srgbClr val="1A202C"/>
                </a:solidFill>
              </a:rPr>
              <a:t>atributo = soporte_y_montaje · criticidad = sin_clasificar → </a:t>
            </a:r>
            <a:pPr indent="0" marL="0">
              <a:spcAft>
                <a:spcPts val="400"/>
              </a:spcAft>
              <a:buNone/>
            </a:pPr>
            <a:r>
              <a:rPr lang="en-US" sz="1400" b="1" dirty="0">
                <a:solidFill>
                  <a:srgbClr val="2A9D8F"/>
                </a:solidFill>
              </a:rPr>
              <a:t>bloqueante</a:t>
            </a:r>
            <a:pPr indent="0" marL="0">
              <a:spcAft>
                <a:spcPts val="400"/>
              </a:spcAft>
              <a:buNone/>
            </a:pPr>
            <a:r>
              <a:rPr lang="en-US" sz="1400" dirty="0">
                <a:solidFill>
                  <a:srgbClr val="1A202C"/>
                </a:solidFill>
              </a:rPr>
              <a:t> (lo decide R-MI-01 de Materiales) → cuando el cliente responde, la instancia cambia de etiqueta a DatoConfirmado.</a:t>
            </a:r>
            <a:endParaRPr lang="en-US" sz="1400" dirty="0"/>
          </a:p>
          <a:p>
            <a:pPr indent="0" marL="0">
              <a:spcAft>
                <a:spcPts val="400"/>
              </a:spcAft>
              <a:buNone/>
            </a:pPr>
            <a:r>
              <a:rPr lang="en-US" sz="1400" b="1" dirty="0">
                <a:solidFill>
                  <a:srgbClr val="1A202C"/>
                </a:solidFill>
              </a:rPr>
              <a:t>En Neo4j: </a:t>
            </a:r>
            <a:pPr indent="0" marL="0">
              <a:spcAft>
                <a:spcPts val="400"/>
              </a:spcAft>
              <a:buNone/>
            </a:pPr>
            <a:r>
              <a:rPr lang="en-US" sz="1400" dirty="0">
                <a:solidFill>
                  <a:srgbClr val="FF2E88"/>
                </a:solidFill>
                <a:latin typeface="Consolas" pitchFamily="34" charset="0"/>
                <a:ea typeface="Consolas" pitchFamily="34" charset="-122"/>
                <a:cs typeface="Consolas" pitchFamily="34" charset="-120"/>
              </a:rPr>
              <a:t>REMOVE d:DatoFaltante SET d:DatoConfirmado</a:t>
            </a:r>
            <a:endParaRPr lang="en-US" sz="14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Reglas trazables: cada una dice de dónde sale</a:t>
            </a:r>
            <a:endParaRPr lang="en-US" sz="3000" dirty="0"/>
          </a:p>
        </p:txBody>
      </p:sp>
      <p:sp>
        <p:nvSpPr>
          <p:cNvPr id="3" name="Shape 1"/>
          <p:cNvSpPr/>
          <p:nvPr/>
        </p:nvSpPr>
        <p:spPr>
          <a:xfrm>
            <a:off x="502920" y="1188720"/>
            <a:ext cx="6949440" cy="1463040"/>
          </a:xfrm>
          <a:prstGeom prst="roundRect">
            <a:avLst>
              <a:gd name="adj" fmla="val 5000"/>
            </a:avLst>
          </a:prstGeom>
          <a:solidFill>
            <a:srgbClr val="E0F4F1"/>
          </a:solidFill>
          <a:ln w="15875">
            <a:solidFill>
              <a:srgbClr val="2A9D8F"/>
            </a:solidFill>
            <a:prstDash val="solid"/>
          </a:ln>
        </p:spPr>
      </p:sp>
      <p:sp>
        <p:nvSpPr>
          <p:cNvPr id="4" name="Text 2"/>
          <p:cNvSpPr txBox="1"/>
          <p:nvPr/>
        </p:nvSpPr>
        <p:spPr>
          <a:xfrm>
            <a:off x="731520" y="1298448"/>
            <a:ext cx="1828800" cy="365760"/>
          </a:xfrm>
          <a:prstGeom prst="rect">
            <a:avLst/>
          </a:prstGeom>
          <a:noFill/>
          <a:ln/>
        </p:spPr>
        <p:txBody>
          <a:bodyPr wrap="square" lIns="0" tIns="0" rIns="0" bIns="0" rtlCol="0" anchor="ctr"/>
          <a:lstStyle/>
          <a:p>
            <a:pPr indent="0" marL="0">
              <a:buNone/>
            </a:pPr>
            <a:r>
              <a:rPr lang="en-US" sz="2000" b="1" dirty="0">
                <a:solidFill>
                  <a:srgbClr val="2A9D8F"/>
                </a:solidFill>
              </a:rPr>
              <a:t>R-MI-01</a:t>
            </a:r>
            <a:endParaRPr lang="en-US" sz="2000" dirty="0"/>
          </a:p>
        </p:txBody>
      </p:sp>
      <p:sp>
        <p:nvSpPr>
          <p:cNvPr id="5" name="Text 3"/>
          <p:cNvSpPr txBox="1"/>
          <p:nvPr/>
        </p:nvSpPr>
        <p:spPr>
          <a:xfrm>
            <a:off x="2377440" y="1335024"/>
            <a:ext cx="2743200" cy="320040"/>
          </a:xfrm>
          <a:prstGeom prst="rect">
            <a:avLst/>
          </a:prstGeom>
          <a:noFill/>
          <a:ln/>
        </p:spPr>
        <p:txBody>
          <a:bodyPr wrap="square" lIns="0" tIns="0" rIns="0" bIns="0" rtlCol="0" anchor="ctr"/>
          <a:lstStyle/>
          <a:p>
            <a:pPr indent="0" marL="0">
              <a:buNone/>
            </a:pPr>
            <a:r>
              <a:rPr lang="en-US" sz="1300" dirty="0">
                <a:solidFill>
                  <a:srgbClr val="5A6578"/>
                </a:solidFill>
              </a:rPr>
              <a:t>Materiales</a:t>
            </a:r>
            <a:endParaRPr lang="en-US" sz="1300" dirty="0"/>
          </a:p>
        </p:txBody>
      </p:sp>
      <p:sp>
        <p:nvSpPr>
          <p:cNvPr id="6" name="Text 4"/>
          <p:cNvSpPr txBox="1"/>
          <p:nvPr/>
        </p:nvSpPr>
        <p:spPr>
          <a:xfrm>
            <a:off x="731520" y="1691640"/>
            <a:ext cx="6492240" cy="685800"/>
          </a:xfrm>
          <a:prstGeom prst="rect">
            <a:avLst/>
          </a:prstGeom>
          <a:noFill/>
          <a:ln/>
        </p:spPr>
        <p:txBody>
          <a:bodyPr wrap="square" lIns="0" tIns="0" rIns="0" bIns="0" rtlCol="0" anchor="t"/>
          <a:lstStyle/>
          <a:p>
            <a:pPr indent="0" marL="0">
              <a:buNone/>
            </a:pPr>
            <a:r>
              <a:rPr lang="en-US" sz="1400" dirty="0">
                <a:solidFill>
                  <a:srgbClr val="1A202C"/>
                </a:solidFill>
              </a:rPr>
              <a:t>SI falta entorno, soporte o dimensiones</a:t>
            </a:r>
            <a:endParaRPr lang="en-US" sz="1400" dirty="0"/>
          </a:p>
          <a:p>
            <a:pPr indent="0" marL="0">
              <a:buNone/>
            </a:pPr>
            <a:r>
              <a:rPr lang="en-US" sz="1400" b="1" dirty="0">
                <a:solidFill>
                  <a:srgbClr val="1A202C"/>
                </a:solidFill>
              </a:rPr>
              <a:t>ENTONCES no evaluar y pedir el dato</a:t>
            </a:r>
            <a:endParaRPr lang="en-US" sz="1400" dirty="0"/>
          </a:p>
        </p:txBody>
      </p:sp>
      <p:sp>
        <p:nvSpPr>
          <p:cNvPr id="7" name="Text 5"/>
          <p:cNvSpPr txBox="1"/>
          <p:nvPr/>
        </p:nvSpPr>
        <p:spPr>
          <a:xfrm>
            <a:off x="731520" y="2331720"/>
            <a:ext cx="6492240" cy="274320"/>
          </a:xfrm>
          <a:prstGeom prst="rect">
            <a:avLst/>
          </a:prstGeom>
          <a:noFill/>
          <a:ln/>
        </p:spPr>
        <p:txBody>
          <a:bodyPr wrap="square" lIns="0" tIns="0" rIns="0" bIns="0" rtlCol="0" anchor="ctr"/>
          <a:lstStyle/>
          <a:p>
            <a:pPr indent="0" marL="0">
              <a:buNone/>
            </a:pPr>
            <a:r>
              <a:rPr lang="en-US" sz="1200" i="1" dirty="0">
                <a:solidFill>
                  <a:srgbClr val="2A9D8F"/>
                </a:solidFill>
              </a:rPr>
              <a:t>Origen: experto (PI1 Lautaro)</a:t>
            </a:r>
            <a:endParaRPr lang="en-US" sz="1200" dirty="0"/>
          </a:p>
        </p:txBody>
      </p:sp>
      <p:sp>
        <p:nvSpPr>
          <p:cNvPr id="8" name="Shape 6"/>
          <p:cNvSpPr/>
          <p:nvPr/>
        </p:nvSpPr>
        <p:spPr>
          <a:xfrm>
            <a:off x="502920" y="2852928"/>
            <a:ext cx="6949440" cy="1463040"/>
          </a:xfrm>
          <a:prstGeom prst="roundRect">
            <a:avLst>
              <a:gd name="adj" fmla="val 5000"/>
            </a:avLst>
          </a:prstGeom>
          <a:solidFill>
            <a:srgbClr val="FDEBDD"/>
          </a:solidFill>
          <a:ln w="15875">
            <a:solidFill>
              <a:srgbClr val="D9480F"/>
            </a:solidFill>
            <a:prstDash val="solid"/>
          </a:ln>
        </p:spPr>
      </p:sp>
      <p:sp>
        <p:nvSpPr>
          <p:cNvPr id="9" name="Text 7"/>
          <p:cNvSpPr txBox="1"/>
          <p:nvPr/>
        </p:nvSpPr>
        <p:spPr>
          <a:xfrm>
            <a:off x="731520" y="2962656"/>
            <a:ext cx="1828800" cy="365760"/>
          </a:xfrm>
          <a:prstGeom prst="rect">
            <a:avLst/>
          </a:prstGeom>
          <a:noFill/>
          <a:ln/>
        </p:spPr>
        <p:txBody>
          <a:bodyPr wrap="square" lIns="0" tIns="0" rIns="0" bIns="0" rtlCol="0" anchor="ctr"/>
          <a:lstStyle/>
          <a:p>
            <a:pPr indent="0" marL="0">
              <a:buNone/>
            </a:pPr>
            <a:r>
              <a:rPr lang="en-US" sz="2000" b="1" dirty="0">
                <a:solidFill>
                  <a:srgbClr val="D9480F"/>
                </a:solidFill>
              </a:rPr>
              <a:t>MAN-R3</a:t>
            </a:r>
            <a:endParaRPr lang="en-US" sz="2000" dirty="0"/>
          </a:p>
        </p:txBody>
      </p:sp>
      <p:sp>
        <p:nvSpPr>
          <p:cNvPr id="10" name="Text 8"/>
          <p:cNvSpPr txBox="1"/>
          <p:nvPr/>
        </p:nvSpPr>
        <p:spPr>
          <a:xfrm>
            <a:off x="2377440" y="2999232"/>
            <a:ext cx="2743200" cy="320040"/>
          </a:xfrm>
          <a:prstGeom prst="rect">
            <a:avLst/>
          </a:prstGeom>
          <a:noFill/>
          <a:ln/>
        </p:spPr>
        <p:txBody>
          <a:bodyPr wrap="square" lIns="0" tIns="0" rIns="0" bIns="0" rtlCol="0" anchor="ctr"/>
          <a:lstStyle/>
          <a:p>
            <a:pPr indent="0" marL="0">
              <a:buNone/>
            </a:pPr>
            <a:r>
              <a:rPr lang="en-US" sz="1300" dirty="0">
                <a:solidFill>
                  <a:srgbClr val="5A6578"/>
                </a:solidFill>
              </a:rPr>
              <a:t>Manufacturabilidad</a:t>
            </a:r>
            <a:endParaRPr lang="en-US" sz="1300" dirty="0"/>
          </a:p>
        </p:txBody>
      </p:sp>
      <p:sp>
        <p:nvSpPr>
          <p:cNvPr id="11" name="Text 9"/>
          <p:cNvSpPr txBox="1"/>
          <p:nvPr/>
        </p:nvSpPr>
        <p:spPr>
          <a:xfrm>
            <a:off x="731520" y="3355848"/>
            <a:ext cx="6492240" cy="685800"/>
          </a:xfrm>
          <a:prstGeom prst="rect">
            <a:avLst/>
          </a:prstGeom>
          <a:noFill/>
          <a:ln/>
        </p:spPr>
        <p:txBody>
          <a:bodyPr wrap="square" lIns="0" tIns="0" rIns="0" bIns="0" rtlCol="0" anchor="t"/>
          <a:lstStyle/>
          <a:p>
            <a:pPr indent="0" marL="0">
              <a:buNone/>
            </a:pPr>
            <a:r>
              <a:rPr lang="en-US" sz="1400" dirty="0">
                <a:solidFill>
                  <a:srgbClr val="1A202C"/>
                </a:solidFill>
              </a:rPr>
              <a:t>SI dimensión máxima &gt; 400 mm (cama)</a:t>
            </a:r>
            <a:endParaRPr lang="en-US" sz="1400" dirty="0"/>
          </a:p>
          <a:p>
            <a:pPr indent="0" marL="0">
              <a:buNone/>
            </a:pPr>
            <a:r>
              <a:rPr lang="en-US" sz="1400" b="1" dirty="0">
                <a:solidFill>
                  <a:srgbClr val="1A202C"/>
                </a:solidFill>
              </a:rPr>
              <a:t>ENTONCES Conflicto ExcedeCama → segmentar + reforzar</a:t>
            </a:r>
            <a:endParaRPr lang="en-US" sz="1400" dirty="0"/>
          </a:p>
        </p:txBody>
      </p:sp>
      <p:sp>
        <p:nvSpPr>
          <p:cNvPr id="12" name="Text 10"/>
          <p:cNvSpPr txBox="1"/>
          <p:nvPr/>
        </p:nvSpPr>
        <p:spPr>
          <a:xfrm>
            <a:off x="731520" y="3995928"/>
            <a:ext cx="6492240" cy="274320"/>
          </a:xfrm>
          <a:prstGeom prst="rect">
            <a:avLst/>
          </a:prstGeom>
          <a:noFill/>
          <a:ln/>
        </p:spPr>
        <p:txBody>
          <a:bodyPr wrap="square" lIns="0" tIns="0" rIns="0" bIns="0" rtlCol="0" anchor="ctr"/>
          <a:lstStyle/>
          <a:p>
            <a:pPr indent="0" marL="0">
              <a:buNone/>
            </a:pPr>
            <a:r>
              <a:rPr lang="en-US" sz="1200" i="1" dirty="0">
                <a:solidFill>
                  <a:srgbClr val="D9480F"/>
                </a:solidFill>
              </a:rPr>
              <a:t>Origen: documental (ficha de la impresora)</a:t>
            </a:r>
            <a:endParaRPr lang="en-US" sz="1200" dirty="0"/>
          </a:p>
        </p:txBody>
      </p:sp>
      <p:sp>
        <p:nvSpPr>
          <p:cNvPr id="13" name="Shape 11"/>
          <p:cNvSpPr/>
          <p:nvPr/>
        </p:nvSpPr>
        <p:spPr>
          <a:xfrm>
            <a:off x="502920" y="4517136"/>
            <a:ext cx="6949440" cy="1463040"/>
          </a:xfrm>
          <a:prstGeom prst="roundRect">
            <a:avLst>
              <a:gd name="adj" fmla="val 5000"/>
            </a:avLst>
          </a:prstGeom>
          <a:solidFill>
            <a:srgbClr val="E3EEF9"/>
          </a:solidFill>
          <a:ln w="15875">
            <a:solidFill>
              <a:srgbClr val="2B6CB0"/>
            </a:solidFill>
            <a:prstDash val="solid"/>
          </a:ln>
        </p:spPr>
      </p:sp>
      <p:sp>
        <p:nvSpPr>
          <p:cNvPr id="14" name="Text 12"/>
          <p:cNvSpPr txBox="1"/>
          <p:nvPr/>
        </p:nvSpPr>
        <p:spPr>
          <a:xfrm>
            <a:off x="731520" y="4626864"/>
            <a:ext cx="1828800" cy="365760"/>
          </a:xfrm>
          <a:prstGeom prst="rect">
            <a:avLst/>
          </a:prstGeom>
          <a:noFill/>
          <a:ln/>
        </p:spPr>
        <p:txBody>
          <a:bodyPr wrap="square" lIns="0" tIns="0" rIns="0" bIns="0" rtlCol="0" anchor="ctr"/>
          <a:lstStyle/>
          <a:p>
            <a:pPr indent="0" marL="0">
              <a:buNone/>
            </a:pPr>
            <a:r>
              <a:rPr lang="en-US" sz="2000" b="1" dirty="0">
                <a:solidFill>
                  <a:srgbClr val="2B6CB0"/>
                </a:solidFill>
              </a:rPr>
              <a:t>INT-R11</a:t>
            </a:r>
            <a:endParaRPr lang="en-US" sz="2000" dirty="0"/>
          </a:p>
        </p:txBody>
      </p:sp>
      <p:sp>
        <p:nvSpPr>
          <p:cNvPr id="15" name="Text 13"/>
          <p:cNvSpPr txBox="1"/>
          <p:nvPr/>
        </p:nvSpPr>
        <p:spPr>
          <a:xfrm>
            <a:off x="2377440" y="4663440"/>
            <a:ext cx="2743200" cy="320040"/>
          </a:xfrm>
          <a:prstGeom prst="rect">
            <a:avLst/>
          </a:prstGeom>
          <a:noFill/>
          <a:ln/>
        </p:spPr>
        <p:txBody>
          <a:bodyPr wrap="square" lIns="0" tIns="0" rIns="0" bIns="0" rtlCol="0" anchor="ctr"/>
          <a:lstStyle/>
          <a:p>
            <a:pPr indent="0" marL="0">
              <a:buNone/>
            </a:pPr>
            <a:r>
              <a:rPr lang="en-US" sz="1300" dirty="0">
                <a:solidFill>
                  <a:srgbClr val="5A6578"/>
                </a:solidFill>
              </a:rPr>
              <a:t>Interpretación</a:t>
            </a:r>
            <a:endParaRPr lang="en-US" sz="1300" dirty="0"/>
          </a:p>
        </p:txBody>
      </p:sp>
      <p:sp>
        <p:nvSpPr>
          <p:cNvPr id="16" name="Text 14"/>
          <p:cNvSpPr txBox="1"/>
          <p:nvPr/>
        </p:nvSpPr>
        <p:spPr>
          <a:xfrm>
            <a:off x="731520" y="5020056"/>
            <a:ext cx="6492240" cy="685800"/>
          </a:xfrm>
          <a:prstGeom prst="rect">
            <a:avLst/>
          </a:prstGeom>
          <a:noFill/>
          <a:ln/>
        </p:spPr>
        <p:txBody>
          <a:bodyPr wrap="square" lIns="0" tIns="0" rIns="0" bIns="0" rtlCol="0" anchor="t"/>
          <a:lstStyle/>
          <a:p>
            <a:pPr indent="0" marL="0">
              <a:buNone/>
            </a:pPr>
            <a:r>
              <a:rPr lang="en-US" sz="1400" dirty="0">
                <a:solidFill>
                  <a:srgbClr val="1A202C"/>
                </a:solidFill>
              </a:rPr>
              <a:t>SI todo dato requerido está confirmado, sin ambiguos ni contradicciones</a:t>
            </a:r>
            <a:endParaRPr lang="en-US" sz="1400" dirty="0"/>
          </a:p>
          <a:p>
            <a:pPr indent="0" marL="0">
              <a:buNone/>
            </a:pPr>
            <a:r>
              <a:rPr lang="en-US" sz="1400" b="1" dirty="0">
                <a:solidFill>
                  <a:srgbClr val="1A202C"/>
                </a:solidFill>
              </a:rPr>
              <a:t>ENTONCES listo para evaluación → ficha</a:t>
            </a:r>
            <a:endParaRPr lang="en-US" sz="1400" dirty="0"/>
          </a:p>
        </p:txBody>
      </p:sp>
      <p:sp>
        <p:nvSpPr>
          <p:cNvPr id="17" name="Text 15"/>
          <p:cNvSpPr txBox="1"/>
          <p:nvPr/>
        </p:nvSpPr>
        <p:spPr>
          <a:xfrm>
            <a:off x="731520" y="5660136"/>
            <a:ext cx="6492240" cy="274320"/>
          </a:xfrm>
          <a:prstGeom prst="rect">
            <a:avLst/>
          </a:prstGeom>
          <a:noFill/>
          <a:ln/>
        </p:spPr>
        <p:txBody>
          <a:bodyPr wrap="square" lIns="0" tIns="0" rIns="0" bIns="0" rtlCol="0" anchor="ctr"/>
          <a:lstStyle/>
          <a:p>
            <a:pPr indent="0" marL="0">
              <a:buNone/>
            </a:pPr>
            <a:r>
              <a:rPr lang="en-US" sz="1200" i="1" dirty="0">
                <a:solidFill>
                  <a:srgbClr val="2B6CB0"/>
                </a:solidFill>
              </a:rPr>
              <a:t>Origen: propuesta (pendiente de validar)</a:t>
            </a:r>
            <a:endParaRPr lang="en-US" sz="1200" dirty="0"/>
          </a:p>
        </p:txBody>
      </p:sp>
      <p:graphicFrame>
        <p:nvGraphicFramePr>
          <p:cNvPr id="18" name="Chart 0" descr=""/>
          <p:cNvGraphicFramePr/>
          <p:nvPr/>
        </p:nvGraphicFramePr>
        <p:xfrm>
          <a:off x="7772400" y="1188720"/>
          <a:ext cx="3931920" cy="42062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7772400" y="5486400"/>
            <a:ext cx="3931920" cy="640080"/>
          </a:xfrm>
          <a:prstGeom prst="rect">
            <a:avLst/>
          </a:prstGeom>
          <a:noFill/>
          <a:ln/>
        </p:spPr>
        <p:txBody>
          <a:bodyPr wrap="square" lIns="0" tIns="0" rIns="0" bIns="0" rtlCol="0" anchor="ctr"/>
          <a:lstStyle/>
          <a:p>
            <a:pPr indent="0" marL="0">
              <a:buNone/>
            </a:pPr>
            <a:r>
              <a:rPr lang="en-US" sz="1200" dirty="0">
                <a:solidFill>
                  <a:srgbClr val="5A6578"/>
                </a:solidFill>
              </a:rPr>
              <a:t>Cada regla es un nodo (:Regla) que USA los slots que evalúa; cada relación que crea guarda la propiedad regla.</a:t>
            </a:r>
            <a:endParaRPr lang="en-US" sz="12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Lógica difusa: próximo paso (PI3)</a:t>
            </a:r>
            <a:endParaRPr lang="en-US" sz="3000" dirty="0"/>
          </a:p>
        </p:txBody>
      </p:sp>
      <p:sp>
        <p:nvSpPr>
          <p:cNvPr id="3" name="Text 1"/>
          <p:cNvSpPr txBox="1"/>
          <p:nvPr/>
        </p:nvSpPr>
        <p:spPr>
          <a:xfrm>
            <a:off x="502920" y="1188720"/>
            <a:ext cx="5852160" cy="365760"/>
          </a:xfrm>
          <a:prstGeom prst="rect">
            <a:avLst/>
          </a:prstGeom>
          <a:noFill/>
          <a:ln/>
        </p:spPr>
        <p:txBody>
          <a:bodyPr wrap="square" lIns="0" tIns="0" rIns="0" bIns="0" rtlCol="0" anchor="ctr"/>
          <a:lstStyle/>
          <a:p>
            <a:pPr indent="0" marL="0">
              <a:buNone/>
            </a:pPr>
            <a:r>
              <a:rPr lang="en-US" sz="1800" b="1" dirty="0">
                <a:solidFill>
                  <a:srgbClr val="2A9D8F"/>
                </a:solidFill>
              </a:rPr>
              <a:t>Variable lingüística candidata: exposición ambiental</a:t>
            </a:r>
            <a:endParaRPr lang="en-US" sz="1800" dirty="0"/>
          </a:p>
        </p:txBody>
      </p:sp>
      <p:sp>
        <p:nvSpPr>
          <p:cNvPr id="4" name="Shape 2"/>
          <p:cNvSpPr/>
          <p:nvPr/>
        </p:nvSpPr>
        <p:spPr>
          <a:xfrm>
            <a:off x="640080" y="1920240"/>
            <a:ext cx="2377440" cy="2011680"/>
          </a:xfrm>
          <a:prstGeom prst="triangle">
            <a:avLst/>
          </a:prstGeom>
          <a:solidFill>
            <a:srgbClr val="2B6CB0">
              <a:alpha val="28000"/>
            </a:srgbClr>
          </a:solidFill>
          <a:ln w="25400">
            <a:solidFill>
              <a:srgbClr val="2B6CB0"/>
            </a:solidFill>
            <a:prstDash val="solid"/>
          </a:ln>
        </p:spPr>
      </p:sp>
      <p:sp>
        <p:nvSpPr>
          <p:cNvPr id="5" name="Text 3"/>
          <p:cNvSpPr txBox="1"/>
          <p:nvPr/>
        </p:nvSpPr>
        <p:spPr>
          <a:xfrm>
            <a:off x="1371600" y="1645920"/>
            <a:ext cx="914400" cy="274320"/>
          </a:xfrm>
          <a:prstGeom prst="rect">
            <a:avLst/>
          </a:prstGeom>
          <a:noFill/>
          <a:ln/>
        </p:spPr>
        <p:txBody>
          <a:bodyPr wrap="square" lIns="0" tIns="0" rIns="0" bIns="0" rtlCol="0" anchor="ctr"/>
          <a:lstStyle/>
          <a:p>
            <a:pPr algn="ctr" indent="0" marL="0">
              <a:buNone/>
            </a:pPr>
            <a:r>
              <a:rPr lang="en-US" sz="1400" b="1" dirty="0">
                <a:solidFill>
                  <a:srgbClr val="2B6CB0"/>
                </a:solidFill>
              </a:rPr>
              <a:t>baja</a:t>
            </a:r>
            <a:endParaRPr lang="en-US" sz="1400" dirty="0"/>
          </a:p>
        </p:txBody>
      </p:sp>
      <p:sp>
        <p:nvSpPr>
          <p:cNvPr id="6" name="Shape 4"/>
          <p:cNvSpPr/>
          <p:nvPr/>
        </p:nvSpPr>
        <p:spPr>
          <a:xfrm>
            <a:off x="2148840" y="1920240"/>
            <a:ext cx="2377440" cy="2011680"/>
          </a:xfrm>
          <a:prstGeom prst="triangle">
            <a:avLst/>
          </a:prstGeom>
          <a:solidFill>
            <a:srgbClr val="2A9D8F">
              <a:alpha val="28000"/>
            </a:srgbClr>
          </a:solidFill>
          <a:ln w="25400">
            <a:solidFill>
              <a:srgbClr val="2A9D8F"/>
            </a:solidFill>
            <a:prstDash val="solid"/>
          </a:ln>
        </p:spPr>
      </p:sp>
      <p:sp>
        <p:nvSpPr>
          <p:cNvPr id="7" name="Text 5"/>
          <p:cNvSpPr txBox="1"/>
          <p:nvPr/>
        </p:nvSpPr>
        <p:spPr>
          <a:xfrm>
            <a:off x="2880360" y="1645920"/>
            <a:ext cx="914400" cy="274320"/>
          </a:xfrm>
          <a:prstGeom prst="rect">
            <a:avLst/>
          </a:prstGeom>
          <a:noFill/>
          <a:ln/>
        </p:spPr>
        <p:txBody>
          <a:bodyPr wrap="square" lIns="0" tIns="0" rIns="0" bIns="0" rtlCol="0" anchor="ctr"/>
          <a:lstStyle/>
          <a:p>
            <a:pPr algn="ctr" indent="0" marL="0">
              <a:buNone/>
            </a:pPr>
            <a:r>
              <a:rPr lang="en-US" sz="1400" b="1" dirty="0">
                <a:solidFill>
                  <a:srgbClr val="2A9D8F"/>
                </a:solidFill>
              </a:rPr>
              <a:t>media</a:t>
            </a:r>
            <a:endParaRPr lang="en-US" sz="1400" dirty="0"/>
          </a:p>
        </p:txBody>
      </p:sp>
      <p:sp>
        <p:nvSpPr>
          <p:cNvPr id="8" name="Shape 6"/>
          <p:cNvSpPr/>
          <p:nvPr/>
        </p:nvSpPr>
        <p:spPr>
          <a:xfrm>
            <a:off x="3657600" y="1920240"/>
            <a:ext cx="2377440" cy="2011680"/>
          </a:xfrm>
          <a:prstGeom prst="triangle">
            <a:avLst/>
          </a:prstGeom>
          <a:solidFill>
            <a:srgbClr val="D9480F">
              <a:alpha val="28000"/>
            </a:srgbClr>
          </a:solidFill>
          <a:ln w="25400">
            <a:solidFill>
              <a:srgbClr val="D9480F"/>
            </a:solidFill>
            <a:prstDash val="solid"/>
          </a:ln>
        </p:spPr>
      </p:sp>
      <p:sp>
        <p:nvSpPr>
          <p:cNvPr id="9" name="Text 7"/>
          <p:cNvSpPr txBox="1"/>
          <p:nvPr/>
        </p:nvSpPr>
        <p:spPr>
          <a:xfrm>
            <a:off x="4389120" y="1645920"/>
            <a:ext cx="914400" cy="274320"/>
          </a:xfrm>
          <a:prstGeom prst="rect">
            <a:avLst/>
          </a:prstGeom>
          <a:noFill/>
          <a:ln/>
        </p:spPr>
        <p:txBody>
          <a:bodyPr wrap="square" lIns="0" tIns="0" rIns="0" bIns="0" rtlCol="0" anchor="ctr"/>
          <a:lstStyle/>
          <a:p>
            <a:pPr algn="ctr" indent="0" marL="0">
              <a:buNone/>
            </a:pPr>
            <a:r>
              <a:rPr lang="en-US" sz="1400" b="1" dirty="0">
                <a:solidFill>
                  <a:srgbClr val="D9480F"/>
                </a:solidFill>
              </a:rPr>
              <a:t>alta</a:t>
            </a:r>
            <a:endParaRPr lang="en-US" sz="1400" dirty="0"/>
          </a:p>
        </p:txBody>
      </p:sp>
      <p:sp>
        <p:nvSpPr>
          <p:cNvPr id="10" name="Shape 8"/>
          <p:cNvSpPr/>
          <p:nvPr/>
        </p:nvSpPr>
        <p:spPr>
          <a:xfrm>
            <a:off x="548640" y="3931920"/>
            <a:ext cx="5669280" cy="0"/>
          </a:xfrm>
          <a:prstGeom prst="line">
            <a:avLst/>
          </a:prstGeom>
          <a:noFill/>
          <a:ln w="15875">
            <a:solidFill>
              <a:srgbClr val="1A202C"/>
            </a:solidFill>
            <a:prstDash val="solid"/>
            <a:tailEnd type="triangle"/>
          </a:ln>
        </p:spPr>
      </p:sp>
      <p:sp>
        <p:nvSpPr>
          <p:cNvPr id="11" name="Text 9"/>
          <p:cNvSpPr txBox="1"/>
          <p:nvPr/>
        </p:nvSpPr>
        <p:spPr>
          <a:xfrm>
            <a:off x="548640" y="4005072"/>
            <a:ext cx="5760720" cy="274320"/>
          </a:xfrm>
          <a:prstGeom prst="rect">
            <a:avLst/>
          </a:prstGeom>
          <a:noFill/>
          <a:ln/>
        </p:spPr>
        <p:txBody>
          <a:bodyPr wrap="square" lIns="0" tIns="0" rIns="0" bIns="0" rtlCol="0" anchor="ctr"/>
          <a:lstStyle/>
          <a:p>
            <a:pPr indent="0" marL="0">
              <a:buNone/>
            </a:pPr>
            <a:r>
              <a:rPr lang="en-US" sz="1100" i="1" dirty="0">
                <a:solidFill>
                  <a:srgbClr val="5A6578"/>
                </a:solidFill>
              </a:rPr>
              <a:t>grado de exposición → (forma ilustrativa: rangos y funciones [PENDIENTE])</a:t>
            </a:r>
            <a:endParaRPr lang="en-US" sz="1100" dirty="0"/>
          </a:p>
        </p:txBody>
      </p:sp>
      <p:sp>
        <p:nvSpPr>
          <p:cNvPr id="12" name="Shape 10"/>
          <p:cNvSpPr/>
          <p:nvPr/>
        </p:nvSpPr>
        <p:spPr>
          <a:xfrm>
            <a:off x="502920" y="4572000"/>
            <a:ext cx="5852160" cy="1463040"/>
          </a:xfrm>
          <a:prstGeom prst="roundRect">
            <a:avLst>
              <a:gd name="adj" fmla="val 5000"/>
            </a:avLst>
          </a:prstGeom>
          <a:solidFill>
            <a:srgbClr val="F4F6FA"/>
          </a:solidFill>
          <a:ln w="15875">
            <a:solidFill>
              <a:srgbClr val="F4F6FA"/>
            </a:solidFill>
            <a:prstDash val="solid"/>
          </a:ln>
        </p:spPr>
      </p:sp>
      <p:sp>
        <p:nvSpPr>
          <p:cNvPr id="13" name="Text 11"/>
          <p:cNvSpPr txBox="1"/>
          <p:nvPr/>
        </p:nvSpPr>
        <p:spPr>
          <a:xfrm>
            <a:off x="731520" y="4617720"/>
            <a:ext cx="5486400" cy="1371600"/>
          </a:xfrm>
          <a:prstGeom prst="rect">
            <a:avLst/>
          </a:prstGeom>
          <a:noFill/>
          <a:ln/>
        </p:spPr>
        <p:txBody>
          <a:bodyPr wrap="square" lIns="0" tIns="0" rIns="0" bIns="0" rtlCol="0" anchor="ctr"/>
          <a:lstStyle/>
          <a:p>
            <a:pPr indent="0" marL="0">
              <a:spcAft>
                <a:spcPts val="400"/>
              </a:spcAft>
              <a:buNone/>
            </a:pPr>
            <a:r>
              <a:rPr lang="en-US" sz="1300" b="1" dirty="0">
                <a:solidFill>
                  <a:srgbClr val="5A6578"/>
                </a:solidFill>
              </a:rPr>
              <a:t>Forma de regla (propuesta, sin validar):</a:t>
            </a:r>
            <a:endParaRPr lang="en-US" sz="1500" dirty="0"/>
          </a:p>
          <a:p>
            <a:pPr indent="0" marL="0">
              <a:spcAft>
                <a:spcPts val="400"/>
              </a:spcAft>
              <a:buNone/>
            </a:pPr>
            <a:r>
              <a:rPr lang="en-US" sz="1500" dirty="0">
                <a:solidFill>
                  <a:srgbClr val="1A202C"/>
                </a:solidFill>
              </a:rPr>
              <a:t>SI exposición es ALTA y exceso de peso es EN EL LÍMITE ENTONCES adecuación es BAJA</a:t>
            </a:r>
            <a:endParaRPr lang="en-US" sz="1500" dirty="0"/>
          </a:p>
          <a:p>
            <a:pPr indent="0" marL="0">
              <a:spcAft>
                <a:spcPts val="400"/>
              </a:spcAft>
              <a:buNone/>
            </a:pPr>
            <a:r>
              <a:rPr lang="en-US" sz="1300" dirty="0">
                <a:solidFill>
                  <a:srgbClr val="5A6578"/>
                </a:solidFill>
              </a:rPr>
              <a:t>Lo excluyente lo siguen decidiendo las reglas crisp; lo difuso ordena alternativas.</a:t>
            </a:r>
            <a:endParaRPr lang="en-US" sz="1500" dirty="0"/>
          </a:p>
        </p:txBody>
      </p:sp>
      <p:sp>
        <p:nvSpPr>
          <p:cNvPr id="14" name="Text 12"/>
          <p:cNvSpPr txBox="1"/>
          <p:nvPr/>
        </p:nvSpPr>
        <p:spPr>
          <a:xfrm>
            <a:off x="6766560" y="1188720"/>
            <a:ext cx="4937760" cy="365760"/>
          </a:xfrm>
          <a:prstGeom prst="rect">
            <a:avLst/>
          </a:prstGeom>
          <a:noFill/>
          <a:ln/>
        </p:spPr>
        <p:txBody>
          <a:bodyPr wrap="square" lIns="0" tIns="0" rIns="0" bIns="0" rtlCol="0" anchor="ctr"/>
          <a:lstStyle/>
          <a:p>
            <a:pPr indent="0" marL="0">
              <a:buNone/>
            </a:pPr>
            <a:r>
              <a:rPr lang="en-US" sz="1800" b="1" dirty="0">
                <a:solidFill>
                  <a:srgbClr val="1A202C"/>
                </a:solidFill>
              </a:rPr>
              <a:t>Variables candidatas ya identificadas</a:t>
            </a:r>
            <a:endParaRPr lang="en-US" sz="1800" dirty="0"/>
          </a:p>
        </p:txBody>
      </p:sp>
      <p:sp>
        <p:nvSpPr>
          <p:cNvPr id="15" name="Shape 13"/>
          <p:cNvSpPr/>
          <p:nvPr/>
        </p:nvSpPr>
        <p:spPr>
          <a:xfrm>
            <a:off x="6766560" y="1737360"/>
            <a:ext cx="4892040" cy="1188720"/>
          </a:xfrm>
          <a:prstGeom prst="roundRect">
            <a:avLst>
              <a:gd name="adj" fmla="val 6154"/>
            </a:avLst>
          </a:prstGeom>
          <a:solidFill>
            <a:srgbClr val="FFFFFF"/>
          </a:solidFill>
          <a:ln w="15875">
            <a:solidFill>
              <a:srgbClr val="2A9D8F"/>
            </a:solidFill>
            <a:prstDash val="solid"/>
          </a:ln>
        </p:spPr>
      </p:sp>
      <p:sp>
        <p:nvSpPr>
          <p:cNvPr id="16" name="Text 14"/>
          <p:cNvSpPr txBox="1"/>
          <p:nvPr/>
        </p:nvSpPr>
        <p:spPr>
          <a:xfrm>
            <a:off x="6949440" y="1828800"/>
            <a:ext cx="4572000" cy="320040"/>
          </a:xfrm>
          <a:prstGeom prst="rect">
            <a:avLst/>
          </a:prstGeom>
          <a:noFill/>
          <a:ln/>
        </p:spPr>
        <p:txBody>
          <a:bodyPr wrap="square" lIns="0" tIns="0" rIns="0" bIns="0" rtlCol="0" anchor="ctr"/>
          <a:lstStyle/>
          <a:p>
            <a:pPr indent="0" marL="0">
              <a:buNone/>
            </a:pPr>
            <a:r>
              <a:rPr lang="en-US" sz="1500" b="1" dirty="0">
                <a:solidFill>
                  <a:srgbClr val="2A9D8F"/>
                </a:solidFill>
              </a:rPr>
              <a:t>Materiales</a:t>
            </a:r>
            <a:endParaRPr lang="en-US" sz="1500" dirty="0"/>
          </a:p>
        </p:txBody>
      </p:sp>
      <p:sp>
        <p:nvSpPr>
          <p:cNvPr id="17" name="Text 15"/>
          <p:cNvSpPr txBox="1"/>
          <p:nvPr/>
        </p:nvSpPr>
        <p:spPr>
          <a:xfrm>
            <a:off x="6949440" y="2148840"/>
            <a:ext cx="4572000" cy="731520"/>
          </a:xfrm>
          <a:prstGeom prst="rect">
            <a:avLst/>
          </a:prstGeom>
          <a:noFill/>
          <a:ln/>
        </p:spPr>
        <p:txBody>
          <a:bodyPr wrap="square" lIns="0" tIns="0" rIns="0" bIns="0" rtlCol="0" anchor="t"/>
          <a:lstStyle/>
          <a:p>
            <a:pPr indent="0" marL="0">
              <a:buNone/>
            </a:pPr>
            <a:r>
              <a:rPr lang="en-US" sz="1300" dirty="0">
                <a:solidFill>
                  <a:srgbClr val="1A202C"/>
                </a:solidFill>
              </a:rPr>
              <a:t>exposición ambiental · dificultad de instalación · confiabilidad del soporte · límite de gran porte</a:t>
            </a:r>
            <a:endParaRPr lang="en-US" sz="1300" dirty="0"/>
          </a:p>
        </p:txBody>
      </p:sp>
      <p:sp>
        <p:nvSpPr>
          <p:cNvPr id="18" name="Shape 16"/>
          <p:cNvSpPr/>
          <p:nvPr/>
        </p:nvSpPr>
        <p:spPr>
          <a:xfrm>
            <a:off x="6766560" y="3108960"/>
            <a:ext cx="4892040" cy="1188720"/>
          </a:xfrm>
          <a:prstGeom prst="roundRect">
            <a:avLst>
              <a:gd name="adj" fmla="val 6154"/>
            </a:avLst>
          </a:prstGeom>
          <a:solidFill>
            <a:srgbClr val="FFFFFF"/>
          </a:solidFill>
          <a:ln w="15875">
            <a:solidFill>
              <a:srgbClr val="D9480F"/>
            </a:solidFill>
            <a:prstDash val="solid"/>
          </a:ln>
        </p:spPr>
      </p:sp>
      <p:sp>
        <p:nvSpPr>
          <p:cNvPr id="19" name="Text 17"/>
          <p:cNvSpPr txBox="1"/>
          <p:nvPr/>
        </p:nvSpPr>
        <p:spPr>
          <a:xfrm>
            <a:off x="6949440" y="3200400"/>
            <a:ext cx="4572000" cy="320040"/>
          </a:xfrm>
          <a:prstGeom prst="rect">
            <a:avLst/>
          </a:prstGeom>
          <a:noFill/>
          <a:ln/>
        </p:spPr>
        <p:txBody>
          <a:bodyPr wrap="square" lIns="0" tIns="0" rIns="0" bIns="0" rtlCol="0" anchor="ctr"/>
          <a:lstStyle/>
          <a:p>
            <a:pPr indent="0" marL="0">
              <a:buNone/>
            </a:pPr>
            <a:r>
              <a:rPr lang="en-US" sz="1500" b="1" dirty="0">
                <a:solidFill>
                  <a:srgbClr val="D9480F"/>
                </a:solidFill>
              </a:rPr>
              <a:t>Manufacturabilidad</a:t>
            </a:r>
            <a:endParaRPr lang="en-US" sz="1500" dirty="0"/>
          </a:p>
        </p:txBody>
      </p:sp>
      <p:sp>
        <p:nvSpPr>
          <p:cNvPr id="20" name="Text 18"/>
          <p:cNvSpPr txBox="1"/>
          <p:nvPr/>
        </p:nvSpPr>
        <p:spPr>
          <a:xfrm>
            <a:off x="6949440" y="3520440"/>
            <a:ext cx="4572000" cy="731520"/>
          </a:xfrm>
          <a:prstGeom prst="rect">
            <a:avLst/>
          </a:prstGeom>
          <a:noFill/>
          <a:ln/>
        </p:spPr>
        <p:txBody>
          <a:bodyPr wrap="square" lIns="0" tIns="0" rIns="0" bIns="0" rtlCol="0" anchor="t"/>
          <a:lstStyle/>
          <a:p>
            <a:pPr indent="0" marL="0">
              <a:buNone/>
            </a:pPr>
            <a:r>
              <a:rPr lang="en-US" sz="1300" dirty="0">
                <a:solidFill>
                  <a:srgbClr val="1A202C"/>
                </a:solidFill>
              </a:rPr>
              <a:t>flexibilidad estética · complejidad de fabricación · impacto estético · exceso de peso</a:t>
            </a:r>
            <a:endParaRPr lang="en-US" sz="1300" dirty="0"/>
          </a:p>
        </p:txBody>
      </p:sp>
      <p:sp>
        <p:nvSpPr>
          <p:cNvPr id="21" name="Shape 19"/>
          <p:cNvSpPr/>
          <p:nvPr/>
        </p:nvSpPr>
        <p:spPr>
          <a:xfrm>
            <a:off x="6766560" y="4480560"/>
            <a:ext cx="4892040" cy="1188720"/>
          </a:xfrm>
          <a:prstGeom prst="roundRect">
            <a:avLst>
              <a:gd name="adj" fmla="val 6154"/>
            </a:avLst>
          </a:prstGeom>
          <a:solidFill>
            <a:srgbClr val="FFFFFF"/>
          </a:solidFill>
          <a:ln w="15875">
            <a:solidFill>
              <a:srgbClr val="2B6CB0"/>
            </a:solidFill>
            <a:prstDash val="solid"/>
          </a:ln>
        </p:spPr>
      </p:sp>
      <p:sp>
        <p:nvSpPr>
          <p:cNvPr id="22" name="Text 20"/>
          <p:cNvSpPr txBox="1"/>
          <p:nvPr/>
        </p:nvSpPr>
        <p:spPr>
          <a:xfrm>
            <a:off x="6949440" y="4572000"/>
            <a:ext cx="4572000" cy="320040"/>
          </a:xfrm>
          <a:prstGeom prst="rect">
            <a:avLst/>
          </a:prstGeom>
          <a:noFill/>
          <a:ln/>
        </p:spPr>
        <p:txBody>
          <a:bodyPr wrap="square" lIns="0" tIns="0" rIns="0" bIns="0" rtlCol="0" anchor="ctr"/>
          <a:lstStyle/>
          <a:p>
            <a:pPr indent="0" marL="0">
              <a:buNone/>
            </a:pPr>
            <a:r>
              <a:rPr lang="en-US" sz="1500" b="1" dirty="0">
                <a:solidFill>
                  <a:srgbClr val="2B6CB0"/>
                </a:solidFill>
              </a:rPr>
              <a:t>Interpretación</a:t>
            </a:r>
            <a:endParaRPr lang="en-US" sz="1500" dirty="0"/>
          </a:p>
        </p:txBody>
      </p:sp>
      <p:sp>
        <p:nvSpPr>
          <p:cNvPr id="23" name="Text 21"/>
          <p:cNvSpPr txBox="1"/>
          <p:nvPr/>
        </p:nvSpPr>
        <p:spPr>
          <a:xfrm>
            <a:off x="6949440" y="4892040"/>
            <a:ext cx="4572000" cy="731520"/>
          </a:xfrm>
          <a:prstGeom prst="rect">
            <a:avLst/>
          </a:prstGeom>
          <a:noFill/>
          <a:ln/>
        </p:spPr>
        <p:txBody>
          <a:bodyPr wrap="square" lIns="0" tIns="0" rIns="0" bIns="0" rtlCol="0" anchor="t"/>
          <a:lstStyle/>
          <a:p>
            <a:pPr indent="0" marL="0">
              <a:buNone/>
            </a:pPr>
            <a:r>
              <a:rPr lang="en-US" sz="1300" dirty="0">
                <a:solidFill>
                  <a:srgbClr val="1A202C"/>
                </a:solidFill>
              </a:rPr>
              <a:t>ambigüedad · suficiencia del pedido · rigidez · criticidad · precisión de la medida</a:t>
            </a:r>
            <a:endParaRPr lang="en-US" sz="1300" dirty="0"/>
          </a:p>
        </p:txBody>
      </p:sp>
      <p:sp>
        <p:nvSpPr>
          <p:cNvPr id="24" name="Text 22"/>
          <p:cNvSpPr txBox="1"/>
          <p:nvPr/>
        </p:nvSpPr>
        <p:spPr>
          <a:xfrm>
            <a:off x="6766560" y="5852160"/>
            <a:ext cx="4937760" cy="274320"/>
          </a:xfrm>
          <a:prstGeom prst="rect">
            <a:avLst/>
          </a:prstGeom>
          <a:noFill/>
          <a:ln/>
        </p:spPr>
        <p:txBody>
          <a:bodyPr wrap="square" lIns="0" tIns="0" rIns="0" bIns="0" rtlCol="0" anchor="ctr"/>
          <a:lstStyle/>
          <a:p>
            <a:pPr indent="0" marL="0">
              <a:buNone/>
            </a:pPr>
            <a:r>
              <a:rPr lang="en-US" sz="1200" i="1" dirty="0">
                <a:solidFill>
                  <a:srgbClr val="5A6578"/>
                </a:solidFill>
              </a:rPr>
              <a:t>Hoy viven en el grafo como marcadores crisp (p. ej. Entorno.nivel_exposicion = alta).</a:t>
            </a:r>
            <a:endParaRPr lang="en-US" sz="12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Neo4j: el caso CU2 instanciado sobre el modelo</a:t>
            </a:r>
            <a:endParaRPr lang="en-US" sz="3000" dirty="0"/>
          </a:p>
        </p:txBody>
      </p:sp>
      <p:pic>
        <p:nvPicPr>
          <p:cNvPr id="3" name="Image 0" descr="D:\University\Quinto\IA\Proyecto IA\salida\img\cu2_instanciado.png">    </p:cNvPr>
          <p:cNvPicPr>
            <a:picLocks noChangeAspect="1"/>
          </p:cNvPicPr>
          <p:nvPr/>
        </p:nvPicPr>
        <p:blipFill>
          <a:blip r:embed="rId1"/>
          <a:stretch>
            <a:fillRect/>
          </a:stretch>
        </p:blipFill>
        <p:spPr>
          <a:xfrm>
            <a:off x="411480" y="1151646"/>
            <a:ext cx="9098280" cy="5011907"/>
          </a:xfrm>
          <a:prstGeom prst="rect">
            <a:avLst/>
          </a:prstGeom>
        </p:spPr>
      </p:pic>
      <p:sp>
        <p:nvSpPr>
          <p:cNvPr id="4" name="Text 1"/>
          <p:cNvSpPr txBox="1"/>
          <p:nvPr/>
        </p:nvSpPr>
        <p:spPr>
          <a:xfrm>
            <a:off x="9692640" y="1188720"/>
            <a:ext cx="2011680" cy="548640"/>
          </a:xfrm>
          <a:prstGeom prst="rect">
            <a:avLst/>
          </a:prstGeom>
          <a:noFill/>
          <a:ln/>
        </p:spPr>
        <p:txBody>
          <a:bodyPr wrap="square" lIns="0" tIns="0" rIns="0" bIns="0" rtlCol="0" anchor="ctr"/>
          <a:lstStyle/>
          <a:p>
            <a:pPr indent="0" marL="0">
              <a:buNone/>
            </a:pPr>
            <a:r>
              <a:rPr lang="en-US" sz="3400" b="1" dirty="0">
                <a:solidFill>
                  <a:srgbClr val="1A202C"/>
                </a:solidFill>
              </a:rPr>
              <a:t>55</a:t>
            </a:r>
            <a:endParaRPr lang="en-US" sz="3400" dirty="0"/>
          </a:p>
        </p:txBody>
      </p:sp>
      <p:sp>
        <p:nvSpPr>
          <p:cNvPr id="5" name="Text 2"/>
          <p:cNvSpPr txBox="1"/>
          <p:nvPr/>
        </p:nvSpPr>
        <p:spPr>
          <a:xfrm>
            <a:off x="9692640" y="1719072"/>
            <a:ext cx="2011680" cy="274320"/>
          </a:xfrm>
          <a:prstGeom prst="rect">
            <a:avLst/>
          </a:prstGeom>
          <a:noFill/>
          <a:ln/>
        </p:spPr>
        <p:txBody>
          <a:bodyPr wrap="square" lIns="0" tIns="0" rIns="0" bIns="0" rtlCol="0" anchor="ctr"/>
          <a:lstStyle/>
          <a:p>
            <a:pPr indent="0" marL="0">
              <a:buNone/>
            </a:pPr>
            <a:r>
              <a:rPr lang="en-US" sz="1300" dirty="0">
                <a:solidFill>
                  <a:srgbClr val="5A6578"/>
                </a:solidFill>
              </a:rPr>
              <a:t>frames</a:t>
            </a:r>
            <a:endParaRPr lang="en-US" sz="1300" dirty="0"/>
          </a:p>
        </p:txBody>
      </p:sp>
      <p:sp>
        <p:nvSpPr>
          <p:cNvPr id="6" name="Text 3"/>
          <p:cNvSpPr txBox="1"/>
          <p:nvPr/>
        </p:nvSpPr>
        <p:spPr>
          <a:xfrm>
            <a:off x="9692640" y="2176272"/>
            <a:ext cx="2011680" cy="548640"/>
          </a:xfrm>
          <a:prstGeom prst="rect">
            <a:avLst/>
          </a:prstGeom>
          <a:noFill/>
          <a:ln/>
        </p:spPr>
        <p:txBody>
          <a:bodyPr wrap="square" lIns="0" tIns="0" rIns="0" bIns="0" rtlCol="0" anchor="ctr"/>
          <a:lstStyle/>
          <a:p>
            <a:pPr indent="0" marL="0">
              <a:buNone/>
            </a:pPr>
            <a:r>
              <a:rPr lang="en-US" sz="3400" b="1" dirty="0">
                <a:solidFill>
                  <a:srgbClr val="1A202C"/>
                </a:solidFill>
              </a:rPr>
              <a:t>105</a:t>
            </a:r>
            <a:endParaRPr lang="en-US" sz="3400" dirty="0"/>
          </a:p>
        </p:txBody>
      </p:sp>
      <p:sp>
        <p:nvSpPr>
          <p:cNvPr id="7" name="Text 4"/>
          <p:cNvSpPr txBox="1"/>
          <p:nvPr/>
        </p:nvSpPr>
        <p:spPr>
          <a:xfrm>
            <a:off x="9692640" y="2706624"/>
            <a:ext cx="2011680" cy="274320"/>
          </a:xfrm>
          <a:prstGeom prst="rect">
            <a:avLst/>
          </a:prstGeom>
          <a:noFill/>
          <a:ln/>
        </p:spPr>
        <p:txBody>
          <a:bodyPr wrap="square" lIns="0" tIns="0" rIns="0" bIns="0" rtlCol="0" anchor="ctr"/>
          <a:lstStyle/>
          <a:p>
            <a:pPr indent="0" marL="0">
              <a:buNone/>
            </a:pPr>
            <a:r>
              <a:rPr lang="en-US" sz="1300" dirty="0">
                <a:solidFill>
                  <a:srgbClr val="5A6578"/>
                </a:solidFill>
              </a:rPr>
              <a:t>slots con facetas</a:t>
            </a:r>
            <a:endParaRPr lang="en-US" sz="1300" dirty="0"/>
          </a:p>
        </p:txBody>
      </p:sp>
      <p:sp>
        <p:nvSpPr>
          <p:cNvPr id="8" name="Text 5"/>
          <p:cNvSpPr txBox="1"/>
          <p:nvPr/>
        </p:nvSpPr>
        <p:spPr>
          <a:xfrm>
            <a:off x="9692640" y="3163824"/>
            <a:ext cx="2011680" cy="548640"/>
          </a:xfrm>
          <a:prstGeom prst="rect">
            <a:avLst/>
          </a:prstGeom>
          <a:noFill/>
          <a:ln/>
        </p:spPr>
        <p:txBody>
          <a:bodyPr wrap="square" lIns="0" tIns="0" rIns="0" bIns="0" rtlCol="0" anchor="ctr"/>
          <a:lstStyle/>
          <a:p>
            <a:pPr indent="0" marL="0">
              <a:buNone/>
            </a:pPr>
            <a:r>
              <a:rPr lang="en-US" sz="3400" b="1" dirty="0">
                <a:solidFill>
                  <a:srgbClr val="FF2E88"/>
                </a:solidFill>
              </a:rPr>
              <a:t>38</a:t>
            </a:r>
            <a:endParaRPr lang="en-US" sz="3400" dirty="0"/>
          </a:p>
        </p:txBody>
      </p:sp>
      <p:sp>
        <p:nvSpPr>
          <p:cNvPr id="9" name="Text 6"/>
          <p:cNvSpPr txBox="1"/>
          <p:nvPr/>
        </p:nvSpPr>
        <p:spPr>
          <a:xfrm>
            <a:off x="9692640" y="3694176"/>
            <a:ext cx="2011680" cy="274320"/>
          </a:xfrm>
          <a:prstGeom prst="rect">
            <a:avLst/>
          </a:prstGeom>
          <a:noFill/>
          <a:ln/>
        </p:spPr>
        <p:txBody>
          <a:bodyPr wrap="square" lIns="0" tIns="0" rIns="0" bIns="0" rtlCol="0" anchor="ctr"/>
          <a:lstStyle/>
          <a:p>
            <a:pPr indent="0" marL="0">
              <a:buNone/>
            </a:pPr>
            <a:r>
              <a:rPr lang="en-US" sz="1300" dirty="0">
                <a:solidFill>
                  <a:srgbClr val="5A6578"/>
                </a:solidFill>
              </a:rPr>
              <a:t>reglas</a:t>
            </a:r>
            <a:endParaRPr lang="en-US" sz="1300" dirty="0"/>
          </a:p>
        </p:txBody>
      </p:sp>
      <p:sp>
        <p:nvSpPr>
          <p:cNvPr id="10" name="Text 7"/>
          <p:cNvSpPr txBox="1"/>
          <p:nvPr/>
        </p:nvSpPr>
        <p:spPr>
          <a:xfrm>
            <a:off x="9692640" y="4151376"/>
            <a:ext cx="2011680" cy="548640"/>
          </a:xfrm>
          <a:prstGeom prst="rect">
            <a:avLst/>
          </a:prstGeom>
          <a:noFill/>
          <a:ln/>
        </p:spPr>
        <p:txBody>
          <a:bodyPr wrap="square" lIns="0" tIns="0" rIns="0" bIns="0" rtlCol="0" anchor="ctr"/>
          <a:lstStyle/>
          <a:p>
            <a:pPr indent="0" marL="0">
              <a:buNone/>
            </a:pPr>
            <a:r>
              <a:rPr lang="en-US" sz="3400" b="1" dirty="0">
                <a:solidFill>
                  <a:srgbClr val="1A202C"/>
                </a:solidFill>
              </a:rPr>
              <a:t>122</a:t>
            </a:r>
            <a:endParaRPr lang="en-US" sz="3400" dirty="0"/>
          </a:p>
        </p:txBody>
      </p:sp>
      <p:sp>
        <p:nvSpPr>
          <p:cNvPr id="11" name="Text 8"/>
          <p:cNvSpPr txBox="1"/>
          <p:nvPr/>
        </p:nvSpPr>
        <p:spPr>
          <a:xfrm>
            <a:off x="9692640" y="4681728"/>
            <a:ext cx="2011680" cy="274320"/>
          </a:xfrm>
          <a:prstGeom prst="rect">
            <a:avLst/>
          </a:prstGeom>
          <a:noFill/>
          <a:ln/>
        </p:spPr>
        <p:txBody>
          <a:bodyPr wrap="square" lIns="0" tIns="0" rIns="0" bIns="0" rtlCol="0" anchor="ctr"/>
          <a:lstStyle/>
          <a:p>
            <a:pPr indent="0" marL="0">
              <a:buNone/>
            </a:pPr>
            <a:r>
              <a:rPr lang="en-US" sz="1300" dirty="0">
                <a:solidFill>
                  <a:srgbClr val="5A6578"/>
                </a:solidFill>
              </a:rPr>
              <a:t>instancias</a:t>
            </a:r>
            <a:endParaRPr lang="en-US" sz="1300" dirty="0"/>
          </a:p>
        </p:txBody>
      </p:sp>
      <p:sp>
        <p:nvSpPr>
          <p:cNvPr id="12" name="Text 9"/>
          <p:cNvSpPr txBox="1"/>
          <p:nvPr/>
        </p:nvSpPr>
        <p:spPr>
          <a:xfrm>
            <a:off x="9692640" y="5138928"/>
            <a:ext cx="2011680" cy="548640"/>
          </a:xfrm>
          <a:prstGeom prst="rect">
            <a:avLst/>
          </a:prstGeom>
          <a:noFill/>
          <a:ln/>
        </p:spPr>
        <p:txBody>
          <a:bodyPr wrap="square" lIns="0" tIns="0" rIns="0" bIns="0" rtlCol="0" anchor="ctr"/>
          <a:lstStyle/>
          <a:p>
            <a:pPr indent="0" marL="0">
              <a:buNone/>
            </a:pPr>
            <a:r>
              <a:rPr lang="en-US" sz="3400" b="1" dirty="0">
                <a:solidFill>
                  <a:srgbClr val="1A202C"/>
                </a:solidFill>
              </a:rPr>
              <a:t>626</a:t>
            </a:r>
            <a:endParaRPr lang="en-US" sz="3400" dirty="0"/>
          </a:p>
        </p:txBody>
      </p:sp>
      <p:sp>
        <p:nvSpPr>
          <p:cNvPr id="13" name="Text 10"/>
          <p:cNvSpPr txBox="1"/>
          <p:nvPr/>
        </p:nvSpPr>
        <p:spPr>
          <a:xfrm>
            <a:off x="9692640" y="5669280"/>
            <a:ext cx="2011680" cy="274320"/>
          </a:xfrm>
          <a:prstGeom prst="rect">
            <a:avLst/>
          </a:prstGeom>
          <a:noFill/>
          <a:ln/>
        </p:spPr>
        <p:txBody>
          <a:bodyPr wrap="square" lIns="0" tIns="0" rIns="0" bIns="0" rtlCol="0" anchor="ctr"/>
          <a:lstStyle/>
          <a:p>
            <a:pPr indent="0" marL="0">
              <a:buNone/>
            </a:pPr>
            <a:r>
              <a:rPr lang="en-US" sz="1300" dirty="0">
                <a:solidFill>
                  <a:srgbClr val="5A6578"/>
                </a:solidFill>
              </a:rPr>
              <a:t>relaciones</a:t>
            </a:r>
            <a:endParaRPr lang="en-US" sz="13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Una consulta Cypher: el cliente filtra las alternativas</a:t>
            </a:r>
            <a:endParaRPr lang="en-US" sz="3000" dirty="0"/>
          </a:p>
        </p:txBody>
      </p:sp>
      <p:sp>
        <p:nvSpPr>
          <p:cNvPr id="3" name="Shape 1"/>
          <p:cNvSpPr/>
          <p:nvPr/>
        </p:nvSpPr>
        <p:spPr>
          <a:xfrm>
            <a:off x="502920" y="1188720"/>
            <a:ext cx="4937760" cy="1828800"/>
          </a:xfrm>
          <a:prstGeom prst="roundRect">
            <a:avLst>
              <a:gd name="adj" fmla="val 4000"/>
            </a:avLst>
          </a:prstGeom>
          <a:solidFill>
            <a:srgbClr val="141824"/>
          </a:solidFill>
          <a:ln w="12700">
            <a:solidFill>
              <a:srgbClr val="141824"/>
            </a:solidFill>
            <a:prstDash val="solid"/>
          </a:ln>
        </p:spPr>
      </p:sp>
      <p:sp>
        <p:nvSpPr>
          <p:cNvPr id="4" name="Text 2"/>
          <p:cNvSpPr txBox="1"/>
          <p:nvPr/>
        </p:nvSpPr>
        <p:spPr>
          <a:xfrm>
            <a:off x="731520" y="1298448"/>
            <a:ext cx="4572000" cy="1645920"/>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MATCH (r:RestriccionCliente)-[d:ADMITE|RECHAZA]-&gt;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(a:AlternativaRediseno)</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RETURN a.caso, r.descripcion,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type(d) AS decision,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a.nombre, d.regla</a:t>
            </a:r>
            <a:endParaRPr lang="en-US" sz="1400" dirty="0"/>
          </a:p>
        </p:txBody>
      </p:sp>
      <p:sp>
        <p:nvSpPr>
          <p:cNvPr id="5" name="Text 3"/>
          <p:cNvSpPr txBox="1"/>
          <p:nvPr/>
        </p:nvSpPr>
        <p:spPr>
          <a:xfrm>
            <a:off x="502920" y="3246120"/>
            <a:ext cx="4937760" cy="274320"/>
          </a:xfrm>
          <a:prstGeom prst="rect">
            <a:avLst/>
          </a:prstGeom>
          <a:noFill/>
          <a:ln/>
        </p:spPr>
        <p:txBody>
          <a:bodyPr wrap="square" lIns="0" tIns="0" rIns="0" bIns="0" rtlCol="0" anchor="ctr"/>
          <a:lstStyle/>
          <a:p>
            <a:pPr indent="0" marL="0">
              <a:buNone/>
            </a:pPr>
            <a:r>
              <a:rPr lang="en-US" sz="1300" b="1" dirty="0">
                <a:solidFill>
                  <a:srgbClr val="5A6578"/>
                </a:solidFill>
              </a:rPr>
              <a:t>La regla que creó esas relaciones (MAN-R6, extracto):</a:t>
            </a:r>
            <a:endParaRPr lang="en-US" sz="1300" dirty="0"/>
          </a:p>
        </p:txBody>
      </p:sp>
      <p:sp>
        <p:nvSpPr>
          <p:cNvPr id="6" name="Shape 4"/>
          <p:cNvSpPr/>
          <p:nvPr/>
        </p:nvSpPr>
        <p:spPr>
          <a:xfrm>
            <a:off x="502920" y="3611880"/>
            <a:ext cx="4937760" cy="1600200"/>
          </a:xfrm>
          <a:prstGeom prst="roundRect">
            <a:avLst>
              <a:gd name="adj" fmla="val 4571"/>
            </a:avLst>
          </a:prstGeom>
          <a:solidFill>
            <a:srgbClr val="F4F6FA"/>
          </a:solidFill>
          <a:ln w="12700">
            <a:solidFill>
              <a:srgbClr val="CBD5E0"/>
            </a:solidFill>
            <a:prstDash val="solid"/>
          </a:ln>
        </p:spPr>
      </p:sp>
      <p:sp>
        <p:nvSpPr>
          <p:cNvPr id="7" name="Text 5"/>
          <p:cNvSpPr txBox="1"/>
          <p:nvPr/>
        </p:nvSpPr>
        <p:spPr>
          <a:xfrm>
            <a:off x="731520" y="3703320"/>
            <a:ext cx="4572000" cy="1463040"/>
          </a:xfrm>
          <a:prstGeom prst="rect">
            <a:avLst/>
          </a:prstGeom>
          <a:noFill/>
          <a:ln/>
        </p:spPr>
        <p:txBody>
          <a:bodyPr wrap="square" lIns="0" tIns="0" rIns="0" bIns="0" rtlCol="0" anchor="t"/>
          <a:lstStyle/>
          <a:p>
            <a:pPr indent="0" marL="0">
              <a:buNone/>
            </a:pPr>
            <a:r>
              <a:rPr lang="en-US" sz="1200" dirty="0">
                <a:solidFill>
                  <a:srgbClr val="1A202C"/>
                </a:solidFill>
                <a:latin typeface="Consolas" pitchFamily="34" charset="0"/>
                <a:ea typeface="Consolas" pitchFamily="34" charset="-122"/>
                <a:cs typeface="Consolas" pitchFamily="34" charset="-120"/>
              </a:rPr>
              <a:t>MATCH (r:RestriccionCliente {criterio:'fidelidad_logo',</a:t>
            </a:r>
            <a:endParaRPr lang="en-US" sz="1200" dirty="0"/>
          </a:p>
          <a:p>
            <a:pPr indent="0" marL="0">
              <a:buNone/>
            </a:pPr>
            <a:r>
              <a:rPr lang="en-US" sz="1200" dirty="0">
                <a:solidFill>
                  <a:srgbClr val="1A202C"/>
                </a:solidFill>
                <a:latin typeface="Consolas" pitchFamily="34" charset="0"/>
                <a:ea typeface="Consolas" pitchFamily="34" charset="-122"/>
                <a:cs typeface="Consolas" pitchFamily="34" charset="-120"/>
              </a:rPr>
              <a:t>        nivel:'Alta'})-[:CONDICIONA]-&gt;(c:Cartel),</a:t>
            </a:r>
            <a:endParaRPr lang="en-US" sz="1200" dirty="0"/>
          </a:p>
          <a:p>
            <a:pPr indent="0" marL="0">
              <a:buNone/>
            </a:pPr>
            <a:r>
              <a:rPr lang="en-US" sz="1200" dirty="0">
                <a:solidFill>
                  <a:srgbClr val="1A202C"/>
                </a:solidFill>
                <a:latin typeface="Consolas" pitchFamily="34" charset="0"/>
                <a:ea typeface="Consolas" pitchFamily="34" charset="-122"/>
                <a:cs typeface="Consolas" pitchFamily="34" charset="-120"/>
              </a:rPr>
              <a:t>      (k:Conflicto {tipo:'TrazoFino'})</a:t>
            </a:r>
            <a:endParaRPr lang="en-US" sz="1200" dirty="0"/>
          </a:p>
          <a:p>
            <a:pPr indent="0" marL="0">
              <a:buNone/>
            </a:pPr>
            <a:r>
              <a:rPr lang="en-US" sz="1200" dirty="0">
                <a:solidFill>
                  <a:srgbClr val="1A202C"/>
                </a:solidFill>
                <a:latin typeface="Consolas" pitchFamily="34" charset="0"/>
                <a:ea typeface="Consolas" pitchFamily="34" charset="-122"/>
                <a:cs typeface="Consolas" pitchFamily="34" charset="-120"/>
              </a:rPr>
              <a:t>        -[:EXIGE]-&gt;(alt)</a:t>
            </a:r>
            <a:endParaRPr lang="en-US" sz="1200" dirty="0"/>
          </a:p>
          <a:p>
            <a:pPr indent="0" marL="0">
              <a:buNone/>
            </a:pPr>
            <a:r>
              <a:rPr lang="en-US" sz="1200" dirty="0">
                <a:solidFill>
                  <a:srgbClr val="1A202C"/>
                </a:solidFill>
                <a:latin typeface="Consolas" pitchFamily="34" charset="0"/>
                <a:ea typeface="Consolas" pitchFamily="34" charset="-122"/>
                <a:cs typeface="Consolas" pitchFamily="34" charset="-120"/>
              </a:rPr>
              <a:t>… MERGE (r)-[:RECHAZA {regla:'MAN-R6'}]-&gt;(alt)</a:t>
            </a:r>
            <a:endParaRPr lang="en-US" sz="1200" dirty="0"/>
          </a:p>
        </p:txBody>
      </p:sp>
      <p:sp>
        <p:nvSpPr>
          <p:cNvPr id="8" name="Text 6"/>
          <p:cNvSpPr txBox="1"/>
          <p:nvPr/>
        </p:nvSpPr>
        <p:spPr>
          <a:xfrm>
            <a:off x="5623560" y="1188720"/>
            <a:ext cx="5852160" cy="274320"/>
          </a:xfrm>
          <a:prstGeom prst="rect">
            <a:avLst/>
          </a:prstGeom>
          <a:noFill/>
          <a:ln/>
        </p:spPr>
        <p:txBody>
          <a:bodyPr wrap="square" lIns="0" tIns="0" rIns="0" bIns="0" rtlCol="0" anchor="ctr"/>
          <a:lstStyle/>
          <a:p>
            <a:pPr indent="0" marL="0">
              <a:buNone/>
            </a:pPr>
            <a:r>
              <a:rPr lang="en-US" sz="1300" b="1" dirty="0">
                <a:solidFill>
                  <a:srgbClr val="5A6578"/>
                </a:solidFill>
              </a:rPr>
              <a:t>Resultado real (paso 14 de 04_consultas.cypher)</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23560" y="1554480"/>
          <a:ext cx="6080760" cy="914400"/>
        </p:xfrm>
        <a:graphic>
          <a:graphicData uri="http://schemas.openxmlformats.org/drawingml/2006/table">
            <a:tbl>
              <a:tblPr/>
              <a:tblGrid>
                <a:gridCol w="548640"/>
                <a:gridCol w="1783080"/>
                <a:gridCol w="868680"/>
                <a:gridCol w="1874520"/>
                <a:gridCol w="1005840"/>
              </a:tblGrid>
              <a:tr h="438912">
                <a:tc>
                  <a:txBody>
                    <a:bodyPr/>
                    <a:lstStyle/>
                    <a:p>
                      <a:pPr indent="0" marL="0">
                        <a:buNone/>
                      </a:pPr>
                      <a:r>
                        <a:rPr lang="en-US" sz="1100" b="1" dirty="0">
                          <a:solidFill>
                            <a:srgbClr val="FFFFFF"/>
                          </a:solidFill>
                        </a:rPr>
                        <a:t>caso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100" b="1" dirty="0">
                          <a:solidFill>
                            <a:srgbClr val="FFFFFF"/>
                          </a:solidFill>
                        </a:rPr>
                        <a:t>restricción del cliente</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100" b="1" dirty="0">
                          <a:solidFill>
                            <a:srgbClr val="FFFFFF"/>
                          </a:solidFill>
                        </a:rPr>
                        <a:t>decisión</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100" b="1" dirty="0">
                          <a:solidFill>
                            <a:srgbClr val="FFFFFF"/>
                          </a:solidFill>
                        </a:rPr>
                        <a:t>alternativa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c>
                  <a:txBody>
                    <a:bodyPr/>
                    <a:lstStyle/>
                    <a:p>
                      <a:pPr indent="0" marL="0">
                        <a:buNone/>
                      </a:pPr>
                      <a:r>
                        <a:rPr lang="en-US" sz="1100" b="1" dirty="0">
                          <a:solidFill>
                            <a:srgbClr val="FFFFFF"/>
                          </a:solidFill>
                        </a:rPr>
                        <a:t>regla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1824"/>
                    </a:solidFill>
                  </a:tcPr>
                </a:tc>
              </a:tr>
              <a:tr h="438912">
                <a:tc>
                  <a:txBody>
                    <a:bodyPr/>
                    <a:lstStyle/>
                    <a:p>
                      <a:pPr indent="0" marL="0">
                        <a:buNone/>
                      </a:pPr>
                      <a:r>
                        <a:rPr lang="en-US" sz="1100" dirty="0">
                          <a:solidFill>
                            <a:srgbClr val="1A202C"/>
                          </a:solidFill>
                        </a:rPr>
                        <a:t>L-C1</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mantener la identidad del logo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C53030"/>
                          </a:solidFill>
                        </a:rPr>
                        <a:t>RECHAZA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EngrosarTrazo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MAN-R6</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A202C"/>
                          </a:solidFill>
                        </a:rPr>
                        <a:t>L-C1</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mantener la identidad del logo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b="1" dirty="0">
                          <a:solidFill>
                            <a:srgbClr val="2F855A"/>
                          </a:solidFill>
                        </a:rPr>
                        <a:t>ADMITE</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PasarRetroiluminado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MAN-R6</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438912">
                <a:tc>
                  <a:txBody>
                    <a:bodyPr/>
                    <a:lstStyle/>
                    <a:p>
                      <a:pPr indent="0" marL="0">
                        <a:buNone/>
                      </a:pPr>
                      <a:r>
                        <a:rPr lang="en-US" sz="1100" dirty="0">
                          <a:solidFill>
                            <a:srgbClr val="1A202C"/>
                          </a:solidFill>
                        </a:rPr>
                        <a:t>L-C2</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mantener el tamaño (500 mm)</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2F855A"/>
                          </a:solidFill>
                        </a:rPr>
                        <a:t>ADMITE</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SegmentacionModular</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MAN-FILTRO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A202C"/>
                          </a:solidFill>
                        </a:rPr>
                        <a:t>L-C2</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mantener el tamaño (500 mm)</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b="1" dirty="0">
                          <a:solidFill>
                            <a:srgbClr val="2F855A"/>
                          </a:solidFill>
                        </a:rPr>
                        <a:t>ADMITE</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CambioFijacion_Refuerzo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MAN-FILTRO</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r h="438912">
                <a:tc>
                  <a:txBody>
                    <a:bodyPr/>
                    <a:lstStyle/>
                    <a:p>
                      <a:pPr indent="0" marL="0">
                        <a:buNone/>
                      </a:pPr>
                      <a:r>
                        <a:rPr lang="en-US" sz="1100" dirty="0">
                          <a:solidFill>
                            <a:srgbClr val="1A202C"/>
                          </a:solidFill>
                        </a:rPr>
                        <a:t>L-C3</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instalación no invasiva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b="1" dirty="0">
                          <a:solidFill>
                            <a:srgbClr val="C53030"/>
                          </a:solidFill>
                        </a:rPr>
                        <a:t>RECHAZA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FijacionMayorCapacidad</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100" dirty="0">
                          <a:solidFill>
                            <a:srgbClr val="1A202C"/>
                          </a:solidFill>
                        </a:rPr>
                        <a:t>MAN-R9</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A202C"/>
                          </a:solidFill>
                        </a:rPr>
                        <a:t>L-C3</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instalación no invasiva</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b="1" dirty="0">
                          <a:solidFill>
                            <a:srgbClr val="2F855A"/>
                          </a:solidFill>
                        </a:rPr>
                        <a:t>ADMITE</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ReducirInfill</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c>
                  <a:txBody>
                    <a:bodyPr/>
                    <a:lstStyle/>
                    <a:p>
                      <a:pPr indent="0" marL="0">
                        <a:buNone/>
                      </a:pPr>
                      <a:r>
                        <a:rPr lang="en-US" sz="1100" dirty="0">
                          <a:solidFill>
                            <a:srgbClr val="1A202C"/>
                          </a:solidFill>
                        </a:rPr>
                        <a:t>MAN-R9</a:t>
                      </a:r>
                      <a:endParaRPr lang="en-US" sz="1100" dirty="0"/>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4F6FA"/>
                    </a:solidFill>
                  </a:tcPr>
                </a:tc>
              </a:tr>
            </a:tbl>
          </a:graphicData>
        </a:graphic>
      </p:graphicFrame>
      <p:sp>
        <p:nvSpPr>
          <p:cNvPr id="10" name="Text 7"/>
          <p:cNvSpPr txBox="1"/>
          <p:nvPr/>
        </p:nvSpPr>
        <p:spPr>
          <a:xfrm>
            <a:off x="5623560" y="4846320"/>
            <a:ext cx="6080760" cy="822960"/>
          </a:xfrm>
          <a:prstGeom prst="rect">
            <a:avLst/>
          </a:prstGeom>
          <a:noFill/>
          <a:ln/>
        </p:spPr>
        <p:txBody>
          <a:bodyPr wrap="square" lIns="0" tIns="0" rIns="0" bIns="0" rtlCol="0" anchor="ctr"/>
          <a:lstStyle/>
          <a:p>
            <a:pPr indent="0" marL="0">
              <a:buNone/>
            </a:pPr>
            <a:r>
              <a:rPr lang="en-US" sz="1300" dirty="0">
                <a:solidFill>
                  <a:srgbClr val="1A202C"/>
                </a:solidFill>
              </a:rPr>
              <a:t>La restricción obligatoria descarta; la que no tiene objeción queda viable (MAN-FILTRO). Si todas quedan descartadas, MAN-R8 devuelve el caso al cliente.</a:t>
            </a:r>
            <a:endParaRPr lang="en-US" sz="13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Demo en vivo: el caso que no avanza… hasta que avanza</a:t>
            </a:r>
            <a:endParaRPr lang="en-US" sz="3000" dirty="0"/>
          </a:p>
        </p:txBody>
      </p:sp>
      <p:sp>
        <p:nvSpPr>
          <p:cNvPr id="3" name="Shape 1"/>
          <p:cNvSpPr/>
          <p:nvPr/>
        </p:nvSpPr>
        <p:spPr>
          <a:xfrm>
            <a:off x="502920" y="1234440"/>
            <a:ext cx="502920" cy="502920"/>
          </a:xfrm>
          <a:prstGeom prst="ellipse">
            <a:avLst/>
          </a:prstGeom>
          <a:solidFill>
            <a:srgbClr val="2B6CB0"/>
          </a:solidFill>
          <a:ln w="12700">
            <a:solidFill>
              <a:srgbClr val="2B6CB0"/>
            </a:solidFill>
            <a:prstDash val="solid"/>
          </a:ln>
        </p:spPr>
      </p:sp>
      <p:sp>
        <p:nvSpPr>
          <p:cNvPr id="4" name="Text 2"/>
          <p:cNvSpPr txBox="1"/>
          <p:nvPr/>
        </p:nvSpPr>
        <p:spPr>
          <a:xfrm>
            <a:off x="502920" y="1234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188720" y="1216152"/>
            <a:ext cx="4754880" cy="329184"/>
          </a:xfrm>
          <a:prstGeom prst="rect">
            <a:avLst/>
          </a:prstGeom>
          <a:noFill/>
          <a:ln/>
        </p:spPr>
        <p:txBody>
          <a:bodyPr wrap="square" lIns="0" tIns="0" rIns="0" bIns="0" rtlCol="0" anchor="ctr"/>
          <a:lstStyle/>
          <a:p>
            <a:pPr indent="0" marL="0">
              <a:buNone/>
            </a:pPr>
            <a:r>
              <a:rPr lang="en-US" sz="1600" b="1" dirty="0">
                <a:solidFill>
                  <a:srgbClr val="1A202C"/>
                </a:solidFill>
              </a:rPr>
              <a:t>¿Por qué P-01 no puede evaluarse?</a:t>
            </a:r>
            <a:endParaRPr lang="en-US" sz="1600" dirty="0"/>
          </a:p>
        </p:txBody>
      </p:sp>
      <p:sp>
        <p:nvSpPr>
          <p:cNvPr id="6" name="Text 4"/>
          <p:cNvSpPr txBox="1"/>
          <p:nvPr/>
        </p:nvSpPr>
        <p:spPr>
          <a:xfrm>
            <a:off x="1188720" y="1536192"/>
            <a:ext cx="4754880" cy="292608"/>
          </a:xfrm>
          <a:prstGeom prst="rect">
            <a:avLst/>
          </a:prstGeom>
          <a:noFill/>
          <a:ln/>
        </p:spPr>
        <p:txBody>
          <a:bodyPr wrap="square" lIns="0" tIns="0" rIns="0" bIns="0" rtlCol="0" anchor="ctr"/>
          <a:lstStyle/>
          <a:p>
            <a:pPr indent="0" marL="0">
              <a:buNone/>
            </a:pPr>
            <a:r>
              <a:rPr lang="en-US" sz="1300" dirty="0">
                <a:solidFill>
                  <a:srgbClr val="5A6578"/>
                </a:solidFill>
              </a:rPr>
              <a:t>falta el soporte; la consulta Q1 está abierta</a:t>
            </a:r>
            <a:endParaRPr lang="en-US" sz="1300" dirty="0"/>
          </a:p>
        </p:txBody>
      </p:sp>
      <p:sp>
        <p:nvSpPr>
          <p:cNvPr id="7" name="Shape 5"/>
          <p:cNvSpPr/>
          <p:nvPr/>
        </p:nvSpPr>
        <p:spPr>
          <a:xfrm>
            <a:off x="502920" y="2130552"/>
            <a:ext cx="502920" cy="502920"/>
          </a:xfrm>
          <a:prstGeom prst="ellipse">
            <a:avLst/>
          </a:prstGeom>
          <a:solidFill>
            <a:srgbClr val="2B6CB0"/>
          </a:solidFill>
          <a:ln w="12700">
            <a:solidFill>
              <a:srgbClr val="2B6CB0"/>
            </a:solidFill>
            <a:prstDash val="solid"/>
          </a:ln>
        </p:spPr>
      </p:sp>
      <p:sp>
        <p:nvSpPr>
          <p:cNvPr id="8" name="Text 6"/>
          <p:cNvSpPr txBox="1"/>
          <p:nvPr/>
        </p:nvSpPr>
        <p:spPr>
          <a:xfrm>
            <a:off x="502920" y="21305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188720" y="2112264"/>
            <a:ext cx="4754880" cy="329184"/>
          </a:xfrm>
          <a:prstGeom prst="rect">
            <a:avLst/>
          </a:prstGeom>
          <a:noFill/>
          <a:ln/>
        </p:spPr>
        <p:txBody>
          <a:bodyPr wrap="square" lIns="0" tIns="0" rIns="0" bIns="0" rtlCol="0" anchor="ctr"/>
          <a:lstStyle/>
          <a:p>
            <a:pPr indent="0" marL="0">
              <a:buNone/>
            </a:pPr>
            <a:r>
              <a:rPr lang="en-US" sz="1600" b="1" dirty="0">
                <a:solidFill>
                  <a:srgbClr val="1A202C"/>
                </a:solidFill>
              </a:rPr>
              <a:t>Materiales responde con R-MI-01</a:t>
            </a:r>
            <a:endParaRPr lang="en-US" sz="1600" dirty="0"/>
          </a:p>
        </p:txBody>
      </p:sp>
      <p:sp>
        <p:nvSpPr>
          <p:cNvPr id="10" name="Text 8"/>
          <p:cNvSpPr txBox="1"/>
          <p:nvPr/>
        </p:nvSpPr>
        <p:spPr>
          <a:xfrm>
            <a:off x="1188720" y="2432304"/>
            <a:ext cx="4754880" cy="292608"/>
          </a:xfrm>
          <a:prstGeom prst="rect">
            <a:avLst/>
          </a:prstGeom>
          <a:noFill/>
          <a:ln/>
        </p:spPr>
        <p:txBody>
          <a:bodyPr wrap="square" lIns="0" tIns="0" rIns="0" bIns="0" rtlCol="0" anchor="ctr"/>
          <a:lstStyle/>
          <a:p>
            <a:pPr indent="0" marL="0">
              <a:buNone/>
            </a:pPr>
            <a:r>
              <a:rPr lang="en-US" sz="1300" dirty="0">
                <a:solidFill>
                  <a:srgbClr val="5A6578"/>
                </a:solidFill>
              </a:rPr>
              <a:t>sin soporte no se evalúa → bloqueante</a:t>
            </a:r>
            <a:endParaRPr lang="en-US" sz="1300" dirty="0"/>
          </a:p>
        </p:txBody>
      </p:sp>
      <p:sp>
        <p:nvSpPr>
          <p:cNvPr id="11" name="Shape 9"/>
          <p:cNvSpPr/>
          <p:nvPr/>
        </p:nvSpPr>
        <p:spPr>
          <a:xfrm>
            <a:off x="502920" y="3026664"/>
            <a:ext cx="502920" cy="502920"/>
          </a:xfrm>
          <a:prstGeom prst="ellipse">
            <a:avLst/>
          </a:prstGeom>
          <a:solidFill>
            <a:srgbClr val="2B6CB0"/>
          </a:solidFill>
          <a:ln w="12700">
            <a:solidFill>
              <a:srgbClr val="2B6CB0"/>
            </a:solidFill>
            <a:prstDash val="solid"/>
          </a:ln>
        </p:spPr>
      </p:sp>
      <p:sp>
        <p:nvSpPr>
          <p:cNvPr id="12" name="Text 10"/>
          <p:cNvSpPr txBox="1"/>
          <p:nvPr/>
        </p:nvSpPr>
        <p:spPr>
          <a:xfrm>
            <a:off x="502920" y="302666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1"/>
          <p:cNvSpPr txBox="1"/>
          <p:nvPr/>
        </p:nvSpPr>
        <p:spPr>
          <a:xfrm>
            <a:off x="1188720" y="3008376"/>
            <a:ext cx="4754880" cy="329184"/>
          </a:xfrm>
          <a:prstGeom prst="rect">
            <a:avLst/>
          </a:prstGeom>
          <a:noFill/>
          <a:ln/>
        </p:spPr>
        <p:txBody>
          <a:bodyPr wrap="square" lIns="0" tIns="0" rIns="0" bIns="0" rtlCol="0" anchor="ctr"/>
          <a:lstStyle/>
          <a:p>
            <a:pPr indent="0" marL="0">
              <a:buNone/>
            </a:pPr>
            <a:r>
              <a:rPr lang="en-US" sz="1600" b="1" dirty="0">
                <a:solidFill>
                  <a:srgbClr val="1A202C"/>
                </a:solidFill>
              </a:rPr>
              <a:t>Llega la respuesta → INT-R11</a:t>
            </a:r>
            <a:endParaRPr lang="en-US" sz="1600" dirty="0"/>
          </a:p>
        </p:txBody>
      </p:sp>
      <p:sp>
        <p:nvSpPr>
          <p:cNvPr id="14" name="Text 12"/>
          <p:cNvSpPr txBox="1"/>
          <p:nvPr/>
        </p:nvSpPr>
        <p:spPr>
          <a:xfrm>
            <a:off x="1188720" y="3328416"/>
            <a:ext cx="4754880" cy="292608"/>
          </a:xfrm>
          <a:prstGeom prst="rect">
            <a:avLst/>
          </a:prstGeom>
          <a:noFill/>
          <a:ln/>
        </p:spPr>
        <p:txBody>
          <a:bodyPr wrap="square" lIns="0" tIns="0" rIns="0" bIns="0" rtlCol="0" anchor="ctr"/>
          <a:lstStyle/>
          <a:p>
            <a:pPr indent="0" marL="0">
              <a:buNone/>
            </a:pPr>
            <a:r>
              <a:rPr lang="en-US" sz="1300" dirty="0">
                <a:solidFill>
                  <a:srgbClr val="5A6578"/>
                </a:solidFill>
              </a:rPr>
              <a:t>P-01 listo, se genera la ficha FR-01</a:t>
            </a:r>
            <a:endParaRPr lang="en-US" sz="1300" dirty="0"/>
          </a:p>
        </p:txBody>
      </p:sp>
      <p:sp>
        <p:nvSpPr>
          <p:cNvPr id="15" name="Shape 13"/>
          <p:cNvSpPr/>
          <p:nvPr/>
        </p:nvSpPr>
        <p:spPr>
          <a:xfrm>
            <a:off x="502920" y="3922776"/>
            <a:ext cx="502920" cy="502920"/>
          </a:xfrm>
          <a:prstGeom prst="ellipse">
            <a:avLst/>
          </a:prstGeom>
          <a:solidFill>
            <a:srgbClr val="2A9D8F"/>
          </a:solidFill>
          <a:ln w="12700">
            <a:solidFill>
              <a:srgbClr val="2A9D8F"/>
            </a:solidFill>
            <a:prstDash val="solid"/>
          </a:ln>
        </p:spPr>
      </p:sp>
      <p:sp>
        <p:nvSpPr>
          <p:cNvPr id="16" name="Text 14"/>
          <p:cNvSpPr txBox="1"/>
          <p:nvPr/>
        </p:nvSpPr>
        <p:spPr>
          <a:xfrm>
            <a:off x="502920" y="39227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Text 15"/>
          <p:cNvSpPr txBox="1"/>
          <p:nvPr/>
        </p:nvSpPr>
        <p:spPr>
          <a:xfrm>
            <a:off x="1188720" y="3904488"/>
            <a:ext cx="4754880" cy="329184"/>
          </a:xfrm>
          <a:prstGeom prst="rect">
            <a:avLst/>
          </a:prstGeom>
          <a:noFill/>
          <a:ln/>
        </p:spPr>
        <p:txBody>
          <a:bodyPr wrap="square" lIns="0" tIns="0" rIns="0" bIns="0" rtlCol="0" anchor="ctr"/>
          <a:lstStyle/>
          <a:p>
            <a:pPr indent="0" marL="0">
              <a:buNone/>
            </a:pPr>
            <a:r>
              <a:rPr lang="en-US" sz="1600" b="1" dirty="0">
                <a:solidFill>
                  <a:srgbClr val="1A202C"/>
                </a:solidFill>
              </a:rPr>
              <a:t>Recorridos de CU1 y CU2</a:t>
            </a:r>
            <a:endParaRPr lang="en-US" sz="1600" dirty="0"/>
          </a:p>
        </p:txBody>
      </p:sp>
      <p:sp>
        <p:nvSpPr>
          <p:cNvPr id="18" name="Text 16"/>
          <p:cNvSpPr txBox="1"/>
          <p:nvPr/>
        </p:nvSpPr>
        <p:spPr>
          <a:xfrm>
            <a:off x="1188720" y="4224528"/>
            <a:ext cx="4754880" cy="292608"/>
          </a:xfrm>
          <a:prstGeom prst="rect">
            <a:avLst/>
          </a:prstGeom>
          <a:noFill/>
          <a:ln/>
        </p:spPr>
        <p:txBody>
          <a:bodyPr wrap="square" lIns="0" tIns="0" rIns="0" bIns="0" rtlCol="0" anchor="ctr"/>
          <a:lstStyle/>
          <a:p>
            <a:pPr indent="0" marL="0">
              <a:buNone/>
            </a:pPr>
            <a:r>
              <a:rPr lang="en-US" sz="1300" dirty="0">
                <a:solidFill>
                  <a:srgbClr val="5A6578"/>
                </a:solidFill>
              </a:rPr>
              <a:t>ficha → dictamen → conflicto → recomendación</a:t>
            </a:r>
            <a:endParaRPr lang="en-US" sz="1300" dirty="0"/>
          </a:p>
        </p:txBody>
      </p:sp>
      <p:sp>
        <p:nvSpPr>
          <p:cNvPr id="19" name="Shape 17"/>
          <p:cNvSpPr/>
          <p:nvPr/>
        </p:nvSpPr>
        <p:spPr>
          <a:xfrm>
            <a:off x="502920" y="4818888"/>
            <a:ext cx="502920" cy="502920"/>
          </a:xfrm>
          <a:prstGeom prst="ellipse">
            <a:avLst/>
          </a:prstGeom>
          <a:solidFill>
            <a:srgbClr val="D9480F"/>
          </a:solidFill>
          <a:ln w="12700">
            <a:solidFill>
              <a:srgbClr val="D9480F"/>
            </a:solidFill>
            <a:prstDash val="solid"/>
          </a:ln>
        </p:spPr>
      </p:sp>
      <p:sp>
        <p:nvSpPr>
          <p:cNvPr id="20" name="Text 18"/>
          <p:cNvSpPr txBox="1"/>
          <p:nvPr/>
        </p:nvSpPr>
        <p:spPr>
          <a:xfrm>
            <a:off x="502920" y="48188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1" name="Text 19"/>
          <p:cNvSpPr txBox="1"/>
          <p:nvPr/>
        </p:nvSpPr>
        <p:spPr>
          <a:xfrm>
            <a:off x="1188720" y="4800600"/>
            <a:ext cx="4754880" cy="329184"/>
          </a:xfrm>
          <a:prstGeom prst="rect">
            <a:avLst/>
          </a:prstGeom>
          <a:noFill/>
          <a:ln/>
        </p:spPr>
        <p:txBody>
          <a:bodyPr wrap="square" lIns="0" tIns="0" rIns="0" bIns="0" rtlCol="0" anchor="ctr"/>
          <a:lstStyle/>
          <a:p>
            <a:pPr indent="0" marL="0">
              <a:buNone/>
            </a:pPr>
            <a:r>
              <a:rPr lang="en-US" sz="1600" b="1" dirty="0">
                <a:solidFill>
                  <a:srgbClr val="1A202C"/>
                </a:solidFill>
              </a:rPr>
              <a:t>Filtro y trazabilidad</a:t>
            </a:r>
            <a:endParaRPr lang="en-US" sz="1600" dirty="0"/>
          </a:p>
        </p:txBody>
      </p:sp>
      <p:sp>
        <p:nvSpPr>
          <p:cNvPr id="22" name="Text 20"/>
          <p:cNvSpPr txBox="1"/>
          <p:nvPr/>
        </p:nvSpPr>
        <p:spPr>
          <a:xfrm>
            <a:off x="1188720" y="5120640"/>
            <a:ext cx="4754880" cy="292608"/>
          </a:xfrm>
          <a:prstGeom prst="rect">
            <a:avLst/>
          </a:prstGeom>
          <a:noFill/>
          <a:ln/>
        </p:spPr>
        <p:txBody>
          <a:bodyPr wrap="square" lIns="0" tIns="0" rIns="0" bIns="0" rtlCol="0" anchor="ctr"/>
          <a:lstStyle/>
          <a:p>
            <a:pPr indent="0" marL="0">
              <a:buNone/>
            </a:pPr>
            <a:r>
              <a:rPr lang="en-US" sz="1300" dirty="0">
                <a:solidFill>
                  <a:srgbClr val="5A6578"/>
                </a:solidFill>
              </a:rPr>
              <a:t>admite / rechaza y reglas activadas en orden</a:t>
            </a:r>
            <a:endParaRPr lang="en-US" sz="1300" dirty="0"/>
          </a:p>
        </p:txBody>
      </p:sp>
      <p:sp>
        <p:nvSpPr>
          <p:cNvPr id="23" name="Shape 21"/>
          <p:cNvSpPr/>
          <p:nvPr/>
        </p:nvSpPr>
        <p:spPr>
          <a:xfrm>
            <a:off x="502920" y="5715000"/>
            <a:ext cx="5394960" cy="457200"/>
          </a:xfrm>
          <a:prstGeom prst="roundRect">
            <a:avLst>
              <a:gd name="adj" fmla="val 16000"/>
            </a:avLst>
          </a:prstGeom>
          <a:solidFill>
            <a:srgbClr val="141824"/>
          </a:solidFill>
          <a:ln w="12700">
            <a:solidFill>
              <a:srgbClr val="141824"/>
            </a:solidFill>
            <a:prstDash val="solid"/>
          </a:ln>
        </p:spPr>
      </p:sp>
      <p:sp>
        <p:nvSpPr>
          <p:cNvPr id="24" name="Text 22"/>
          <p:cNvSpPr txBox="1"/>
          <p:nvPr/>
        </p:nvSpPr>
        <p:spPr>
          <a:xfrm>
            <a:off x="685800" y="5715000"/>
            <a:ext cx="5120640" cy="457200"/>
          </a:xfrm>
          <a:prstGeom prst="rect">
            <a:avLst/>
          </a:prstGeom>
          <a:noFill/>
          <a:ln/>
        </p:spPr>
        <p:txBody>
          <a:bodyPr wrap="square" lIns="0" tIns="0" rIns="0" bIns="0" rtlCol="0" anchor="ctr"/>
          <a:lstStyle/>
          <a:p>
            <a:pPr indent="0" marL="0">
              <a:buNone/>
            </a:pPr>
            <a:r>
              <a:rPr lang="en-US" sz="1300" dirty="0">
                <a:solidFill>
                  <a:srgbClr val="22D3EE"/>
                </a:solidFill>
                <a:latin typeface="Consolas" pitchFamily="34" charset="0"/>
                <a:ea typeface="Consolas" pitchFamily="34" charset="-122"/>
                <a:cs typeface="Consolas" pitchFamily="34" charset="-120"/>
              </a:rPr>
              <a:t>bash neo4j/demo.sh   ·   Browser: localhost:7474</a:t>
            </a:r>
            <a:endParaRPr lang="en-US" sz="1300" dirty="0"/>
          </a:p>
        </p:txBody>
      </p:sp>
      <p:sp>
        <p:nvSpPr>
          <p:cNvPr id="25" name="Text 23"/>
          <p:cNvSpPr txBox="1"/>
          <p:nvPr/>
        </p:nvSpPr>
        <p:spPr>
          <a:xfrm>
            <a:off x="6172200" y="1188720"/>
            <a:ext cx="5532120" cy="274320"/>
          </a:xfrm>
          <a:prstGeom prst="rect">
            <a:avLst/>
          </a:prstGeom>
          <a:noFill/>
          <a:ln/>
        </p:spPr>
        <p:txBody>
          <a:bodyPr wrap="square" lIns="0" tIns="0" rIns="0" bIns="0" rtlCol="0" anchor="ctr"/>
          <a:lstStyle/>
          <a:p>
            <a:pPr indent="0" marL="0">
              <a:buNone/>
            </a:pPr>
            <a:r>
              <a:rPr lang="en-US" sz="1300" b="1" dirty="0">
                <a:solidFill>
                  <a:srgbClr val="5A6578"/>
                </a:solidFill>
              </a:rPr>
              <a:t>Salida real de los pasos 1 y 2 (cypher-shell)</a:t>
            </a:r>
            <a:endParaRPr lang="en-US" sz="1300" dirty="0"/>
          </a:p>
        </p:txBody>
      </p:sp>
      <p:sp>
        <p:nvSpPr>
          <p:cNvPr id="26" name="Shape 24"/>
          <p:cNvSpPr/>
          <p:nvPr/>
        </p:nvSpPr>
        <p:spPr>
          <a:xfrm>
            <a:off x="6172200" y="1554480"/>
            <a:ext cx="5532120" cy="3291840"/>
          </a:xfrm>
          <a:prstGeom prst="roundRect">
            <a:avLst>
              <a:gd name="adj" fmla="val 2222"/>
            </a:avLst>
          </a:prstGeom>
          <a:solidFill>
            <a:srgbClr val="141824"/>
          </a:solidFill>
          <a:ln w="12700">
            <a:solidFill>
              <a:srgbClr val="141824"/>
            </a:solidFill>
            <a:prstDash val="solid"/>
          </a:ln>
        </p:spPr>
      </p:sp>
      <p:sp>
        <p:nvSpPr>
          <p:cNvPr id="27" name="Text 25"/>
          <p:cNvSpPr txBox="1"/>
          <p:nvPr/>
        </p:nvSpPr>
        <p:spPr>
          <a:xfrm>
            <a:off x="6400800" y="1691640"/>
            <a:ext cx="5120640" cy="3063240"/>
          </a:xfrm>
          <a:prstGeom prst="rect">
            <a:avLst/>
          </a:prstGeom>
          <a:noFill/>
          <a:ln/>
        </p:spPr>
        <p:txBody>
          <a:bodyPr wrap="square" lIns="0" tIns="0" rIns="0" bIns="0" rtlCol="0" anchor="t"/>
          <a:lstStyle/>
          <a:p>
            <a:pPr indent="0" marL="0">
              <a:buNone/>
            </a:pPr>
            <a:r>
              <a:rPr lang="en-US" sz="1300" b="1" dirty="0">
                <a:solidFill>
                  <a:srgbClr val="22D3EE"/>
                </a:solidFill>
                <a:latin typeface="Consolas" pitchFamily="34" charset="0"/>
                <a:ea typeface="Consolas" pitchFamily="34" charset="-122"/>
                <a:cs typeface="Consolas" pitchFamily="34" charset="-120"/>
              </a:rPr>
              <a:t>Paso 1 · ¿por qué P-01 no avanza?</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estado      pendiente_de_aclaracion</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faltantes   D4 soporte_y_montaje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(criticidad=sin_clasificar)</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pendientes  A4: ¿Sobre qué pared va…?</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consultas   Q1 -&gt; SM-MAT (pendiente)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b="1" dirty="0">
                <a:solidFill>
                  <a:srgbClr val="22D3EE"/>
                </a:solidFill>
                <a:latin typeface="Consolas" pitchFamily="34" charset="0"/>
                <a:ea typeface="Consolas" pitchFamily="34" charset="-122"/>
                <a:cs typeface="Consolas" pitchFamily="34" charset="-120"/>
              </a:rPr>
              <a:t>Paso 2 · Materiales responde Q1</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Q1  D4  soporte_y_montaje  </a:t>
            </a:r>
            <a:pPr indent="0" marL="0">
              <a:buNone/>
            </a:pPr>
            <a:r>
              <a:rPr lang="en-US" sz="1300" b="1" dirty="0">
                <a:solidFill>
                  <a:srgbClr val="FF2E88"/>
                </a:solidFill>
                <a:latin typeface="Consolas" pitchFamily="34" charset="0"/>
                <a:ea typeface="Consolas" pitchFamily="34" charset="-122"/>
                <a:cs typeface="Consolas" pitchFamily="34" charset="-120"/>
              </a:rPr>
              <a:t>bloqueante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R-MI-01: si falta entorno, soporte o</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dimensiones, no evaluar y pedir el dato</a:t>
            </a:r>
            <a:endParaRPr lang="en-US" sz="1300" dirty="0"/>
          </a:p>
        </p:txBody>
      </p:sp>
      <p:sp>
        <p:nvSpPr>
          <p:cNvPr id="28" name="Text 26"/>
          <p:cNvSpPr txBox="1"/>
          <p:nvPr/>
        </p:nvSpPr>
        <p:spPr>
          <a:xfrm>
            <a:off x="6172200" y="5029200"/>
            <a:ext cx="5532120" cy="320040"/>
          </a:xfrm>
          <a:prstGeom prst="rect">
            <a:avLst/>
          </a:prstGeom>
          <a:noFill/>
          <a:ln/>
        </p:spPr>
        <p:txBody>
          <a:bodyPr wrap="square" lIns="0" tIns="0" rIns="0" bIns="0" rtlCol="0" anchor="ctr"/>
          <a:lstStyle/>
          <a:p>
            <a:pPr indent="0" marL="0">
              <a:buNone/>
            </a:pPr>
            <a:r>
              <a:rPr lang="en-US" sz="1300" i="1" dirty="0">
                <a:solidFill>
                  <a:srgbClr val="5A6578"/>
                </a:solidFill>
              </a:rPr>
              <a:t>Plan B sin conexión: video de 2–3 min con la misma secuencia.</a:t>
            </a:r>
            <a:endParaRPr lang="en-US" sz="13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Hacia el integrador: respuestas desde nuestro modelo</a:t>
            </a:r>
            <a:endParaRPr lang="en-US" sz="3000" dirty="0"/>
          </a:p>
        </p:txBody>
      </p:sp>
      <p:sp>
        <p:nvSpPr>
          <p:cNvPr id="3" name="Shape 1"/>
          <p:cNvSpPr/>
          <p:nvPr/>
        </p:nvSpPr>
        <p:spPr>
          <a:xfrm>
            <a:off x="502920" y="1188720"/>
            <a:ext cx="3584448" cy="2331720"/>
          </a:xfrm>
          <a:prstGeom prst="roundRect">
            <a:avLst>
              <a:gd name="adj" fmla="val 3137"/>
            </a:avLst>
          </a:prstGeom>
          <a:solidFill>
            <a:srgbClr val="FFFFFF"/>
          </a:solidFill>
          <a:ln w="15875">
            <a:solidFill>
              <a:srgbClr val="6B46C1"/>
            </a:solidFill>
            <a:prstDash val="solid"/>
          </a:ln>
        </p:spPr>
      </p:sp>
      <p:sp>
        <p:nvSpPr>
          <p:cNvPr id="4" name="Text 2"/>
          <p:cNvSpPr txBox="1"/>
          <p:nvPr/>
        </p:nvSpPr>
        <p:spPr>
          <a:xfrm>
            <a:off x="685800" y="1307592"/>
            <a:ext cx="1828800" cy="365760"/>
          </a:xfrm>
          <a:prstGeom prst="rect">
            <a:avLst/>
          </a:prstGeom>
          <a:noFill/>
          <a:ln/>
        </p:spPr>
        <p:txBody>
          <a:bodyPr wrap="square" lIns="0" tIns="0" rIns="0" bIns="0" rtlCol="0" anchor="ctr"/>
          <a:lstStyle/>
          <a:p>
            <a:pPr indent="0" marL="0">
              <a:buNone/>
            </a:pPr>
            <a:r>
              <a:rPr lang="en-US" sz="1800" b="1" dirty="0">
                <a:solidFill>
                  <a:srgbClr val="6B46C1"/>
                </a:solidFill>
              </a:rPr>
              <a:t>Grafo</a:t>
            </a:r>
            <a:endParaRPr lang="en-US" sz="1800" dirty="0"/>
          </a:p>
        </p:txBody>
      </p:sp>
      <p:sp>
        <p:nvSpPr>
          <p:cNvPr id="5" name="Shape 3"/>
          <p:cNvSpPr/>
          <p:nvPr/>
        </p:nvSpPr>
        <p:spPr>
          <a:xfrm>
            <a:off x="2377440" y="1335024"/>
            <a:ext cx="1554480" cy="310896"/>
          </a:xfrm>
          <a:prstGeom prst="roundRect">
            <a:avLst>
              <a:gd name="adj" fmla="val 50000"/>
            </a:avLst>
          </a:prstGeom>
          <a:solidFill>
            <a:srgbClr val="2F855A"/>
          </a:solidFill>
          <a:ln w="12700">
            <a:solidFill>
              <a:srgbClr val="2F855A"/>
            </a:solidFill>
            <a:prstDash val="solid"/>
          </a:ln>
        </p:spPr>
      </p:sp>
      <p:sp>
        <p:nvSpPr>
          <p:cNvPr id="6" name="Text 4"/>
          <p:cNvSpPr txBox="1"/>
          <p:nvPr/>
        </p:nvSpPr>
        <p:spPr>
          <a:xfrm>
            <a:off x="2377440" y="13350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hecho</a:t>
            </a:r>
            <a:endParaRPr lang="en-US" sz="1000" dirty="0"/>
          </a:p>
        </p:txBody>
      </p:sp>
      <p:sp>
        <p:nvSpPr>
          <p:cNvPr id="7" name="Text 5"/>
          <p:cNvSpPr txBox="1"/>
          <p:nvPr/>
        </p:nvSpPr>
        <p:spPr>
          <a:xfrm>
            <a:off x="685800" y="1755648"/>
            <a:ext cx="3246120" cy="1691640"/>
          </a:xfrm>
          <a:prstGeom prst="rect">
            <a:avLst/>
          </a:prstGeom>
          <a:noFill/>
          <a:ln/>
        </p:spPr>
        <p:txBody>
          <a:bodyPr wrap="square" lIns="0" tIns="0" rIns="0" bIns="0" rtlCol="0" anchor="t"/>
          <a:lstStyle/>
          <a:p>
            <a:pPr indent="0" marL="0">
              <a:buNone/>
            </a:pPr>
            <a:r>
              <a:rPr lang="en-US" sz="1400" dirty="0">
                <a:solidFill>
                  <a:srgbClr val="1A202C"/>
                </a:solidFill>
              </a:rPr>
              <a:t>Pedido, Dato, RestricciónCliente, Ficha, Cartel, Entorno, Conflicto, Alternativa, Recomendación, Regla. Ficha PRESERVA restricción → CONDICIONA cartel → ADMITE/RECHAZA alternativa.</a:t>
            </a:r>
            <a:endParaRPr lang="en-US" sz="1400" dirty="0"/>
          </a:p>
        </p:txBody>
      </p:sp>
      <p:sp>
        <p:nvSpPr>
          <p:cNvPr id="8" name="Shape 6"/>
          <p:cNvSpPr/>
          <p:nvPr/>
        </p:nvSpPr>
        <p:spPr>
          <a:xfrm>
            <a:off x="4270248" y="1188720"/>
            <a:ext cx="3584448" cy="2331720"/>
          </a:xfrm>
          <a:prstGeom prst="roundRect">
            <a:avLst>
              <a:gd name="adj" fmla="val 3137"/>
            </a:avLst>
          </a:prstGeom>
          <a:solidFill>
            <a:srgbClr val="FFFFFF"/>
          </a:solidFill>
          <a:ln w="15875">
            <a:solidFill>
              <a:srgbClr val="2A9D8F"/>
            </a:solidFill>
            <a:prstDash val="solid"/>
          </a:ln>
        </p:spPr>
      </p:sp>
      <p:sp>
        <p:nvSpPr>
          <p:cNvPr id="9" name="Text 7"/>
          <p:cNvSpPr txBox="1"/>
          <p:nvPr/>
        </p:nvSpPr>
        <p:spPr>
          <a:xfrm>
            <a:off x="4453128" y="1307592"/>
            <a:ext cx="1828800" cy="365760"/>
          </a:xfrm>
          <a:prstGeom prst="rect">
            <a:avLst/>
          </a:prstGeom>
          <a:noFill/>
          <a:ln/>
        </p:spPr>
        <p:txBody>
          <a:bodyPr wrap="square" lIns="0" tIns="0" rIns="0" bIns="0" rtlCol="0" anchor="ctr"/>
          <a:lstStyle/>
          <a:p>
            <a:pPr indent="0" marL="0">
              <a:buNone/>
            </a:pPr>
            <a:r>
              <a:rPr lang="en-US" sz="1800" b="1" dirty="0">
                <a:solidFill>
                  <a:srgbClr val="2A9D8F"/>
                </a:solidFill>
              </a:rPr>
              <a:t>Difusa</a:t>
            </a:r>
            <a:endParaRPr lang="en-US" sz="1800" dirty="0"/>
          </a:p>
        </p:txBody>
      </p:sp>
      <p:sp>
        <p:nvSpPr>
          <p:cNvPr id="10" name="Shape 8"/>
          <p:cNvSpPr/>
          <p:nvPr/>
        </p:nvSpPr>
        <p:spPr>
          <a:xfrm>
            <a:off x="6144768" y="1335024"/>
            <a:ext cx="1554480" cy="310896"/>
          </a:xfrm>
          <a:prstGeom prst="roundRect">
            <a:avLst>
              <a:gd name="adj" fmla="val 50000"/>
            </a:avLst>
          </a:prstGeom>
          <a:solidFill>
            <a:srgbClr val="8A94A6"/>
          </a:solidFill>
          <a:ln w="12700">
            <a:solidFill>
              <a:srgbClr val="8A94A6"/>
            </a:solidFill>
            <a:prstDash val="solid"/>
          </a:ln>
        </p:spPr>
      </p:sp>
      <p:sp>
        <p:nvSpPr>
          <p:cNvPr id="11" name="Text 9"/>
          <p:cNvSpPr txBox="1"/>
          <p:nvPr/>
        </p:nvSpPr>
        <p:spPr>
          <a:xfrm>
            <a:off x="6144768" y="13350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dirección de trabajo</a:t>
            </a:r>
            <a:endParaRPr lang="en-US" sz="1000" dirty="0"/>
          </a:p>
        </p:txBody>
      </p:sp>
      <p:sp>
        <p:nvSpPr>
          <p:cNvPr id="12" name="Text 10"/>
          <p:cNvSpPr txBox="1"/>
          <p:nvPr/>
        </p:nvSpPr>
        <p:spPr>
          <a:xfrm>
            <a:off x="4453128" y="1755648"/>
            <a:ext cx="3246120" cy="1691640"/>
          </a:xfrm>
          <a:prstGeom prst="rect">
            <a:avLst/>
          </a:prstGeom>
          <a:noFill/>
          <a:ln/>
        </p:spPr>
        <p:txBody>
          <a:bodyPr wrap="square" lIns="0" tIns="0" rIns="0" bIns="0" rtlCol="0" anchor="t"/>
          <a:lstStyle/>
          <a:p>
            <a:pPr indent="0" marL="0">
              <a:buNone/>
            </a:pPr>
            <a:r>
              <a:rPr lang="en-US" sz="1400" dirty="0">
                <a:solidFill>
                  <a:srgbClr val="1A202C"/>
                </a:solidFill>
              </a:rPr>
              <a:t>Exposición, flexibilidad estética, complejidad, exceso de peso → índice de adecuación que ordena alternativas; lo excluyente sigue crisp.</a:t>
            </a:r>
            <a:endParaRPr lang="en-US" sz="1400" dirty="0"/>
          </a:p>
        </p:txBody>
      </p:sp>
      <p:sp>
        <p:nvSpPr>
          <p:cNvPr id="13" name="Shape 11"/>
          <p:cNvSpPr/>
          <p:nvPr/>
        </p:nvSpPr>
        <p:spPr>
          <a:xfrm>
            <a:off x="8037576" y="1188720"/>
            <a:ext cx="3584448" cy="2331720"/>
          </a:xfrm>
          <a:prstGeom prst="roundRect">
            <a:avLst>
              <a:gd name="adj" fmla="val 3137"/>
            </a:avLst>
          </a:prstGeom>
          <a:solidFill>
            <a:srgbClr val="FFFFFF"/>
          </a:solidFill>
          <a:ln w="15875">
            <a:solidFill>
              <a:srgbClr val="2B6CB0"/>
            </a:solidFill>
            <a:prstDash val="solid"/>
          </a:ln>
        </p:spPr>
      </p:sp>
      <p:sp>
        <p:nvSpPr>
          <p:cNvPr id="14" name="Text 12"/>
          <p:cNvSpPr txBox="1"/>
          <p:nvPr/>
        </p:nvSpPr>
        <p:spPr>
          <a:xfrm>
            <a:off x="8220456" y="1307592"/>
            <a:ext cx="1828800" cy="365760"/>
          </a:xfrm>
          <a:prstGeom prst="rect">
            <a:avLst/>
          </a:prstGeom>
          <a:noFill/>
          <a:ln/>
        </p:spPr>
        <p:txBody>
          <a:bodyPr wrap="square" lIns="0" tIns="0" rIns="0" bIns="0" rtlCol="0" anchor="ctr"/>
          <a:lstStyle/>
          <a:p>
            <a:pPr indent="0" marL="0">
              <a:buNone/>
            </a:pPr>
            <a:r>
              <a:rPr lang="en-US" sz="1800" b="1" dirty="0">
                <a:solidFill>
                  <a:srgbClr val="2B6CB0"/>
                </a:solidFill>
              </a:rPr>
              <a:t>Planificador</a:t>
            </a:r>
            <a:endParaRPr lang="en-US" sz="1800" dirty="0"/>
          </a:p>
        </p:txBody>
      </p:sp>
      <p:sp>
        <p:nvSpPr>
          <p:cNvPr id="15" name="Shape 13"/>
          <p:cNvSpPr/>
          <p:nvPr/>
        </p:nvSpPr>
        <p:spPr>
          <a:xfrm>
            <a:off x="9912096" y="1335024"/>
            <a:ext cx="1554480" cy="310896"/>
          </a:xfrm>
          <a:prstGeom prst="roundRect">
            <a:avLst>
              <a:gd name="adj" fmla="val 50000"/>
            </a:avLst>
          </a:prstGeom>
          <a:solidFill>
            <a:srgbClr val="2A9D8F"/>
          </a:solidFill>
          <a:ln w="12700">
            <a:solidFill>
              <a:srgbClr val="2A9D8F"/>
            </a:solidFill>
            <a:prstDash val="solid"/>
          </a:ln>
        </p:spPr>
      </p:sp>
      <p:sp>
        <p:nvSpPr>
          <p:cNvPr id="16" name="Text 14"/>
          <p:cNvSpPr txBox="1"/>
          <p:nvPr/>
        </p:nvSpPr>
        <p:spPr>
          <a:xfrm>
            <a:off x="9912096" y="13350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parcial</a:t>
            </a:r>
            <a:endParaRPr lang="en-US" sz="1000" dirty="0"/>
          </a:p>
        </p:txBody>
      </p:sp>
      <p:sp>
        <p:nvSpPr>
          <p:cNvPr id="17" name="Text 15"/>
          <p:cNvSpPr txBox="1"/>
          <p:nvPr/>
        </p:nvSpPr>
        <p:spPr>
          <a:xfrm>
            <a:off x="8220456" y="1755648"/>
            <a:ext cx="3246120" cy="1691640"/>
          </a:xfrm>
          <a:prstGeom prst="rect">
            <a:avLst/>
          </a:prstGeom>
          <a:noFill/>
          <a:ln/>
        </p:spPr>
        <p:txBody>
          <a:bodyPr wrap="square" lIns="0" tIns="0" rIns="0" bIns="0" rtlCol="0" anchor="t"/>
          <a:lstStyle/>
          <a:p>
            <a:pPr indent="0" marL="0">
              <a:buNone/>
            </a:pPr>
            <a:r>
              <a:rPr lang="en-US" sz="1400" dirty="0">
                <a:solidFill>
                  <a:srgbClr val="1A202C"/>
                </a:solidFill>
              </a:rPr>
              <a:t>Pedido → LLM extrae → ciclo de aclaraciones → ficha → materiales → rediseño → explicación. Revisión del experto: MAN-R8 inviable, umbral [PENDIENTE], desacuerdo del fabricante.</a:t>
            </a:r>
            <a:endParaRPr lang="en-US" sz="1400" dirty="0"/>
          </a:p>
        </p:txBody>
      </p:sp>
      <p:sp>
        <p:nvSpPr>
          <p:cNvPr id="18" name="Shape 16"/>
          <p:cNvSpPr/>
          <p:nvPr/>
        </p:nvSpPr>
        <p:spPr>
          <a:xfrm>
            <a:off x="502920" y="3703320"/>
            <a:ext cx="3584448" cy="2331720"/>
          </a:xfrm>
          <a:prstGeom prst="roundRect">
            <a:avLst>
              <a:gd name="adj" fmla="val 3137"/>
            </a:avLst>
          </a:prstGeom>
          <a:solidFill>
            <a:srgbClr val="FFFFFF"/>
          </a:solidFill>
          <a:ln w="15875">
            <a:solidFill>
              <a:srgbClr val="FF2E88"/>
            </a:solidFill>
            <a:prstDash val="solid"/>
          </a:ln>
        </p:spPr>
      </p:sp>
      <p:sp>
        <p:nvSpPr>
          <p:cNvPr id="19" name="Text 17"/>
          <p:cNvSpPr txBox="1"/>
          <p:nvPr/>
        </p:nvSpPr>
        <p:spPr>
          <a:xfrm>
            <a:off x="685800" y="3822192"/>
            <a:ext cx="1828800" cy="365760"/>
          </a:xfrm>
          <a:prstGeom prst="rect">
            <a:avLst/>
          </a:prstGeom>
          <a:noFill/>
          <a:ln/>
        </p:spPr>
        <p:txBody>
          <a:bodyPr wrap="square" lIns="0" tIns="0" rIns="0" bIns="0" rtlCol="0" anchor="ctr"/>
          <a:lstStyle/>
          <a:p>
            <a:pPr indent="0" marL="0">
              <a:buNone/>
            </a:pPr>
            <a:r>
              <a:rPr lang="en-US" sz="1800" b="1" dirty="0">
                <a:solidFill>
                  <a:srgbClr val="FF2E88"/>
                </a:solidFill>
              </a:rPr>
              <a:t>LLM</a:t>
            </a:r>
            <a:endParaRPr lang="en-US" sz="1800" dirty="0"/>
          </a:p>
        </p:txBody>
      </p:sp>
      <p:sp>
        <p:nvSpPr>
          <p:cNvPr id="20" name="Shape 18"/>
          <p:cNvSpPr/>
          <p:nvPr/>
        </p:nvSpPr>
        <p:spPr>
          <a:xfrm>
            <a:off x="2377440" y="3849624"/>
            <a:ext cx="1554480" cy="310896"/>
          </a:xfrm>
          <a:prstGeom prst="roundRect">
            <a:avLst>
              <a:gd name="adj" fmla="val 50000"/>
            </a:avLst>
          </a:prstGeom>
          <a:solidFill>
            <a:srgbClr val="8A94A6"/>
          </a:solidFill>
          <a:ln w="12700">
            <a:solidFill>
              <a:srgbClr val="8A94A6"/>
            </a:solidFill>
            <a:prstDash val="solid"/>
          </a:ln>
        </p:spPr>
      </p:sp>
      <p:sp>
        <p:nvSpPr>
          <p:cNvPr id="21" name="Text 19"/>
          <p:cNvSpPr txBox="1"/>
          <p:nvPr/>
        </p:nvSpPr>
        <p:spPr>
          <a:xfrm>
            <a:off x="2377440" y="38496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dirección de trabajo</a:t>
            </a:r>
            <a:endParaRPr lang="en-US" sz="1000" dirty="0"/>
          </a:p>
        </p:txBody>
      </p:sp>
      <p:sp>
        <p:nvSpPr>
          <p:cNvPr id="22" name="Text 20"/>
          <p:cNvSpPr txBox="1"/>
          <p:nvPr/>
        </p:nvSpPr>
        <p:spPr>
          <a:xfrm>
            <a:off x="685800" y="4270248"/>
            <a:ext cx="3246120" cy="1691640"/>
          </a:xfrm>
          <a:prstGeom prst="rect">
            <a:avLst/>
          </a:prstGeom>
          <a:noFill/>
          <a:ln/>
        </p:spPr>
        <p:txBody>
          <a:bodyPr wrap="square" lIns="0" tIns="0" rIns="0" bIns="0" rtlCol="0" anchor="t"/>
          <a:lstStyle/>
          <a:p>
            <a:pPr indent="0" marL="0">
              <a:buNone/>
            </a:pPr>
            <a:r>
              <a:rPr lang="en-US" sz="1400" dirty="0">
                <a:solidFill>
                  <a:srgbClr val="1A202C"/>
                </a:solidFill>
              </a:rPr>
              <a:t>Interpreta (texto → expresiones e interpretaciones, sin asignar valores: INT-R09) y explica desde la traza. RAG sobre fichas y normas (IEC 60529, CIRSOC 102).</a:t>
            </a:r>
            <a:endParaRPr lang="en-US" sz="1400" dirty="0"/>
          </a:p>
        </p:txBody>
      </p:sp>
      <p:sp>
        <p:nvSpPr>
          <p:cNvPr id="23" name="Shape 21"/>
          <p:cNvSpPr/>
          <p:nvPr/>
        </p:nvSpPr>
        <p:spPr>
          <a:xfrm>
            <a:off x="4270248" y="3703320"/>
            <a:ext cx="3584448" cy="2331720"/>
          </a:xfrm>
          <a:prstGeom prst="roundRect">
            <a:avLst>
              <a:gd name="adj" fmla="val 3137"/>
            </a:avLst>
          </a:prstGeom>
          <a:solidFill>
            <a:srgbClr val="FFFFFF"/>
          </a:solidFill>
          <a:ln w="15875">
            <a:solidFill>
              <a:srgbClr val="D9480F"/>
            </a:solidFill>
            <a:prstDash val="solid"/>
          </a:ln>
        </p:spPr>
      </p:sp>
      <p:sp>
        <p:nvSpPr>
          <p:cNvPr id="24" name="Text 22"/>
          <p:cNvSpPr txBox="1"/>
          <p:nvPr/>
        </p:nvSpPr>
        <p:spPr>
          <a:xfrm>
            <a:off x="4453128" y="3822192"/>
            <a:ext cx="1828800" cy="365760"/>
          </a:xfrm>
          <a:prstGeom prst="rect">
            <a:avLst/>
          </a:prstGeom>
          <a:noFill/>
          <a:ln/>
        </p:spPr>
        <p:txBody>
          <a:bodyPr wrap="square" lIns="0" tIns="0" rIns="0" bIns="0" rtlCol="0" anchor="ctr"/>
          <a:lstStyle/>
          <a:p>
            <a:pPr indent="0" marL="0">
              <a:buNone/>
            </a:pPr>
            <a:r>
              <a:rPr lang="en-US" sz="1800" b="1" dirty="0">
                <a:solidFill>
                  <a:srgbClr val="D9480F"/>
                </a:solidFill>
              </a:rPr>
              <a:t>APIs</a:t>
            </a:r>
            <a:endParaRPr lang="en-US" sz="1800" dirty="0"/>
          </a:p>
        </p:txBody>
      </p:sp>
      <p:sp>
        <p:nvSpPr>
          <p:cNvPr id="25" name="Shape 23"/>
          <p:cNvSpPr/>
          <p:nvPr/>
        </p:nvSpPr>
        <p:spPr>
          <a:xfrm>
            <a:off x="6144768" y="3849624"/>
            <a:ext cx="1554480" cy="310896"/>
          </a:xfrm>
          <a:prstGeom prst="roundRect">
            <a:avLst>
              <a:gd name="adj" fmla="val 50000"/>
            </a:avLst>
          </a:prstGeom>
          <a:solidFill>
            <a:srgbClr val="8A94A6"/>
          </a:solidFill>
          <a:ln w="12700">
            <a:solidFill>
              <a:srgbClr val="8A94A6"/>
            </a:solidFill>
            <a:prstDash val="solid"/>
          </a:ln>
        </p:spPr>
      </p:sp>
      <p:sp>
        <p:nvSpPr>
          <p:cNvPr id="26" name="Text 24"/>
          <p:cNvSpPr txBox="1"/>
          <p:nvPr/>
        </p:nvSpPr>
        <p:spPr>
          <a:xfrm>
            <a:off x="6144768" y="38496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propuesta</a:t>
            </a:r>
            <a:endParaRPr lang="en-US" sz="1000" dirty="0"/>
          </a:p>
        </p:txBody>
      </p:sp>
      <p:sp>
        <p:nvSpPr>
          <p:cNvPr id="27" name="Text 25"/>
          <p:cNvSpPr txBox="1"/>
          <p:nvPr/>
        </p:nvSpPr>
        <p:spPr>
          <a:xfrm>
            <a:off x="4453128" y="4270248"/>
            <a:ext cx="3246120" cy="1691640"/>
          </a:xfrm>
          <a:prstGeom prst="rect">
            <a:avLst/>
          </a:prstGeom>
          <a:noFill/>
          <a:ln/>
        </p:spPr>
        <p:txBody>
          <a:bodyPr wrap="square" lIns="0" tIns="0" rIns="0" bIns="0" rtlCol="0" anchor="t"/>
          <a:lstStyle/>
          <a:p>
            <a:pPr indent="0" marL="0">
              <a:buNone/>
            </a:pPr>
            <a:r>
              <a:rPr lang="en-US" sz="1400" dirty="0">
                <a:solidFill>
                  <a:srgbClr val="1A202C"/>
                </a:solidFill>
              </a:rPr>
              <a:t>POST /evaluar (pedido → aclaraciones o recomendación) · POST /aclaraciones/{id} · GET /explicacion/{caso} (reglas, nodos, advertencias).</a:t>
            </a:r>
            <a:endParaRPr lang="en-US" sz="1400" dirty="0"/>
          </a:p>
        </p:txBody>
      </p:sp>
      <p:sp>
        <p:nvSpPr>
          <p:cNvPr id="28" name="Shape 26"/>
          <p:cNvSpPr/>
          <p:nvPr/>
        </p:nvSpPr>
        <p:spPr>
          <a:xfrm>
            <a:off x="8037576" y="3703320"/>
            <a:ext cx="3584448" cy="2331720"/>
          </a:xfrm>
          <a:prstGeom prst="roundRect">
            <a:avLst>
              <a:gd name="adj" fmla="val 3137"/>
            </a:avLst>
          </a:prstGeom>
          <a:solidFill>
            <a:srgbClr val="FFFFFF"/>
          </a:solidFill>
          <a:ln w="15875">
            <a:solidFill>
              <a:srgbClr val="141824"/>
            </a:solidFill>
            <a:prstDash val="solid"/>
          </a:ln>
        </p:spPr>
      </p:sp>
      <p:sp>
        <p:nvSpPr>
          <p:cNvPr id="29" name="Text 27"/>
          <p:cNvSpPr txBox="1"/>
          <p:nvPr/>
        </p:nvSpPr>
        <p:spPr>
          <a:xfrm>
            <a:off x="8220456" y="3822192"/>
            <a:ext cx="1828800" cy="365760"/>
          </a:xfrm>
          <a:prstGeom prst="rect">
            <a:avLst/>
          </a:prstGeom>
          <a:noFill/>
          <a:ln/>
        </p:spPr>
        <p:txBody>
          <a:bodyPr wrap="square" lIns="0" tIns="0" rIns="0" bIns="0" rtlCol="0" anchor="ctr"/>
          <a:lstStyle/>
          <a:p>
            <a:pPr indent="0" marL="0">
              <a:buNone/>
            </a:pPr>
            <a:r>
              <a:rPr lang="en-US" sz="1800" b="1" dirty="0">
                <a:solidFill>
                  <a:srgbClr val="141824"/>
                </a:solidFill>
              </a:rPr>
              <a:t>Trazabilidad</a:t>
            </a:r>
            <a:endParaRPr lang="en-US" sz="1800" dirty="0"/>
          </a:p>
        </p:txBody>
      </p:sp>
      <p:sp>
        <p:nvSpPr>
          <p:cNvPr id="30" name="Shape 28"/>
          <p:cNvSpPr/>
          <p:nvPr/>
        </p:nvSpPr>
        <p:spPr>
          <a:xfrm>
            <a:off x="9912096" y="3849624"/>
            <a:ext cx="1554480" cy="310896"/>
          </a:xfrm>
          <a:prstGeom prst="roundRect">
            <a:avLst>
              <a:gd name="adj" fmla="val 50000"/>
            </a:avLst>
          </a:prstGeom>
          <a:solidFill>
            <a:srgbClr val="2F855A"/>
          </a:solidFill>
          <a:ln w="12700">
            <a:solidFill>
              <a:srgbClr val="2F855A"/>
            </a:solidFill>
            <a:prstDash val="solid"/>
          </a:ln>
        </p:spPr>
      </p:sp>
      <p:sp>
        <p:nvSpPr>
          <p:cNvPr id="31" name="Text 29"/>
          <p:cNvSpPr txBox="1"/>
          <p:nvPr/>
        </p:nvSpPr>
        <p:spPr>
          <a:xfrm>
            <a:off x="9912096" y="3849624"/>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rPr>
              <a:t>hecho</a:t>
            </a:r>
            <a:endParaRPr lang="en-US" sz="1000" dirty="0"/>
          </a:p>
        </p:txBody>
      </p:sp>
      <p:sp>
        <p:nvSpPr>
          <p:cNvPr id="32" name="Text 30"/>
          <p:cNvSpPr txBox="1"/>
          <p:nvPr/>
        </p:nvSpPr>
        <p:spPr>
          <a:xfrm>
            <a:off x="8220456" y="4270248"/>
            <a:ext cx="3246120" cy="1691640"/>
          </a:xfrm>
          <a:prstGeom prst="rect">
            <a:avLst/>
          </a:prstGeom>
          <a:noFill/>
          <a:ln/>
        </p:spPr>
        <p:txBody>
          <a:bodyPr wrap="square" lIns="0" tIns="0" rIns="0" bIns="0" rtlCol="0" anchor="t"/>
          <a:lstStyle/>
          <a:p>
            <a:pPr indent="0" marL="0">
              <a:buNone/>
            </a:pPr>
            <a:r>
              <a:rPr lang="en-US" sz="1400" dirty="0">
                <a:solidFill>
                  <a:srgbClr val="1A202C"/>
                </a:solidFill>
              </a:rPr>
              <a:t>(:Evaluacion)-[:ACTIVO {orden}]-&gt;(:Regla) y propiedad regla en cada relación inferida. Grado de pertenencia: cuando haya difusa.</a:t>
            </a:r>
            <a:endParaRPr lang="en-US" sz="1400" dirty="0"/>
          </a:p>
        </p:txBody>
      </p:sp>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640080"/>
            <a:ext cx="10058400" cy="640080"/>
          </a:xfrm>
          <a:prstGeom prst="rect">
            <a:avLst/>
          </a:prstGeom>
          <a:noFill/>
          <a:ln/>
        </p:spPr>
        <p:txBody>
          <a:bodyPr wrap="square" lIns="0" tIns="0" rIns="0" bIns="0" rtlCol="0" anchor="ctr"/>
          <a:lstStyle/>
          <a:p>
            <a:pPr indent="0" marL="0">
              <a:buNone/>
            </a:pPr>
            <a:r>
              <a:rPr lang="en-US" sz="3200" b="1" dirty="0">
                <a:solidFill>
                  <a:srgbClr val="FFFFFF"/>
                </a:solidFill>
              </a:rPr>
              <a:t>Qué falta validar con el experto</a:t>
            </a:r>
            <a:endParaRPr lang="en-US" sz="3200" dirty="0"/>
          </a:p>
        </p:txBody>
      </p:sp>
      <p:sp>
        <p:nvSpPr>
          <p:cNvPr id="3" name="Shape 1"/>
          <p:cNvSpPr/>
          <p:nvPr/>
        </p:nvSpPr>
        <p:spPr>
          <a:xfrm>
            <a:off x="731520" y="1691640"/>
            <a:ext cx="201168" cy="201168"/>
          </a:xfrm>
          <a:prstGeom prst="ellipse">
            <a:avLst/>
          </a:prstGeom>
          <a:solidFill>
            <a:srgbClr val="FF2E88"/>
          </a:solidFill>
          <a:ln w="12700">
            <a:solidFill>
              <a:srgbClr val="FF2E88"/>
            </a:solidFill>
            <a:prstDash val="solid"/>
          </a:ln>
        </p:spPr>
      </p:sp>
      <p:sp>
        <p:nvSpPr>
          <p:cNvPr id="4" name="Text 2"/>
          <p:cNvSpPr txBox="1"/>
          <p:nvPr/>
        </p:nvSpPr>
        <p:spPr>
          <a:xfrm>
            <a:off x="1143000" y="1600200"/>
            <a:ext cx="2377440" cy="411480"/>
          </a:xfrm>
          <a:prstGeom prst="rect">
            <a:avLst/>
          </a:prstGeom>
          <a:noFill/>
          <a:ln/>
        </p:spPr>
        <p:txBody>
          <a:bodyPr wrap="square" lIns="0" tIns="0" rIns="0" bIns="0" rtlCol="0" anchor="ctr"/>
          <a:lstStyle/>
          <a:p>
            <a:pPr indent="0" marL="0">
              <a:buNone/>
            </a:pPr>
            <a:r>
              <a:rPr lang="en-US" sz="1800" b="1" dirty="0">
                <a:solidFill>
                  <a:srgbClr val="FFFFFF"/>
                </a:solidFill>
              </a:rPr>
              <a:t>PI2 de Lautaro</a:t>
            </a:r>
            <a:endParaRPr lang="en-US" sz="1800" dirty="0"/>
          </a:p>
        </p:txBody>
      </p:sp>
      <p:sp>
        <p:nvSpPr>
          <p:cNvPr id="5" name="Text 3"/>
          <p:cNvSpPr txBox="1"/>
          <p:nvPr/>
        </p:nvSpPr>
        <p:spPr>
          <a:xfrm>
            <a:off x="3566160" y="1600200"/>
            <a:ext cx="7863840" cy="548640"/>
          </a:xfrm>
          <a:prstGeom prst="rect">
            <a:avLst/>
          </a:prstGeom>
          <a:noFill/>
          <a:ln/>
        </p:spPr>
        <p:txBody>
          <a:bodyPr wrap="square" lIns="0" tIns="0" rIns="0" bIns="0" rtlCol="0" anchor="t"/>
          <a:lstStyle/>
          <a:p>
            <a:pPr indent="0" marL="0">
              <a:buNone/>
            </a:pPr>
            <a:r>
              <a:rPr lang="en-US" sz="1500" dirty="0">
                <a:solidFill>
                  <a:srgbClr val="C9D1E0"/>
                </a:solidFill>
              </a:rPr>
              <a:t>frames de Materiales e instalación (hoy derivados del PI1)</a:t>
            </a:r>
            <a:endParaRPr lang="en-US" sz="1500" dirty="0"/>
          </a:p>
        </p:txBody>
      </p:sp>
      <p:sp>
        <p:nvSpPr>
          <p:cNvPr id="6" name="Shape 4"/>
          <p:cNvSpPr/>
          <p:nvPr/>
        </p:nvSpPr>
        <p:spPr>
          <a:xfrm>
            <a:off x="731520" y="2468880"/>
            <a:ext cx="201168" cy="201168"/>
          </a:xfrm>
          <a:prstGeom prst="ellipse">
            <a:avLst/>
          </a:prstGeom>
          <a:solidFill>
            <a:srgbClr val="FF2E88"/>
          </a:solidFill>
          <a:ln w="12700">
            <a:solidFill>
              <a:srgbClr val="FF2E88"/>
            </a:solidFill>
            <a:prstDash val="solid"/>
          </a:ln>
        </p:spPr>
      </p:sp>
      <p:sp>
        <p:nvSpPr>
          <p:cNvPr id="7" name="Text 5"/>
          <p:cNvSpPr txBox="1"/>
          <p:nvPr/>
        </p:nvSpPr>
        <p:spPr>
          <a:xfrm>
            <a:off x="1143000" y="2377440"/>
            <a:ext cx="2377440" cy="411480"/>
          </a:xfrm>
          <a:prstGeom prst="rect">
            <a:avLst/>
          </a:prstGeom>
          <a:noFill/>
          <a:ln/>
        </p:spPr>
        <p:txBody>
          <a:bodyPr wrap="square" lIns="0" tIns="0" rIns="0" bIns="0" rtlCol="0" anchor="ctr"/>
          <a:lstStyle/>
          <a:p>
            <a:pPr indent="0" marL="0">
              <a:buNone/>
            </a:pPr>
            <a:r>
              <a:rPr lang="en-US" sz="1800" b="1" dirty="0">
                <a:solidFill>
                  <a:srgbClr val="FFFFFF"/>
                </a:solidFill>
              </a:rPr>
              <a:t>Umbrales</a:t>
            </a:r>
            <a:endParaRPr lang="en-US" sz="1800" dirty="0"/>
          </a:p>
        </p:txBody>
      </p:sp>
      <p:sp>
        <p:nvSpPr>
          <p:cNvPr id="8" name="Text 6"/>
          <p:cNvSpPr txBox="1"/>
          <p:nvPr/>
        </p:nvSpPr>
        <p:spPr>
          <a:xfrm>
            <a:off x="3566160" y="2377440"/>
            <a:ext cx="7863840" cy="548640"/>
          </a:xfrm>
          <a:prstGeom prst="rect">
            <a:avLst/>
          </a:prstGeom>
          <a:noFill/>
          <a:ln/>
        </p:spPr>
        <p:txBody>
          <a:bodyPr wrap="square" lIns="0" tIns="0" rIns="0" bIns="0" rtlCol="0" anchor="t"/>
          <a:lstStyle/>
          <a:p>
            <a:pPr indent="0" marL="0">
              <a:buNone/>
            </a:pPr>
            <a:r>
              <a:rPr lang="en-US" sz="1500" dirty="0">
                <a:solidFill>
                  <a:srgbClr val="C9D1E0"/>
                </a:solidFill>
              </a:rPr>
              <a:t>grado IP exigido · peso seguro por soporte · tamaño/altura que exige verificación · carga de la cinta bifaz</a:t>
            </a:r>
            <a:endParaRPr lang="en-US" sz="1500" dirty="0"/>
          </a:p>
        </p:txBody>
      </p:sp>
      <p:sp>
        <p:nvSpPr>
          <p:cNvPr id="9" name="Shape 7"/>
          <p:cNvSpPr/>
          <p:nvPr/>
        </p:nvSpPr>
        <p:spPr>
          <a:xfrm>
            <a:off x="731520" y="3246120"/>
            <a:ext cx="201168" cy="201168"/>
          </a:xfrm>
          <a:prstGeom prst="ellipse">
            <a:avLst/>
          </a:prstGeom>
          <a:solidFill>
            <a:srgbClr val="FF2E88"/>
          </a:solidFill>
          <a:ln w="12700">
            <a:solidFill>
              <a:srgbClr val="FF2E88"/>
            </a:solidFill>
            <a:prstDash val="solid"/>
          </a:ln>
        </p:spPr>
      </p:sp>
      <p:sp>
        <p:nvSpPr>
          <p:cNvPr id="10" name="Text 8"/>
          <p:cNvSpPr txBox="1"/>
          <p:nvPr/>
        </p:nvSpPr>
        <p:spPr>
          <a:xfrm>
            <a:off x="1143000" y="3154680"/>
            <a:ext cx="2377440" cy="411480"/>
          </a:xfrm>
          <a:prstGeom prst="rect">
            <a:avLst/>
          </a:prstGeom>
          <a:noFill/>
          <a:ln/>
        </p:spPr>
        <p:txBody>
          <a:bodyPr wrap="square" lIns="0" tIns="0" rIns="0" bIns="0" rtlCol="0" anchor="ctr"/>
          <a:lstStyle/>
          <a:p>
            <a:pPr indent="0" marL="0">
              <a:buNone/>
            </a:pPr>
            <a:r>
              <a:rPr lang="en-US" sz="1800" b="1" dirty="0">
                <a:solidFill>
                  <a:srgbClr val="FFFFFF"/>
                </a:solidFill>
              </a:rPr>
              <a:t>Criterios</a:t>
            </a:r>
            <a:endParaRPr lang="en-US" sz="1800" dirty="0"/>
          </a:p>
        </p:txBody>
      </p:sp>
      <p:sp>
        <p:nvSpPr>
          <p:cNvPr id="11" name="Text 9"/>
          <p:cNvSpPr txBox="1"/>
          <p:nvPr/>
        </p:nvSpPr>
        <p:spPr>
          <a:xfrm>
            <a:off x="3566160" y="3154680"/>
            <a:ext cx="7863840" cy="548640"/>
          </a:xfrm>
          <a:prstGeom prst="rect">
            <a:avLst/>
          </a:prstGeom>
          <a:noFill/>
          <a:ln/>
        </p:spPr>
        <p:txBody>
          <a:bodyPr wrap="square" lIns="0" tIns="0" rIns="0" bIns="0" rtlCol="0" anchor="t"/>
          <a:lstStyle/>
          <a:p>
            <a:pPr indent="0" marL="0">
              <a:buNone/>
            </a:pPr>
            <a:r>
              <a:rPr lang="en-US" sz="1500" dirty="0">
                <a:solidFill>
                  <a:srgbClr val="C9D1E0"/>
                </a:solidFill>
              </a:rPr>
              <a:t>qué faltante es postergable · cómo propone la tecnología el rediseño · impacto de segmentar en el plazo</a:t>
            </a:r>
            <a:endParaRPr lang="en-US" sz="1500" dirty="0"/>
          </a:p>
        </p:txBody>
      </p:sp>
      <p:sp>
        <p:nvSpPr>
          <p:cNvPr id="12" name="Shape 10"/>
          <p:cNvSpPr/>
          <p:nvPr/>
        </p:nvSpPr>
        <p:spPr>
          <a:xfrm>
            <a:off x="731520" y="4023360"/>
            <a:ext cx="201168" cy="201168"/>
          </a:xfrm>
          <a:prstGeom prst="ellipse">
            <a:avLst/>
          </a:prstGeom>
          <a:solidFill>
            <a:srgbClr val="FF2E88"/>
          </a:solidFill>
          <a:ln w="12700">
            <a:solidFill>
              <a:srgbClr val="FF2E88"/>
            </a:solidFill>
            <a:prstDash val="solid"/>
          </a:ln>
        </p:spPr>
      </p:sp>
      <p:sp>
        <p:nvSpPr>
          <p:cNvPr id="13" name="Text 11"/>
          <p:cNvSpPr txBox="1"/>
          <p:nvPr/>
        </p:nvSpPr>
        <p:spPr>
          <a:xfrm>
            <a:off x="1143000" y="3931920"/>
            <a:ext cx="2377440" cy="411480"/>
          </a:xfrm>
          <a:prstGeom prst="rect">
            <a:avLst/>
          </a:prstGeom>
          <a:noFill/>
          <a:ln/>
        </p:spPr>
        <p:txBody>
          <a:bodyPr wrap="square" lIns="0" tIns="0" rIns="0" bIns="0" rtlCol="0" anchor="ctr"/>
          <a:lstStyle/>
          <a:p>
            <a:pPr indent="0" marL="0">
              <a:buNone/>
            </a:pPr>
            <a:r>
              <a:rPr lang="en-US" sz="1800" b="1" dirty="0">
                <a:solidFill>
                  <a:srgbClr val="FFFFFF"/>
                </a:solidFill>
              </a:rPr>
              <a:t>Validación</a:t>
            </a:r>
            <a:endParaRPr lang="en-US" sz="1800" dirty="0"/>
          </a:p>
        </p:txBody>
      </p:sp>
      <p:sp>
        <p:nvSpPr>
          <p:cNvPr id="14" name="Text 12"/>
          <p:cNvSpPr txBox="1"/>
          <p:nvPr/>
        </p:nvSpPr>
        <p:spPr>
          <a:xfrm>
            <a:off x="3566160" y="3931920"/>
            <a:ext cx="7863840" cy="548640"/>
          </a:xfrm>
          <a:prstGeom prst="rect">
            <a:avLst/>
          </a:prstGeom>
          <a:noFill/>
          <a:ln/>
        </p:spPr>
        <p:txBody>
          <a:bodyPr wrap="square" lIns="0" tIns="0" rIns="0" bIns="0" rtlCol="0" anchor="t"/>
          <a:lstStyle/>
          <a:p>
            <a:pPr indent="0" marL="0">
              <a:buNone/>
            </a:pPr>
            <a:r>
              <a:rPr lang="en-US" sz="1500" dirty="0">
                <a:solidFill>
                  <a:srgbClr val="C9D1E0"/>
                </a:solidFill>
              </a:rPr>
              <a:t>reglas «propuesta» de Interpretación con pensamiento en voz alta · pedidos reales</a:t>
            </a:r>
            <a:endParaRPr lang="en-US" sz="1500" dirty="0"/>
          </a:p>
        </p:txBody>
      </p:sp>
      <p:sp>
        <p:nvSpPr>
          <p:cNvPr id="15" name="Shape 13"/>
          <p:cNvSpPr/>
          <p:nvPr/>
        </p:nvSpPr>
        <p:spPr>
          <a:xfrm>
            <a:off x="731520" y="4800600"/>
            <a:ext cx="201168" cy="201168"/>
          </a:xfrm>
          <a:prstGeom prst="ellipse">
            <a:avLst/>
          </a:prstGeom>
          <a:solidFill>
            <a:srgbClr val="FF2E88"/>
          </a:solidFill>
          <a:ln w="12700">
            <a:solidFill>
              <a:srgbClr val="FF2E88"/>
            </a:solidFill>
            <a:prstDash val="solid"/>
          </a:ln>
        </p:spPr>
      </p:sp>
      <p:sp>
        <p:nvSpPr>
          <p:cNvPr id="16" name="Text 14"/>
          <p:cNvSpPr txBox="1"/>
          <p:nvPr/>
        </p:nvSpPr>
        <p:spPr>
          <a:xfrm>
            <a:off x="1143000" y="4709160"/>
            <a:ext cx="2377440" cy="411480"/>
          </a:xfrm>
          <a:prstGeom prst="rect">
            <a:avLst/>
          </a:prstGeom>
          <a:noFill/>
          <a:ln/>
        </p:spPr>
        <p:txBody>
          <a:bodyPr wrap="square" lIns="0" tIns="0" rIns="0" bIns="0" rtlCol="0" anchor="ctr"/>
          <a:lstStyle/>
          <a:p>
            <a:pPr indent="0" marL="0">
              <a:buNone/>
            </a:pPr>
            <a:r>
              <a:rPr lang="en-US" sz="1800" b="1" dirty="0">
                <a:solidFill>
                  <a:srgbClr val="FFFFFF"/>
                </a:solidFill>
              </a:rPr>
              <a:t>Difusa</a:t>
            </a:r>
            <a:endParaRPr lang="en-US" sz="1800" dirty="0"/>
          </a:p>
        </p:txBody>
      </p:sp>
      <p:sp>
        <p:nvSpPr>
          <p:cNvPr id="17" name="Text 15"/>
          <p:cNvSpPr txBox="1"/>
          <p:nvPr/>
        </p:nvSpPr>
        <p:spPr>
          <a:xfrm>
            <a:off x="3566160" y="4709160"/>
            <a:ext cx="7863840" cy="548640"/>
          </a:xfrm>
          <a:prstGeom prst="rect">
            <a:avLst/>
          </a:prstGeom>
          <a:noFill/>
          <a:ln/>
        </p:spPr>
        <p:txBody>
          <a:bodyPr wrap="square" lIns="0" tIns="0" rIns="0" bIns="0" rtlCol="0" anchor="t"/>
          <a:lstStyle/>
          <a:p>
            <a:pPr indent="0" marL="0">
              <a:buNone/>
            </a:pPr>
            <a:r>
              <a:rPr lang="en-US" sz="1500" dirty="0">
                <a:solidFill>
                  <a:srgbClr val="C9D1E0"/>
                </a:solidFill>
              </a:rPr>
              <a:t>conjuntos, rangos y reglas (PI3)</a:t>
            </a:r>
            <a:endParaRPr lang="en-US" sz="1500" dirty="0"/>
          </a:p>
        </p:txBody>
      </p:sp>
      <p:sp>
        <p:nvSpPr>
          <p:cNvPr id="18" name="Text 16"/>
          <p:cNvSpPr txBox="1"/>
          <p:nvPr/>
        </p:nvSpPr>
        <p:spPr>
          <a:xfrm>
            <a:off x="731520" y="5623560"/>
            <a:ext cx="7315200" cy="640080"/>
          </a:xfrm>
          <a:prstGeom prst="rect">
            <a:avLst/>
          </a:prstGeom>
          <a:noFill/>
          <a:ln/>
        </p:spPr>
        <p:txBody>
          <a:bodyPr wrap="square" lIns="0" tIns="0" rIns="0" bIns="0" rtlCol="0" anchor="ctr"/>
          <a:lstStyle/>
          <a:p>
            <a:pPr indent="0" marL="0">
              <a:buNone/>
            </a:pPr>
            <a:r>
              <a:rPr lang="en-US" sz="3000" b="1" dirty="0">
                <a:solidFill>
                  <a:srgbClr val="22D3EE"/>
                </a:solidFill>
              </a:rPr>
              <a:t>¡Gracias! ¿Preguntas?</a:t>
            </a:r>
            <a:endParaRPr lang="en-US" sz="3000" dirty="0"/>
          </a:p>
        </p:txBody>
      </p:sp>
      <p:sp>
        <p:nvSpPr>
          <p:cNvPr id="19" name="Text 17"/>
          <p:cNvSpPr txBox="1"/>
          <p:nvPr/>
        </p:nvSpPr>
        <p:spPr>
          <a:xfrm>
            <a:off x="731520" y="6263640"/>
            <a:ext cx="10515600" cy="274320"/>
          </a:xfrm>
          <a:prstGeom prst="rect">
            <a:avLst/>
          </a:prstGeom>
          <a:noFill/>
          <a:ln/>
        </p:spPr>
        <p:txBody>
          <a:bodyPr wrap="square" lIns="0" tIns="0" rIns="0" bIns="0" rtlCol="0" anchor="ctr"/>
          <a:lstStyle/>
          <a:p>
            <a:pPr indent="0" marL="0">
              <a:buNone/>
            </a:pPr>
            <a:r>
              <a:rPr lang="en-US" sz="1200" dirty="0">
                <a:solidFill>
                  <a:srgbClr val="8A94A6"/>
                </a:solidFill>
              </a:rPr>
              <a:t>Todo el material: salida/ y neo4j/ (scripts reproducibles con bash neo4j/cargar.sh)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Anexo A · Procesos expertos de cada submódulo (PI1)</a:t>
            </a:r>
            <a:endParaRPr lang="en-US" sz="3000" dirty="0"/>
          </a:p>
        </p:txBody>
      </p:sp>
      <p:sp>
        <p:nvSpPr>
          <p:cNvPr id="4" name="Text 1"/>
          <p:cNvSpPr txBox="1"/>
          <p:nvPr/>
        </p:nvSpPr>
        <p:spPr>
          <a:xfrm>
            <a:off x="502920" y="1097280"/>
            <a:ext cx="3611880" cy="320040"/>
          </a:xfrm>
          <a:prstGeom prst="rect">
            <a:avLst/>
          </a:prstGeom>
          <a:noFill/>
          <a:ln/>
        </p:spPr>
        <p:txBody>
          <a:bodyPr wrap="square" lIns="0" tIns="0" rIns="0" bIns="0" rtlCol="0" anchor="ctr"/>
          <a:lstStyle/>
          <a:p>
            <a:pPr algn="ctr" indent="0" marL="0">
              <a:buNone/>
            </a:pPr>
            <a:r>
              <a:rPr lang="en-US" sz="1400" b="1" dirty="0">
                <a:solidFill>
                  <a:srgbClr val="2B6CB0"/>
                </a:solidFill>
              </a:rPr>
              <a:t>Interpretación (Matías)</a:t>
            </a:r>
            <a:endParaRPr lang="en-US" sz="1400" dirty="0"/>
          </a:p>
        </p:txBody>
      </p:sp>
      <p:pic>
        <p:nvPicPr>
          <p:cNvPr id="5" name="Image 0" descr="D:\University\Quinto\IA\Proyecto IA\pi1\img\PI1_Matias_diagrama_procesos.png">    </p:cNvPr>
          <p:cNvPicPr>
            <a:picLocks noChangeAspect="1"/>
          </p:cNvPicPr>
          <p:nvPr/>
        </p:nvPicPr>
        <p:blipFill>
          <a:blip r:embed="rId1"/>
          <a:stretch>
            <a:fillRect/>
          </a:stretch>
        </p:blipFill>
        <p:spPr>
          <a:xfrm>
            <a:off x="535620" y="1463040"/>
            <a:ext cx="3546479" cy="4846320"/>
          </a:xfrm>
          <a:prstGeom prst="rect">
            <a:avLst/>
          </a:prstGeom>
        </p:spPr>
      </p:pic>
      <p:sp>
        <p:nvSpPr>
          <p:cNvPr id="6" name="Text 2"/>
          <p:cNvSpPr txBox="1"/>
          <p:nvPr/>
        </p:nvSpPr>
        <p:spPr>
          <a:xfrm>
            <a:off x="4270248" y="1097280"/>
            <a:ext cx="3611880" cy="320040"/>
          </a:xfrm>
          <a:prstGeom prst="rect">
            <a:avLst/>
          </a:prstGeom>
          <a:noFill/>
          <a:ln/>
        </p:spPr>
        <p:txBody>
          <a:bodyPr wrap="square" lIns="0" tIns="0" rIns="0" bIns="0" rtlCol="0" anchor="ctr"/>
          <a:lstStyle/>
          <a:p>
            <a:pPr algn="ctr" indent="0" marL="0">
              <a:buNone/>
            </a:pPr>
            <a:r>
              <a:rPr lang="en-US" sz="1400" b="1" dirty="0">
                <a:solidFill>
                  <a:srgbClr val="2A9D8F"/>
                </a:solidFill>
              </a:rPr>
              <a:t>Materiales e instalación (Lautaro)</a:t>
            </a:r>
            <a:endParaRPr lang="en-US" sz="1400" dirty="0"/>
          </a:p>
        </p:txBody>
      </p:sp>
      <p:pic>
        <p:nvPicPr>
          <p:cNvPr id="7" name="Image 1" descr="D:\University\Quinto\IA\Proyecto IA\pi1\img\PI1_Lautaro_diagrama_procesos.png">    </p:cNvPr>
          <p:cNvPicPr>
            <a:picLocks noChangeAspect="1"/>
          </p:cNvPicPr>
          <p:nvPr/>
        </p:nvPicPr>
        <p:blipFill>
          <a:blip r:embed="rId2"/>
          <a:stretch>
            <a:fillRect/>
          </a:stretch>
        </p:blipFill>
        <p:spPr>
          <a:xfrm>
            <a:off x="4270248" y="1790276"/>
            <a:ext cx="3611880" cy="4191848"/>
          </a:xfrm>
          <a:prstGeom prst="rect">
            <a:avLst/>
          </a:prstGeom>
        </p:spPr>
      </p:pic>
      <p:sp>
        <p:nvSpPr>
          <p:cNvPr id="8" name="Text 3"/>
          <p:cNvSpPr txBox="1"/>
          <p:nvPr/>
        </p:nvSpPr>
        <p:spPr>
          <a:xfrm>
            <a:off x="8037576" y="1097280"/>
            <a:ext cx="3611880" cy="320040"/>
          </a:xfrm>
          <a:prstGeom prst="rect">
            <a:avLst/>
          </a:prstGeom>
          <a:noFill/>
          <a:ln/>
        </p:spPr>
        <p:txBody>
          <a:bodyPr wrap="square" lIns="0" tIns="0" rIns="0" bIns="0" rtlCol="0" anchor="ctr"/>
          <a:lstStyle/>
          <a:p>
            <a:pPr algn="ctr" indent="0" marL="0">
              <a:buNone/>
            </a:pPr>
            <a:r>
              <a:rPr lang="en-US" sz="1400" b="1" dirty="0">
                <a:solidFill>
                  <a:srgbClr val="D9480F"/>
                </a:solidFill>
              </a:rPr>
              <a:t>Manufacturabilidad (Luciano)</a:t>
            </a:r>
            <a:endParaRPr lang="en-US" sz="1400" dirty="0"/>
          </a:p>
        </p:txBody>
      </p:sp>
      <p:pic>
        <p:nvPicPr>
          <p:cNvPr id="9" name="Image 2" descr="D:\University\Quinto\IA\Proyecto IA\pi1\img\PI1_Luciano_diagrama_procesos.png">    </p:cNvPr>
          <p:cNvPicPr>
            <a:picLocks noChangeAspect="1"/>
          </p:cNvPicPr>
          <p:nvPr/>
        </p:nvPicPr>
        <p:blipFill>
          <a:blip r:embed="rId3"/>
          <a:stretch>
            <a:fillRect/>
          </a:stretch>
        </p:blipFill>
        <p:spPr>
          <a:xfrm>
            <a:off x="8200150" y="1463040"/>
            <a:ext cx="3286733" cy="4846320"/>
          </a:xfrm>
          <a:prstGeom prst="rect">
            <a:avLst/>
          </a:prstGeom>
        </p:spPr>
      </p:pic>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Anexo B · Redes semánticas individuales (PI2)</a:t>
            </a:r>
            <a:endParaRPr lang="en-US" sz="3000" dirty="0"/>
          </a:p>
        </p:txBody>
      </p:sp>
      <p:sp>
        <p:nvSpPr>
          <p:cNvPr id="4" name="Text 1"/>
          <p:cNvSpPr txBox="1"/>
          <p:nvPr/>
        </p:nvSpPr>
        <p:spPr>
          <a:xfrm>
            <a:off x="502920" y="1097280"/>
            <a:ext cx="7589520" cy="320040"/>
          </a:xfrm>
          <a:prstGeom prst="rect">
            <a:avLst/>
          </a:prstGeom>
          <a:noFill/>
          <a:ln/>
        </p:spPr>
        <p:txBody>
          <a:bodyPr wrap="square" lIns="0" tIns="0" rIns="0" bIns="0" rtlCol="0" anchor="ctr"/>
          <a:lstStyle/>
          <a:p>
            <a:pPr indent="0" marL="0">
              <a:buNone/>
            </a:pPr>
            <a:r>
              <a:rPr lang="en-US" sz="1400" b="1" dirty="0">
                <a:solidFill>
                  <a:srgbClr val="2B6CB0"/>
                </a:solidFill>
              </a:rPr>
              <a:t>Interpretación (Matías)</a:t>
            </a:r>
            <a:endParaRPr lang="en-US" sz="1400" dirty="0"/>
          </a:p>
        </p:txBody>
      </p:sp>
      <p:pic>
        <p:nvPicPr>
          <p:cNvPr id="5" name="Image 0" descr="D:\University\Quinto\IA\Proyecto IA\pi2\img\PI2_Matias_fig1_red_semantica_conceptual.png">    </p:cNvPr>
          <p:cNvPicPr>
            <a:picLocks noChangeAspect="1"/>
          </p:cNvPicPr>
          <p:nvPr/>
        </p:nvPicPr>
        <p:blipFill>
          <a:blip r:embed="rId1"/>
          <a:stretch>
            <a:fillRect/>
          </a:stretch>
        </p:blipFill>
        <p:spPr>
          <a:xfrm>
            <a:off x="502920" y="1535320"/>
            <a:ext cx="7589520" cy="4701761"/>
          </a:xfrm>
          <a:prstGeom prst="rect">
            <a:avLst/>
          </a:prstGeom>
        </p:spPr>
      </p:pic>
      <p:sp>
        <p:nvSpPr>
          <p:cNvPr id="6" name="Text 2"/>
          <p:cNvSpPr txBox="1"/>
          <p:nvPr/>
        </p:nvSpPr>
        <p:spPr>
          <a:xfrm>
            <a:off x="8321040" y="1097280"/>
            <a:ext cx="3383280" cy="320040"/>
          </a:xfrm>
          <a:prstGeom prst="rect">
            <a:avLst/>
          </a:prstGeom>
          <a:noFill/>
          <a:ln/>
        </p:spPr>
        <p:txBody>
          <a:bodyPr wrap="square" lIns="0" tIns="0" rIns="0" bIns="0" rtlCol="0" anchor="ctr"/>
          <a:lstStyle/>
          <a:p>
            <a:pPr indent="0" marL="0">
              <a:buNone/>
            </a:pPr>
            <a:r>
              <a:rPr lang="en-US" sz="1400" b="1" dirty="0">
                <a:solidFill>
                  <a:srgbClr val="D9480F"/>
                </a:solidFill>
              </a:rPr>
              <a:t>Manufacturabilidad (Luciano)</a:t>
            </a:r>
            <a:endParaRPr lang="en-US" sz="1400" dirty="0"/>
          </a:p>
        </p:txBody>
      </p:sp>
      <p:pic>
        <p:nvPicPr>
          <p:cNvPr id="7" name="Image 1" descr="D:\University\Quinto\IA\Proyecto IA\pi2\img\PI2_Luciano_red_semantica_conceptual.png">    </p:cNvPr>
          <p:cNvPicPr>
            <a:picLocks noChangeAspect="1"/>
          </p:cNvPicPr>
          <p:nvPr/>
        </p:nvPicPr>
        <p:blipFill>
          <a:blip r:embed="rId2"/>
          <a:stretch>
            <a:fillRect/>
          </a:stretch>
        </p:blipFill>
        <p:spPr>
          <a:xfrm>
            <a:off x="8396460" y="1463040"/>
            <a:ext cx="3232439" cy="4846320"/>
          </a:xfrm>
          <a:prstGeom prst="rect">
            <a:avLst/>
          </a:prstGeom>
        </p:spPr>
      </p:pic>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Anexo C · Jerarquía de frames (generada desde Neo4j)</a:t>
            </a:r>
            <a:endParaRPr lang="en-US" sz="3000" dirty="0"/>
          </a:p>
        </p:txBody>
      </p:sp>
      <p:pic>
        <p:nvPicPr>
          <p:cNvPr id="4" name="Image 0" descr="D:\University\Quinto\IA\Proyecto IA\salida\img\jerarquia_frames.png">    </p:cNvPr>
          <p:cNvPicPr>
            <a:picLocks noChangeAspect="1"/>
          </p:cNvPicPr>
          <p:nvPr/>
        </p:nvPicPr>
        <p:blipFill>
          <a:blip r:embed="rId1"/>
          <a:stretch>
            <a:fillRect/>
          </a:stretch>
        </p:blipFill>
        <p:spPr>
          <a:xfrm>
            <a:off x="411480" y="1414301"/>
            <a:ext cx="11338560" cy="4578037"/>
          </a:xfrm>
          <a:prstGeom prst="rect">
            <a:avLst/>
          </a:prstGeom>
        </p:spPr>
      </p:pic>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Anexo D · CU1 instanciado en Neo4j</a:t>
            </a:r>
            <a:endParaRPr lang="en-US" sz="3000" dirty="0"/>
          </a:p>
        </p:txBody>
      </p:sp>
      <p:pic>
        <p:nvPicPr>
          <p:cNvPr id="4" name="Image 0" descr="D:\University\Quinto\IA\Proyecto IA\salida\img\cu1_instanciado.png">    </p:cNvPr>
          <p:cNvPicPr>
            <a:picLocks noChangeAspect="1"/>
          </p:cNvPicPr>
          <p:nvPr/>
        </p:nvPicPr>
        <p:blipFill>
          <a:blip r:embed="rId1"/>
          <a:stretch>
            <a:fillRect/>
          </a:stretch>
        </p:blipFill>
        <p:spPr>
          <a:xfrm>
            <a:off x="1349930" y="1097280"/>
            <a:ext cx="9461661" cy="5212080"/>
          </a:xfrm>
          <a:prstGeom prst="rect">
            <a:avLst/>
          </a:prstGeom>
        </p:spPr>
      </p:pic>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731520"/>
          </a:xfrm>
          <a:prstGeom prst="rect">
            <a:avLst/>
          </a:prstGeom>
          <a:noFill/>
          <a:ln/>
        </p:spPr>
        <p:txBody>
          <a:bodyPr wrap="square" lIns="0" tIns="0" rIns="0" bIns="0" rtlCol="0" anchor="ctr"/>
          <a:lstStyle/>
          <a:p>
            <a:pPr indent="0" marL="0">
              <a:buNone/>
            </a:pPr>
            <a:r>
              <a:rPr lang="en-US" sz="3000" b="1" dirty="0">
                <a:solidFill>
                  <a:srgbClr val="1A202C"/>
                </a:solidFill>
              </a:rPr>
              <a:t>Anexo E · Filtro por restricción del cliente (L-C1 y L-C3)</a:t>
            </a:r>
            <a:endParaRPr lang="en-US" sz="3000" dirty="0"/>
          </a:p>
        </p:txBody>
      </p:sp>
      <p:pic>
        <p:nvPicPr>
          <p:cNvPr id="4" name="Image 0" descr="D:\University\Quinto\IA\Proyecto IA\salida\img\filtro_luciano.png">    </p:cNvPr>
          <p:cNvPicPr>
            <a:picLocks noChangeAspect="1"/>
          </p:cNvPicPr>
          <p:nvPr/>
        </p:nvPicPr>
        <p:blipFill>
          <a:blip r:embed="rId1"/>
          <a:stretch>
            <a:fillRect/>
          </a:stretch>
        </p:blipFill>
        <p:spPr>
          <a:xfrm>
            <a:off x="411480" y="1777072"/>
            <a:ext cx="11338560" cy="3852495"/>
          </a:xfrm>
          <a:prstGeom prst="rect">
            <a:avLst/>
          </a:prstGeom>
        </p:spPr>
      </p:pic>
      <p:sp>
        <p:nvSpPr>
          <p:cNvPr id="25" name="Slide Number Placeholder 0"/>
          <p:cNvSpPr>
            <a:spLocks noGrp="1"/>
          </p:cNvSpPr>
          <p:nvPr>
            <p:ph type="sldNum" sz="quarter" idx="4294967295"/>
          </p:nvPr>
        </p:nvSpPr>
        <p:spPr>
          <a:xfrm>
            <a:off x="1120140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Neon Carbon">
  <a:themeElements>
    <a:clrScheme name="Neon Carbon">
      <a:dk1>
        <a:srgbClr val="1A202C"/>
      </a:dk1>
      <a:lt1>
        <a:srgbClr val="FFFFFF"/>
      </a:lt1>
      <a:dk2>
        <a:srgbClr val="141824"/>
      </a:dk2>
      <a:lt2>
        <a:srgbClr val="F4F6FA"/>
      </a:lt2>
      <a:accent1>
        <a:srgbClr val="FF2E88"/>
      </a:accent1>
      <a:accent2>
        <a:srgbClr val="22D3EE"/>
      </a:accent2>
      <a:accent3>
        <a:srgbClr val="2B6CB0"/>
      </a:accent3>
      <a:accent4>
        <a:srgbClr val="2A9D8F"/>
      </a:accent4>
      <a:accent5>
        <a:srgbClr val="D9480F"/>
      </a:accent5>
      <a:accent6>
        <a:srgbClr val="6B46C1"/>
      </a:accent6>
      <a:hlink>
        <a:srgbClr val="2B6CB0"/>
      </a:hlink>
      <a:folHlink>
        <a:srgbClr val="6B46C1"/>
      </a:folHlink>
    </a:clrScheme>
    <a:fontScheme name="Neon Carb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Asistente para Evaluación Técnica y Rediseño de Cartelería — Grupo 11</dc:title>
  <dc:subject>PptxGenJS Presentation</dc:subject>
  <dc:creator>Grupo 11 — Zarandon, Quiros, Marquesini</dc:creator>
  <cp:lastModifiedBy>Grupo 11 — Zarandon, Quiros, Marquesini</cp:lastModifiedBy>
  <cp:revision>1</cp:revision>
  <dcterms:created xsi:type="dcterms:W3CDTF">2026-10-04T02:27:39Z</dcterms:created>
  <dcterms:modified xsi:type="dcterms:W3CDTF">2026-10-04T02:27:39Z</dcterms:modified>
</cp:coreProperties>
</file>