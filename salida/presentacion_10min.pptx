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a y casos" id="{a6b89a86-6149-a3d2-c69e-77d0af1ed642}">
          <p14:sldIdLst>
            <p14:sldId id="256"/>
            <p14:sldId id="257"/>
            <p14:sldId id="258"/>
            <p14:sldId id="259"/>
            <p14:sldId id="260"/>
          </p14:sldIdLst>
        </p14:section>
        <p14:section name="Modelado" id="{f2bfb7bf-bd0e-57d0-044c-476e97154ecc}">
          <p14:sldIdLst>
            <p14:sldId id="261"/>
            <p14:sldId id="262"/>
            <p14:sldId id="263"/>
            <p14:sldId id="264"/>
            <p14:sldId id="265"/>
          </p14:sldIdLst>
        </p14:section>
        <p14:section name="Neo4j y demo" id="{76e5d585-ee44-2b60-4944-83f1fd51f799}">
          <p14:sldIdLst>
            <p14:sldId id="266"/>
            <p14:sldId id="267"/>
            <p14:sldId id="268"/>
          </p14:sldIdLst>
        </p14:section>
        <p14:section name="Cierre" id="{e5a11a37-a203-25dd-047e-20ab6957e225}">
          <p14:sldIdLst>
            <p14:sldId id="269"/>
          </p14:sldIdLst>
        </p14:section>
        <p14:section name="Anexo" id="{b7b3e70b-0e16-b24f-10bf-e63d077519ad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Luciano · 0:15 (al terminar, el reloj marca 0:15)
Hola, somos el Grupo 11: Matías, Lautaro y yo, Luciano. Armamos un asistente que ayuda a un fabricante de carteles luminosos a evaluar los pedidos que le llegan. Hoy les contamos cómo modelamos ese conocimiento, paso a paso, hasta llevarlo a Neo4j.
Si preguntan:
- ¿Por qué eligieron cartelería?
  → Porque yo fabrico carteles, así que teníamos un experto real a mano para sacar el conocimiento.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Luciano · 0:45 (al terminar, el reloj marca 1:00)
En un taller como el mío llega un mensaje así: «quiero un neón para la pared, de un metro más o menos». Con eso hay que decidir si alcanza la información, si va a aguantar en ese lugar y si lo podemos fabricar. Hoy eso se decide a ojo, con experiencia que no está escrita.
El asistente ayuda en tres cosas: pregunta lo que falta, avisa lo que no se puede instalar o fabricar, y propone alternativas explicando por qué.
Y lo importante: decide el fabricante. El modelo de lenguaje, tipo ChatGPT, solo entiende el texto del cliente y redacta la explicación.
Si preguntan:
- ¿Por qué no usar directamente ChatGPT?
  → Porque puede inventar datos; acá cada conclusión sale de una regla del experto y se puede rastrear.
- ¿Quién decide al final?
  → El fabricante: el sistema recomienda y justifica, no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Lautaro · 0:40 (al terminar, el reloj marca 1:40)
El sistema tiene tres partes, una por integrante, y cada una responde una pregunta.
Interpretación, de Matías: ¿qué pide realmente el cliente? Su salida es la ficha de requerimientos, o sea el pedido ordenado y sin dudas.
Materiales e instalación, la mía: con esa ficha, ¿el cartel funciona y dura en ese lugar? Sale un dictamen: apto, apto con condiciones o no apto.
Fabricación y rediseño, de Luciano: ¿se puede fabricar con lo que tiene el taller? Si no, propone cambios, y eso termina en una recomendación para el fabricante.
Y la flecha rosa: si a mí me falta un dato, no lo invento; vuelve a Interpretación, que le pregunta al cliente.
Si preguntan:
- ¿Por qué tres submódulos y no uno solo?
  → Porque son tres decisiones distintas del experto, cada una con su conocimiento; se conectan por la ficha y el dictamen.
- ¿Qué pasa si Fabricación no encuentra ninguna alternativa?
  → El caso vuelve a Interpretación para renegociar con el cliente (regla MAN-R8).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Matías · 0:40 (al terminar, el reloj marca 2:20)
Para modelar no partimos de la teoría sino de dos casos concretos.
El primero, el Café Andino: un cliente que no sabe nada técnico pide un neón para la pared, de un metro. El sistema tiene que preguntar dónde va y cómo se fija, y al final recomienda dividir el cartel en partes porque no entra en la impresora.
El segundo: letras corpóreas, o sea letras con volumen, de 3 metros, para un frente que da a la calle. Ahí sale «apto con condiciones»: usar PETG, un plástico que aguanta el sol, y fabricar letra por letra.
El primero se los cuento completo.
Si preguntan:
- ¿De dónde salen los casos?
  → Son los pedidos de ejemplo de mi PI2, armados con situaciones reales que nos contó Luciano.
- ¿Por qué esos dos?
  → Porque entre los dos pasan por los tres submódulos y muestran un caso típico y uno con más restricciones.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Matías · 1:00 (al terminar, el reloj marca 3:20)
Paso uno: llega el mensaje del cliente.
Paso dos, Interpretación. «La pared» no dice si es adentro o afuera; «un metro» puede ser el cartel o el espacio. Y falta un dato: cómo se fija. El sistema no supone: arma preguntas para el cliente.
¿Ese dato que falta frena todo? Eso no lo decido yo: le pregunto al submódulo de Lautaro, y su regla dice que sin el soporte no se evalúa. Así que el pedido espera.
Paso tres: el cliente responde que es adentro, de un metro de largo, sobre una pared de mampostería. Materiales dice: apto.
Paso cuatro, fabricación: un metro no entra en la impresora 3D, que imprime hasta 40 centímetros.
Paso cinco: se recomienda dividirlo en módulos y reforzar la fijación. Y decide el fabricante.
Si preguntan:
- ¿La respuesta del cliente es real?
  → La parte del soporte es un dato de prueba simulado y está marcada así en el grafo; el resto sale de mi PI2.
- ¿Por qué 40 cm?
  → Es el tamaño máximo de la cama de la impresora 3D del taller; sale de su ficha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Lautaro · 0:30 (al terminar, el reloj marca 3:50)
Ahora, cómo lo construimos. Seguimos cinco pasos.
Primero, entrevistas con el experto, que es Luciano: cómo decide, casos típicos y excepciones. Eso fue el PI1. Con eso armamos una red semántica: los conceptos y cómo se relacionan. Después pasamos cada concepto a un frame, que es como una ficha con casilleros. Le sumamos reglas SI–ENTONCES. Y todo eso lo cargamos en Neo4j. La lógica difusa queda como próximo paso.
Si preguntan:
- ¿Qué hicieron cuando faltaba información del experto?
  → La marcamos como PENDIENTE en el modelo; no inventamos umbrales ni criterios.
- ¿Está tu PI2?
  → Todavía no; mi parte se modeló desde mi PI1 y está marcada como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Lautaro · 0:50 (al terminar, el reloj marca 4:40)
Esta es la red semántica, simplificada; la completa está en el anexo. Cada caja es un concepto y cada flecha una relación con un verbo. Se lee como una oración: la ficha describe un cartel; el cartel se instala en un entorno; su geometría viola un límite técnico, eso genera un conflicto, y el conflicto exige una alternativa.
Cada uno hizo su red en el PI2 y después las unimos. Tres reglas de diseño: toda relación tiene verbo y dirección; un concepto, un solo nombre (Luciano decía «diseño» y yo «cartel»: quedó Cartel); y los conceptos compartidos, como la ficha, el cartel y el conflicto, unen los tres submódulos.
Si preguntan:
- ¿Qué es una red semántica?
  → Un grafo de conceptos unidos por relaciones con nombre, que muestra cómo piensa el experto el problema.
- ¿Qué pasó cuando dos usaban nombres distintos para lo mismo?
  → Elegimos un único nombre por concepto y dejamos el otro como sinónimo.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Lautaro · 0:50 (al terminar, el reloj marca 5:30)
De la red a los frames: cada concepto pasa a ser un frame, que es como una ficha; cada atributo, un slot, o sea un casillero; y la relación «es un» pasa a herencia: el hijo recibe los casilleros del padre.
El ejemplo es DatoFaltante, que es un Dato. Su slot criticidad acepta bloqueante, postergable o sin clasificar, y por defecto es sin clasificar: eso es una faceta. Y tiene un demonio, una acción automática: cuando aparece un dato faltante, genera la pregunta para el cliente.
Fíjense el slot origen, heredado de Dato: nunca acepta «supuesto». Así el modelo no puede inventar datos.
Si preguntan:
- ¿Qué diferencia hay entre slot y faceta?
  → El slot es el casillero (criticidad); la faceta dice qué valores acepta y cuál es el valor por defecto.
- ¿Por qué criticidad arranca «sin clasificar»?
  → Porque el criterio no estaba relevado; en el caso del café la decide una regla de Materiales (R-MI-01): bloqueante.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Luciano · 0:45 (al terminar, el reloj marca 6:15)
Las reglas tienen la forma «SI pasa esto, ENTONCES concluyo esto», y cada una dice de dónde sale.
Las dos primeras son del experto, o sea mías. Si falta el entorno, el soporte o las medidas, no se evalúa y se pide el dato. Y si el trazo del logo es muy fino para el neón pero el cliente exige respetar su logo, no lo engrosamos: lo hacemos retroiluminado.
La tercera es una propuesta del grupo, todavía no validada conmigo: el pedido pasa a evaluación solo cuando todos los datos necesarios están confirmados.
En total son 38: 15 del experto, 16 propuestas y 7 que salen de fichas técnicas o normas.
Si preguntan:
- ¿Cómo van a validar las propuestas?
  → Con sesiones donde el experto resuelve casos en voz alta y comparamos con lo que dice la regla.
- ¿Qué es una regla «documental»?
  → Una que sale de una ficha técnica o una norma, como el tamaño máximo de la impresora.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Luciano · 0:40 (al terminar, el reloj marca 6:55)
La lógica difusa la mostramos como ejemplo ilustrativo, sin validar. Sirve para lo que no es «sí o no». Un frente al sol sin alero está más expuesto que uno bajo una marquesina. Entonces la exposición se describe con palabras: baja, media o alta, y cada caso pertenece a cada una con un grado de 0 a 1. Eso es una variable lingüística.
Regla de ejemplo: si la exposición es alta y el peso está en el límite, el riesgo es alto. La salida «riesgo» la propusimos nosotros; los rangos los vamos a definir conmigo en el PI3.
Si preguntan:
- ¿Por qué no la implementaron todavía?
  → Porque no inventamos rangos: las funciones de pertenencia se van a relevar con el experto.
- ¿Reemplaza a las reglas normales?
  → No: lo imposible sigue en reglas nítidas (un metro no entra en 40 cm); lo difuso sirve para ordenar alternativas.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Luciano · 0:55 (al terminar, el reloj marca 7:50)
Todo esto lo cargamos en Neo4j, que es una base de datos de grafos: guarda nodos y relaciones, igual que nuestra red. Los frames, las reglas y los casos quedan en el mismo grafo: 55 frames, 38 reglas y 122 instancias.
Arriba ven un pedazo del caso del café: el cartel tiene una geometría de 1000 milímetros, que viola el límite de la cama de 400; eso genera el conflicto ExcedeCama, que exige segmentar. Esas tres relaciones en rosa no las cargamos a mano: las creó la regla MAN-R3.
La consulta está en Cypher, el lenguaje de Neo4j. Se lee casi en castellano: buscá el conflicto del caso CU1 y lo que exige, y devolvé qué regla lo creó. Así cada conclusión queda rastreable.
Si preguntan:
- ¿Las reglas están dentro de Neo4j?
  → Sí: cada regla es una consulta Cypher y además un nodo; cada relación que crea guarda el nombre de la regla.
- ¿Por qué Neo4j y no una base relacional?
  → Porque el modelo ya es un grafo de conceptos y relaciones, y se consulta recorriendo caminos.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Matías · 0:50 (al terminar, el reloj marca 8:40)
[Compartir la terminal y correr: bash neo4j/demo.sh. Mostrar solo los pasos 01, 02, 05 y 12; después del 12, cortar con Ctrl+C y volver a las slides.]
Ahora la demo en vivo. Arrancamos con los casos cargados y ninguna regla aplicada.
Primer paso: le pregunto a la base por qué el pedido del café no se puede evaluar. Responde: falta el soporte, hay una pregunta pendiente para el cliente y una consulta abierta a Materiales.
Segundo paso: Materiales responde con su regla R-MI-01: bloqueante. O sea, el sistema frena y no inventa el dato. Lo que ven en la slide es la salida real, por si se cae la conexión.
Si preguntan:
- ¿Qué pasa si se cae Neo4j durante la demo?
  → Tenemos la salida real en estas slides y un video de respaldo.
- ¿Por qué decide Materiales y no Interpretación si el faltante bloquea?
  → Porque ese conocimiento es de Materiales: cada submódulo decide sobre lo suyo.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Matías · 0:50 (al terminar, el reloj marca 9:30)
Ahora simulamos que el cliente responde. Con el soporte confirmado se cumple la regla de suficiencia y se crea la ficha FR-01: es interior, dice «Café Andino», mide un metro y va sobre una pared de mampostería.
Y el último paso muestra el recorrido completo: Interpretación deja el pedido listo; Materiales dice apto porque la exposición es baja; Fabricación detecta que 1000 milímetros no entran en 400; y la recomendación es segmentar y reforzar la fijación. La última fila lo dice: decide el fabricante.
[Ctrl+C en la terminal y volver a las slides.]
Si preguntan:
- ¿Dónde está el LLM en la demo?
  → Todavía no está conectado: en el diseño solo traduce el mensaje a datos y redacta la explicación a partir de esta traza; no decide.
- ¿Y el caso 2?
  → Corre igual en el paso 13 de la demo: apto con condiciones, PETG y letra por letra.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Lautaro · 0:30 (al terminar, el reloj marca 10:00)
Para cerrar, lo que nos falta. Uno: mi PI2; hoy mi parte sale del PI1. Dos: los números que no quisimos inventar, como qué protección contra el agua hace falta, cuánto peso aguanta cada soporte o desde qué tamaño pedir una verificación estructural. Y tres: validar con Luciano las reglas propuestas y definir la lógica difusa.
Gracias, quedamos para preguntas.
Si preguntan:
- ¿Cómo saben todo lo que falta?
  → Está marcado como PENDIENTE en el grafo y sale con una consulta (paso 19 de la demo completa).
- ¿Cuándo va a estar validado?
  → En el PI3 y la PG1, con sesiones con el experto sobre casos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— no se presenta; solo para responder preguntas.
Todos los frames no hoja y sus relaciones, tal como están en Neo4j. Colores = submódulo; borde punteado = abstracto, externo o [PENDIENTE].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— no se presenta; solo para responder preguntas.
Núcleo de la red integrada con los verbos reales del grafo (versión de la presentación larga).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— no se presenta; solo para responder preguntas.
Diagramas de procesos del PI1 de cada integrante: el punto de partida del modelado (qué mira el experto, en qué orden, qué decide).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— no se presenta; solo para responder preguntas.
Redes conceptuales de los PI2 de Matías y de Luciano antes de integrar. Lautaro todavía no tiene PI2.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— no se presenta; solo para responder preguntas.
Redes instanciadas del PI2 de Matías: P-01 (Café Andino, base de CU1) y P-02 (letras corpóreas, base de CU2).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— no se presenta; solo para responder preguntas.
Redes instanciadas del PI2 de Luciano: caso 1 (trazo fino con alta fidelidad al logo) y caso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— no se presenta; solo para responder preguntas.
Herencia ES_UN y composición ES_PARTE_DE tal como están en la base: MATCH p=(:Frame)-[:ES_UN|ES_PARTE_DE]-&gt;(:Frame) RETURN 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— no se presenta; solo para responder preguntas.
Grafo del caso CU1 al final: pedido incompleto → consulta a Materiales → respuesta (dato de prueba simulado) → ficha → dictamen apto → ExcedeCama → segmentación + refuerzo.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— no se presenta; solo para responder preguntas.
CU2: contradicción texto–foto resuelta, plazo obligatorio, exterior expuesto → apto con condiciones, PETG (MAN-R7), 3000 mm → segmentación letra por letra + refuerzo.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— no se presenta; solo para responder preguntas.
Casos L-C1 y L-C3 del PI2 de Luciano: la restricción obligatoria del cliente rechaza una alternativa y admite la otra (MAN-R6, MAN-R9).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A202C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02920" y="6428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Grupo 11 · UTN FRM 5K9 · Actividad de modelado · 5/10/2026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14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438912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Luciano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·  0:15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</a:rPr>
              <a:t>ACTIVIDAD DE MODELADO · GRUPO 11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Un asistente para evaluar pedidos de carteles luminosos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D1E0"/>
                </a:solidFill>
              </a:rPr>
              <a:t>Cómo modelamos el conocimiento del fabricante: del experto a Neo4j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434840"/>
            <a:ext cx="3291840" cy="8229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  <a:effectLst>
            <a:outerShdw sx="100000" sy="100000" kx="0" ky="0" algn="bl" rotWithShape="0" blurRad="101600" dist="50800" dir="5400000">
              <a:srgbClr val="2B6CB0">
                <a:alpha val="9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Matías Zarandon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983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Interpretación del pedido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4434840"/>
            <a:ext cx="3291840" cy="822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50800" dir="5400000">
              <a:srgbClr val="2A9D8F">
                <a:alpha val="9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4340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Lautaro Quiros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4983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Materiales e instalación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0" y="4434840"/>
            <a:ext cx="3291840" cy="82296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  <a:effectLst>
            <a:outerShdw sx="100000" sy="100000" kx="0" ky="0" algn="bl" rotWithShape="0" blurRad="101600" dist="50800" dir="5400000">
              <a:srgbClr val="D9480F">
                <a:alpha val="9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95528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Luciano Marquesini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4983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Fabricación y rediseño · experto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035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UTN FRM · 5K9 · Inteligencia Artificial · Prof. Matilde Césari y María Eugenia Stefanoni · 5/10/2026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Hoy cada pedido se evalúa «a ojo»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21240" y="438912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Luciano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·  0:45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141824"/>
          </a:solidFill>
          <a:ln w="15875">
            <a:solidFill>
              <a:srgbClr val="1418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</a:rPr>
              <a:t>HOY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</a:rPr>
              <a:t>«Quiero un neón para la pared, de un metro más o menos»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1E0"/>
                </a:solidFill>
              </a:rPr>
              <a:t>El fabricante decide si alcanza la info, si va a durar y si lo puede fabricar… con experiencia que no está escrita.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60720" y="3291840"/>
            <a:ext cx="502920" cy="914"/>
          </a:xfrm>
          <a:prstGeom prst="line">
            <a:avLst/>
          </a:prstGeom>
          <a:noFill/>
          <a:ln w="3175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644652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2E88"/>
                </a:solidFill>
              </a:rPr>
              <a:t>CON EL ASISTENTE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2148840"/>
            <a:ext cx="594360" cy="594360"/>
          </a:xfrm>
          <a:prstGeom prst="ellipse">
            <a:avLst/>
          </a:prstGeom>
          <a:solidFill>
            <a:srgbClr val="FF2E88"/>
          </a:solidFill>
          <a:ln w="12700">
            <a:solidFill>
              <a:srgbClr val="FF2E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?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1488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</a:rPr>
              <a:t>Pregunta lo que falta, no lo supone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46520" y="3154680"/>
            <a:ext cx="594360" cy="594360"/>
          </a:xfrm>
          <a:prstGeom prst="ellipse">
            <a:avLst/>
          </a:prstGeom>
          <a:solidFill>
            <a:srgbClr val="FF2E88"/>
          </a:solidFill>
          <a:ln w="12700">
            <a:solidFill>
              <a:srgbClr val="FF2E8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31546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</a:rPr>
              <a:t>Avisa lo que no se puede instalar o fabricar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46520" y="4160520"/>
            <a:ext cx="594360" cy="594360"/>
          </a:xfrm>
          <a:prstGeom prst="ellipse">
            <a:avLst/>
          </a:prstGeom>
          <a:solidFill>
            <a:srgbClr val="FF2E88"/>
          </a:solidFill>
          <a:ln w="12700">
            <a:solidFill>
              <a:srgbClr val="FF2E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41605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</a:rPr>
              <a:t>Propone alternativas y explica por qué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" y="5486400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4F6FA"/>
          </a:solidFill>
          <a:ln w="15875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486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E88"/>
                </a:solidFill>
              </a:rPr>
              <a:t>Decide el fabricante. </a:t>
            </a:r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El LLM (un modelo de lenguaje, tipo ChatGPT) solo entiende el texto del cliente y redacta la explicación.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Tres submódulos que se pasan la información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21240" y="438912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Lautaro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·  0:40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5875">
            <a:solidFill>
              <a:srgbClr val="CBD5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1488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02C"/>
                </a:solidFill>
              </a:rPr>
              <a:t>Pedido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6578"/>
                </a:solidFill>
              </a:rPr>
              <a:t>texto + foto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14600" y="1600200"/>
            <a:ext cx="2331720" cy="2468880"/>
          </a:xfrm>
          <a:prstGeom prst="roundRect">
            <a:avLst>
              <a:gd name="adj" fmla="val 3137"/>
            </a:avLst>
          </a:prstGeom>
          <a:solidFill>
            <a:srgbClr val="E3EEF9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737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</a:rPr>
              <a:t>1 · Interpretación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423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8"/>
                </a:solidFill>
              </a:rPr>
              <a:t>Matías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8346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A202C"/>
                </a:solidFill>
              </a:rPr>
              <a:t>¿Qué pide realmente el cliente?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0" y="1600200"/>
            <a:ext cx="2331720" cy="2468880"/>
          </a:xfrm>
          <a:prstGeom prst="roundRect">
            <a:avLst>
              <a:gd name="adj" fmla="val 3137"/>
            </a:avLst>
          </a:prstGeom>
          <a:solidFill>
            <a:srgbClr val="E0F4F1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0" y="1737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2 · Materiales e instalación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2423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8"/>
                </a:solidFill>
              </a:rPr>
              <a:t>Lautaro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8346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A202C"/>
                </a:solidFill>
              </a:rPr>
              <a:t>¿Funciona y dura en ese lugar?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458200" y="1600200"/>
            <a:ext cx="2331720" cy="2468880"/>
          </a:xfrm>
          <a:prstGeom prst="roundRect">
            <a:avLst>
              <a:gd name="adj" fmla="val 3137"/>
            </a:avLst>
          </a:prstGeom>
          <a:solidFill>
            <a:srgbClr val="FDEBDD"/>
          </a:solidFill>
          <a:ln w="25400">
            <a:solidFill>
              <a:srgbClr val="D9480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41080" y="1737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480F"/>
                </a:solidFill>
              </a:rPr>
              <a:t>3 · Fabricación y rediseño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423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8"/>
                </a:solidFill>
              </a:rPr>
              <a:t>Luciano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8346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A202C"/>
                </a:solidFill>
              </a:rPr>
              <a:t>¿Se puede fabricar? Si no, ¿qué cambiamos?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148840" y="2834640"/>
            <a:ext cx="320040" cy="914"/>
          </a:xfrm>
          <a:prstGeom prst="line">
            <a:avLst/>
          </a:prstGeom>
          <a:noFill/>
          <a:ln w="3175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82896" y="2834640"/>
            <a:ext cx="566928" cy="914"/>
          </a:xfrm>
          <a:prstGeom prst="line">
            <a:avLst/>
          </a:prstGeom>
          <a:noFill/>
          <a:ln w="3175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846320" y="2487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ficha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54696" y="2834640"/>
            <a:ext cx="566928" cy="914"/>
          </a:xfrm>
          <a:prstGeom prst="line">
            <a:avLst/>
          </a:prstGeom>
          <a:noFill/>
          <a:ln w="3175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818120" y="2487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dictamen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24060" y="4114800"/>
            <a:ext cx="914" cy="502920"/>
          </a:xfrm>
          <a:prstGeom prst="line">
            <a:avLst/>
          </a:prstGeom>
          <a:noFill/>
          <a:ln w="3175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458200" y="466344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141824"/>
          </a:solidFill>
          <a:ln w="15875">
            <a:solidFill>
              <a:srgbClr val="1418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41080" y="4663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Recomendación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D3EE"/>
                </a:solidFill>
              </a:rPr>
              <a:t>→ decide el fabricante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840480" y="4114800"/>
            <a:ext cx="0" cy="868680"/>
          </a:xfrm>
          <a:prstGeom prst="line">
            <a:avLst/>
          </a:prstGeom>
          <a:noFill/>
          <a:ln w="25400">
            <a:solidFill>
              <a:srgbClr val="FF2E88"/>
            </a:solidFill>
            <a:prstDash val="dash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3840480" y="4983480"/>
            <a:ext cx="2926080" cy="0"/>
          </a:xfrm>
          <a:prstGeom prst="line">
            <a:avLst/>
          </a:prstGeom>
          <a:noFill/>
          <a:ln w="25400">
            <a:solidFill>
              <a:srgbClr val="FF2E8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766560" y="4114800"/>
            <a:ext cx="0" cy="868680"/>
          </a:xfrm>
          <a:prstGeom prst="line">
            <a:avLst/>
          </a:prstGeom>
          <a:noFill/>
          <a:ln w="25400">
            <a:solidFill>
              <a:srgbClr val="FF2E8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914400" y="51206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2E88"/>
                </a:solidFill>
              </a:rPr>
              <a:t>¿falta un dato? se le pregunta al cliente, nunca se inventa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8"/>
                </a:solidFill>
              </a:rPr>
              <a:t>Ficha = el pedido ordenado y sin dudas · Dictamen = si el cartel sirve para ese lugar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Dos casos de uso guiaron el modelo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21240" y="438912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Matías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·  0:40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25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6CB0"/>
                </a:solidFill>
              </a:rPr>
              <a:t>CU1 · Café Andino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4A6"/>
                </a:solidFill>
              </a:rPr>
              <a:t>ENTRA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5875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402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202C"/>
                </a:solidFill>
              </a:rPr>
              <a:t>«Quiero un cartel de neón con el nombre del café, para poner en la pared. Más o menos de un metro.»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200400" y="3703320"/>
            <a:ext cx="914" cy="411480"/>
          </a:xfrm>
          <a:prstGeom prst="line">
            <a:avLst/>
          </a:prstGeom>
          <a:noFill/>
          <a:ln w="3175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0292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CB0"/>
                </a:solidFill>
              </a:rPr>
              <a:t>SALE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206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2519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</a:rPr>
              <a:t>Pregunta dónde va y cómo se fija → apto, pero hay que dividirlo en partes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325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480F"/>
                </a:solidFill>
              </a:rPr>
              <a:t>CU2 · Letras para el frente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4A6"/>
                </a:solidFill>
              </a:rPr>
              <a:t>ENTRA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1945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5875">
            <a:solidFill>
              <a:srgbClr val="F4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22402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202C"/>
                </a:solidFill>
              </a:rPr>
              <a:t>«Letras corpóreas con luz para el frente que da a la calle. 3 metros. Sí o sí antes de la inauguración.»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15400" y="3703320"/>
            <a:ext cx="914" cy="411480"/>
          </a:xfrm>
          <a:prstGeom prst="line">
            <a:avLst/>
          </a:prstGeom>
          <a:noFill/>
          <a:ln w="31750">
            <a:solidFill>
              <a:srgbClr val="D9480F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21792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480F"/>
                </a:solidFill>
              </a:rPr>
              <a:t>SALE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D9480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2519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</a:rPr>
              <a:t>Apto con condiciones → material para exterior (PETG) y fabricar letra por letra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8"/>
                </a:solidFill>
              </a:rPr>
              <a:t>Corpóreas = letras con volumen · PETG = plástico de impresión 3D que aguanta sol y calor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CU1 de punta a punta: Café Andino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21240" y="438912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Matías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·  1:00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1371600"/>
            <a:ext cx="640080" cy="640080"/>
          </a:xfrm>
          <a:prstGeom prst="ellipse">
            <a:avLst/>
          </a:prstGeom>
          <a:solidFill>
            <a:srgbClr val="5A6578"/>
          </a:solidFill>
          <a:ln w="12700">
            <a:solidFill>
              <a:srgbClr val="5A65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011680" cy="251460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25400">
            <a:solidFill>
              <a:srgbClr val="5A65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578"/>
                </a:solidFill>
              </a:rPr>
              <a:t>Entra el pedido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803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A202C"/>
                </a:solidFill>
              </a:rPr>
              <a:t>«neón con el nombre del café, para la pared, de un metro»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542032" y="3474720"/>
            <a:ext cx="219456" cy="914"/>
          </a:xfrm>
          <a:prstGeom prst="line">
            <a:avLst/>
          </a:prstGeom>
          <a:noFill/>
          <a:ln w="2540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74720" y="1371600"/>
            <a:ext cx="640080" cy="64008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88920" y="2240280"/>
            <a:ext cx="20116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0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</a:rPr>
              <a:t>Interpretación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28803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02C"/>
                </a:solidFill>
              </a:rPr>
              <a:t>¿Adentro o afuera? ¿Cómo se fija? → le pregunta al cliente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4297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INT-R01 · INT-R02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28032" y="3474720"/>
            <a:ext cx="219456" cy="914"/>
          </a:xfrm>
          <a:prstGeom prst="line">
            <a:avLst/>
          </a:prstGeom>
          <a:noFill/>
          <a:ln w="2540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60720" y="137160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074920" y="2240280"/>
            <a:ext cx="20116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Materiales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28803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02C"/>
                </a:solidFill>
              </a:rPr>
              <a:t>Sin soporte no se evalúa. Con la respuesta*: interior → apto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4297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R-MI-01 · R-MI-10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14032" y="3474720"/>
            <a:ext cx="219456" cy="914"/>
          </a:xfrm>
          <a:prstGeom prst="line">
            <a:avLst/>
          </a:prstGeom>
          <a:noFill/>
          <a:ln w="2540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46720" y="1371600"/>
            <a:ext cx="640080" cy="64008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360920" y="2240280"/>
            <a:ext cx="20116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D9480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0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80F"/>
                </a:solidFill>
              </a:rPr>
              <a:t>Fabricación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28803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02C"/>
                </a:solidFill>
              </a:rPr>
              <a:t>1 m no entra en la impresora 3D (máx. 40 cm)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4297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MAN-R3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400032" y="3474720"/>
            <a:ext cx="219456" cy="914"/>
          </a:xfrm>
          <a:prstGeom prst="line">
            <a:avLst/>
          </a:prstGeom>
          <a:noFill/>
          <a:ln w="2540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332720" y="1371600"/>
            <a:ext cx="640080" cy="640080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3327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646920" y="2240280"/>
            <a:ext cx="20116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6B46C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784080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6C1"/>
                </a:solidFill>
              </a:rPr>
              <a:t>Recomendación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784080" y="28803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02C"/>
                </a:solidFill>
              </a:rPr>
              <a:t>Dividir en módulos y reforzar la fijación → decide el fabricante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51206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578"/>
                </a:solidFill>
              </a:rPr>
              <a:t>* La respuesta del cliente sobre el soporte es un dato de prueba simulado (está marcado así en el grafo).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Metodología: del experto al grafo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21240" y="438912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Lautaro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·  0:30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011680" cy="283464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6578"/>
                </a:solidFill>
              </a:rPr>
              <a:t>PI1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02C"/>
                </a:solidFill>
              </a:rPr>
              <a:t>Experto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9260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Entrevistas con Luciano: cómo decide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2032" y="2880360"/>
            <a:ext cx="219456" cy="914"/>
          </a:xfrm>
          <a:prstGeom prst="line">
            <a:avLst/>
          </a:prstGeom>
          <a:noFill/>
          <a:ln w="2540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88920" y="1463040"/>
            <a:ext cx="2011680" cy="283464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1645920"/>
            <a:ext cx="548640" cy="548640"/>
          </a:xfrm>
          <a:prstGeom prst="ellipse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718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6578"/>
                </a:solidFill>
              </a:rPr>
              <a:t>PI2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02C"/>
                </a:solidFill>
              </a:rPr>
              <a:t>Red semántica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29260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Conceptos unidos por verbos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28032" y="2880360"/>
            <a:ext cx="219456" cy="914"/>
          </a:xfrm>
          <a:prstGeom prst="line">
            <a:avLst/>
          </a:prstGeom>
          <a:noFill/>
          <a:ln w="2540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74920" y="1463040"/>
            <a:ext cx="2011680" cy="283464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7800" y="1645920"/>
            <a:ext cx="548640" cy="548640"/>
          </a:xfrm>
          <a:prstGeom prst="ellipse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578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6578"/>
                </a:solidFill>
              </a:rPr>
              <a:t>PI2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02C"/>
                </a:solidFill>
              </a:rPr>
              <a:t>Frames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29260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Una ficha con casilleros por concepto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14032" y="2880360"/>
            <a:ext cx="219456" cy="914"/>
          </a:xfrm>
          <a:prstGeom prst="line">
            <a:avLst/>
          </a:prstGeom>
          <a:noFill/>
          <a:ln w="2540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60920" y="1463040"/>
            <a:ext cx="2011680" cy="283464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43800" y="1645920"/>
            <a:ext cx="548640" cy="548640"/>
          </a:xfrm>
          <a:prstGeom prst="ellipse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438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6578"/>
                </a:solidFill>
              </a:rPr>
              <a:t>PI2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54380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02C"/>
                </a:solidFill>
              </a:rPr>
              <a:t>Reglas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543800" y="29260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SI… ENTONCES…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400032" y="2880360"/>
            <a:ext cx="219456" cy="914"/>
          </a:xfrm>
          <a:prstGeom prst="line">
            <a:avLst/>
          </a:prstGeom>
          <a:noFill/>
          <a:ln w="2540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46920" y="1463040"/>
            <a:ext cx="2011680" cy="2834640"/>
          </a:xfrm>
          <a:prstGeom prst="roundRect">
            <a:avLst>
              <a:gd name="adj" fmla="val 3636"/>
            </a:avLst>
          </a:prstGeom>
          <a:solidFill>
            <a:srgbClr val="FFF0F6"/>
          </a:solidFill>
          <a:ln w="19050">
            <a:solidFill>
              <a:srgbClr val="FF2E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29800" y="1645920"/>
            <a:ext cx="548640" cy="548640"/>
          </a:xfrm>
          <a:prstGeom prst="ellipse">
            <a:avLst/>
          </a:prstGeom>
          <a:solidFill>
            <a:srgbClr val="FF2E88"/>
          </a:solidFill>
          <a:ln w="12700">
            <a:solidFill>
              <a:srgbClr val="FF2E8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298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056132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6578"/>
                </a:solidFill>
              </a:rPr>
              <a:t>hoy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82980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2E88"/>
                </a:solidFill>
              </a:rPr>
              <a:t>Neo4j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9829800" y="29260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Todo en una base de grafos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02920" y="466344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731520" y="46634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578"/>
                </a:solidFill>
              </a:rPr>
              <a:t>6 · Lógica difusa: </a:t>
            </a:r>
            <a:pPr indent="0" marL="0">
              <a:buNone/>
            </a:pPr>
            <a:r>
              <a:rPr lang="en-US" sz="1600" dirty="0">
                <a:solidFill>
                  <a:srgbClr val="5A6578"/>
                </a:solidFill>
              </a:rPr>
              <a:t>próximo paso (PI3)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5669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Lo que el experto todavía no definió queda marcado </a:t>
            </a:r>
            <a:pPr indent="0" marL="0">
              <a:buNone/>
            </a:pPr>
            <a:r>
              <a:rPr lang="en-US" sz="1600" b="1" dirty="0">
                <a:solidFill>
                  <a:srgbClr val="FF2E88"/>
                </a:solidFill>
              </a:rPr>
              <a:t>[PENDIENTE]</a:t>
            </a:r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</a:rPr>
              <a:t>: no inventamos números.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Red semántica: conceptos unidos por verbos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21240" y="438912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Lautaro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·  0:50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E3EEF9"/>
          </a:solidFill>
          <a:ln w="22225">
            <a:solidFill>
              <a:srgbClr val="2B6C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Cliente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E3EEF9"/>
          </a:solidFill>
          <a:ln w="22225">
            <a:solidFill>
              <a:srgbClr val="2B6C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Pedido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80360" y="132588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E3EEF9"/>
          </a:solidFill>
          <a:ln w="22225">
            <a:solidFill>
              <a:srgbClr val="2B6C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036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Aclaración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12080" y="132588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E3EEF9"/>
          </a:solidFill>
          <a:ln w="22225">
            <a:solidFill>
              <a:srgbClr val="2B6C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Dato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80360" y="233172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EEE8FA"/>
          </a:solidFill>
          <a:ln w="22225">
            <a:solidFill>
              <a:srgbClr val="6B46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8036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Ficha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12080" y="233172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EEE8FA"/>
          </a:solidFill>
          <a:ln w="22225">
            <a:solidFill>
              <a:srgbClr val="6B46C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Cartel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43800" y="132588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E0F4F1"/>
          </a:solidFill>
          <a:ln w="22225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4380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Entorno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43800" y="233172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E0F4F1"/>
          </a:solidFill>
          <a:ln w="22225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4380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Dictamen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12080" y="333756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FDEBDD"/>
          </a:solidFill>
          <a:ln w="22225">
            <a:solidFill>
              <a:srgbClr val="D9480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0" y="3337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Geometría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212080" y="434340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FDEBDD"/>
          </a:solidFill>
          <a:ln w="22225">
            <a:solidFill>
              <a:srgbClr val="D9480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12080" y="4343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Límite técnico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43800" y="333756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EEE8FA"/>
          </a:solidFill>
          <a:ln w="22225">
            <a:solidFill>
              <a:srgbClr val="6B46C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43800" y="3337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Conflicto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875520" y="333756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FDEBDD"/>
          </a:solidFill>
          <a:ln w="22225">
            <a:solidFill>
              <a:srgbClr val="D9480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75520" y="3337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Alternativa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875520" y="434340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FDEBDD"/>
          </a:solidFill>
          <a:ln w="22225">
            <a:solidFill>
              <a:srgbClr val="D9480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75520" y="4343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Recomendación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280160" y="1874520"/>
            <a:ext cx="914" cy="45720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1353312" y="1965960"/>
            <a:ext cx="570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78"/>
                </a:solidFill>
              </a:rPr>
              <a:t>formula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 flipH="1">
            <a:off x="2011680" y="1600200"/>
            <a:ext cx="868680" cy="914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2029054" y="1463040"/>
            <a:ext cx="833933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578"/>
                </a:solidFill>
              </a:rPr>
              <a:t>se dirige 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 flipH="1">
            <a:off x="4343400" y="1600200"/>
            <a:ext cx="868680" cy="914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492447" y="1463040"/>
            <a:ext cx="57058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578"/>
                </a:solidFill>
              </a:rPr>
              <a:t>provoca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 flipH="1">
            <a:off x="2011680" y="2606040"/>
            <a:ext cx="868680" cy="914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1963217" y="2468880"/>
            <a:ext cx="96560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578"/>
                </a:solidFill>
              </a:rPr>
              <a:t>corresponde 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 flipV="1">
            <a:off x="4247804" y="1874520"/>
            <a:ext cx="1059873" cy="45720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4459529" y="1965960"/>
            <a:ext cx="636422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578"/>
                </a:solidFill>
              </a:rPr>
              <a:t>registra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43400" y="2606040"/>
            <a:ext cx="868680" cy="914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4459529" y="2468880"/>
            <a:ext cx="636422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578"/>
                </a:solidFill>
              </a:rPr>
              <a:t>describe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 flipV="1">
            <a:off x="6579524" y="1874520"/>
            <a:ext cx="1059873" cy="45720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6626657" y="1965960"/>
            <a:ext cx="96560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578"/>
                </a:solidFill>
              </a:rPr>
              <a:t>se instala en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 flipH="1">
            <a:off x="6675120" y="2606040"/>
            <a:ext cx="868680" cy="914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6857086" y="2468880"/>
            <a:ext cx="504749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578"/>
                </a:solidFill>
              </a:rPr>
              <a:t>evalúa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943600" y="2880360"/>
            <a:ext cx="914" cy="45720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6016752" y="2971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78"/>
                </a:solidFill>
              </a:rPr>
              <a:t>tiene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943600" y="3886200"/>
            <a:ext cx="914" cy="45720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6016752" y="3977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78"/>
                </a:solidFill>
              </a:rPr>
              <a:t>viola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 flipV="1">
            <a:off x="6579524" y="3886200"/>
            <a:ext cx="1059873" cy="45720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6857086" y="3977640"/>
            <a:ext cx="504749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578"/>
                </a:solidFill>
              </a:rPr>
              <a:t>genera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275320" y="2880360"/>
            <a:ext cx="914" cy="45720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8348472" y="2971800"/>
            <a:ext cx="6364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78"/>
                </a:solidFill>
              </a:rPr>
              <a:t>registra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006840" y="3611880"/>
            <a:ext cx="868680" cy="914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9189720" y="3474720"/>
            <a:ext cx="502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578"/>
                </a:solidFill>
              </a:rPr>
              <a:t>exige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607040" y="3886200"/>
            <a:ext cx="914" cy="45720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10680192" y="3977640"/>
            <a:ext cx="6364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78"/>
                </a:solidFill>
              </a:rPr>
              <a:t>conforma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921240" y="1417320"/>
            <a:ext cx="320040" cy="201168"/>
          </a:xfrm>
          <a:prstGeom prst="roundRect">
            <a:avLst>
              <a:gd name="adj" fmla="val 22727"/>
            </a:avLst>
          </a:prstGeom>
          <a:solidFill>
            <a:srgbClr val="E3EEF9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332720" y="1371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</a:rPr>
              <a:t>Interpretación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9921240" y="1746504"/>
            <a:ext cx="320040" cy="201168"/>
          </a:xfrm>
          <a:prstGeom prst="roundRect">
            <a:avLst>
              <a:gd name="adj" fmla="val 22727"/>
            </a:avLst>
          </a:prstGeom>
          <a:solidFill>
            <a:srgbClr val="E0F4F1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332720" y="17007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</a:rPr>
              <a:t>Materiales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9921240" y="2075688"/>
            <a:ext cx="320040" cy="201168"/>
          </a:xfrm>
          <a:prstGeom prst="roundRect">
            <a:avLst>
              <a:gd name="adj" fmla="val 22727"/>
            </a:avLst>
          </a:prstGeom>
          <a:solidFill>
            <a:srgbClr val="FDEBDD"/>
          </a:solidFill>
          <a:ln w="19050">
            <a:solidFill>
              <a:srgbClr val="D9480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332720" y="20299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</a:rPr>
              <a:t>Fabricación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9921240" y="2404872"/>
            <a:ext cx="320040" cy="201168"/>
          </a:xfrm>
          <a:prstGeom prst="roundRect">
            <a:avLst>
              <a:gd name="adj" fmla="val 22727"/>
            </a:avLst>
          </a:prstGeom>
          <a:solidFill>
            <a:srgbClr val="EEE8FA"/>
          </a:solidFill>
          <a:ln w="19050">
            <a:solidFill>
              <a:srgbClr val="6B46C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332720" y="23591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</a:rPr>
              <a:t>Compartido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502920" y="333756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15875">
            <a:solidFill>
              <a:srgbClr val="F4F6F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31520" y="333756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202C"/>
                </a:solidFill>
              </a:rPr>
              <a:t>Cómo la armamos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202C"/>
                </a:solidFill>
              </a:rPr>
              <a:t>Una red por integrante (PI2) → las unimos en una sola. Vista simplificada: la completa está en el anexo.</a:t>
            </a:r>
            <a:endParaRPr lang="en-US" sz="1500" dirty="0"/>
          </a:p>
        </p:txBody>
      </p:sp>
      <p:sp>
        <p:nvSpPr>
          <p:cNvPr id="69" name="Text 67"/>
          <p:cNvSpPr txBox="1"/>
          <p:nvPr/>
        </p:nvSpPr>
        <p:spPr>
          <a:xfrm>
            <a:off x="502920" y="5212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E88"/>
                </a:solidFill>
              </a:rPr>
              <a:t>Reglas de diseño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502920" y="5577840"/>
            <a:ext cx="3584448" cy="502920"/>
          </a:xfrm>
          <a:prstGeom prst="roundRect">
            <a:avLst>
              <a:gd name="adj" fmla="val 49091"/>
            </a:avLst>
          </a:prstGeom>
          <a:solidFill>
            <a:srgbClr val="FFF0F6"/>
          </a:solidFill>
          <a:ln w="15875">
            <a:solidFill>
              <a:srgbClr val="FF2E8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02920" y="5577840"/>
            <a:ext cx="3584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Cada relación con verbo y dirección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4270248" y="5577840"/>
            <a:ext cx="3584448" cy="502920"/>
          </a:xfrm>
          <a:prstGeom prst="roundRect">
            <a:avLst>
              <a:gd name="adj" fmla="val 49091"/>
            </a:avLst>
          </a:prstGeom>
          <a:solidFill>
            <a:srgbClr val="FFF0F6"/>
          </a:solidFill>
          <a:ln w="15875">
            <a:solidFill>
              <a:srgbClr val="FF2E88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270248" y="5577840"/>
            <a:ext cx="3584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Un concepto = un solo nombre</a:t>
            </a:r>
            <a:endParaRPr lang="en-US" sz="1500" dirty="0"/>
          </a:p>
        </p:txBody>
      </p:sp>
      <p:sp>
        <p:nvSpPr>
          <p:cNvPr id="74" name="Shape 72"/>
          <p:cNvSpPr/>
          <p:nvPr/>
        </p:nvSpPr>
        <p:spPr>
          <a:xfrm>
            <a:off x="8037576" y="5577840"/>
            <a:ext cx="3584448" cy="502920"/>
          </a:xfrm>
          <a:prstGeom prst="roundRect">
            <a:avLst>
              <a:gd name="adj" fmla="val 49091"/>
            </a:avLst>
          </a:prstGeom>
          <a:solidFill>
            <a:srgbClr val="FFF0F6"/>
          </a:solidFill>
          <a:ln w="15875">
            <a:solidFill>
              <a:srgbClr val="FF2E88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037576" y="5577840"/>
            <a:ext cx="3584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Lo compartido une los submódulos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De la red a los frames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21240" y="438912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Lautaro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·  0:50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578"/>
                </a:solidFill>
              </a:rPr>
              <a:t>Cómo se transforma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15875">
            <a:solidFill>
              <a:srgbClr val="CBD5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</a:rPr>
              <a:t>Concepto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65960" y="2057400"/>
            <a:ext cx="411480" cy="914"/>
          </a:xfrm>
          <a:prstGeom prst="line">
            <a:avLst/>
          </a:prstGeom>
          <a:noFill/>
          <a:ln w="2540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17830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E3EEF9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6CB0"/>
                </a:solidFill>
              </a:rPr>
              <a:t>Frame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578"/>
                </a:solidFill>
              </a:rPr>
              <a:t>una ficha del concepto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15875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29718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</a:rPr>
              <a:t>Atributo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5960" y="3246120"/>
            <a:ext cx="411480" cy="914"/>
          </a:xfrm>
          <a:prstGeom prst="line">
            <a:avLst/>
          </a:prstGeom>
          <a:noFill/>
          <a:ln w="2540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23160" y="297180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E3EEF9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23160" y="29718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6CB0"/>
                </a:solidFill>
              </a:rPr>
              <a:t>Slot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566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578"/>
                </a:solidFill>
              </a:rPr>
              <a:t>un casillero de la ficha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16052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15875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4160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</a:rPr>
              <a:t>«es un»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965960" y="4434840"/>
            <a:ext cx="411480" cy="914"/>
          </a:xfrm>
          <a:prstGeom prst="line">
            <a:avLst/>
          </a:prstGeom>
          <a:noFill/>
          <a:ln w="25400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423160" y="416052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E3EEF9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23160" y="4160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6CB0"/>
                </a:solidFill>
              </a:rPr>
              <a:t>Herencia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4754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578"/>
                </a:solidFill>
              </a:rPr>
              <a:t>el hijo recibe los casilleros del padre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09160" y="1280160"/>
            <a:ext cx="6949440" cy="548640"/>
          </a:xfrm>
          <a:prstGeom prst="roundRect">
            <a:avLst>
              <a:gd name="adj" fmla="val 13333"/>
            </a:avLst>
          </a:prstGeom>
          <a:solidFill>
            <a:srgbClr val="2B6CB0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37760" y="12801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Frame: DatoFaltante</a:t>
            </a:r>
            <a:pPr indent="0" marL="0">
              <a:buNone/>
            </a:pPr>
            <a:r>
              <a:rPr lang="en-US" sz="1800" dirty="0">
                <a:solidFill>
                  <a:srgbClr val="D6E4F5"/>
                </a:solidFill>
              </a:rPr>
              <a:t>   es un → Dato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82880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Slot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Facetas: qué acepta · por defecto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criticidad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bloqueante / postergable / sin_clasificar · defecto: sin_clasificar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atributo  (de Dato)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02C"/>
                          </a:solidFill>
                        </a:rPr>
                        <a:t>texto, p. ej. «soporte_y_montaje»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</a:rPr>
                        <a:t>origen  (de Dato)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02C"/>
                          </a:solidFill>
                        </a:rPr>
                        <a:t>solo «cliente» o «respuesta a aclaración»; nunca «supuesto»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4709160" y="402336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0F6"/>
          </a:solidFill>
          <a:ln w="15875">
            <a:solidFill>
              <a:srgbClr val="FF2E8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937760" y="402336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E88"/>
                </a:solidFill>
              </a:rPr>
              <a:t>Demonio de criticidad: </a:t>
            </a:r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</a:rPr>
              <a:t>al crearse un dato faltante, genera automáticamente la pregunta para el cliente.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02920" y="5120640"/>
            <a:ext cx="1115568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 w="15875">
            <a:solidFill>
              <a:srgbClr val="F4F6F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" y="51206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Slot</a:t>
            </a:r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</a:rPr>
              <a:t> = un casillero del frame.   </a:t>
            </a:r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Faceta</a:t>
            </a:r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</a:rPr>
              <a:t> = qué valores acepta ese casillero y cuál va por defecto.   </a:t>
            </a:r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Demonio</a:t>
            </a:r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</a:rPr>
              <a:t> = una acción que se dispara sola cuando el casillero se llena o cambia.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Reglas SI… ENTONCES…: de dónde sale cada una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21240" y="438912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Luciano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·  0:45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7680960" cy="1280160"/>
          </a:xfrm>
          <a:prstGeom prst="roundRect">
            <a:avLst>
              <a:gd name="adj" fmla="val 5714"/>
            </a:avLst>
          </a:prstGeom>
          <a:solidFill>
            <a:srgbClr val="E0F4F1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35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R-MI-01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01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8"/>
                </a:solidFill>
              </a:rPr>
              <a:t>Materiales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41732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</a:rPr>
              <a:t>SI falta el entorno, el soporte o las medidas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ENTONCES no se evalúa la instalación y se pide el dato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20840" y="1764792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17647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7680960" cy="1280160"/>
          </a:xfrm>
          <a:prstGeom prst="roundRect">
            <a:avLst>
              <a:gd name="adj" fmla="val 5714"/>
            </a:avLst>
          </a:prstGeom>
          <a:solidFill>
            <a:srgbClr val="FDEBDD"/>
          </a:solidFill>
          <a:ln w="15875">
            <a:solidFill>
              <a:srgbClr val="D9480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8986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480F"/>
                </a:solidFill>
              </a:rPr>
              <a:t>MAN-R6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264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8"/>
                </a:solidFill>
              </a:rPr>
              <a:t>Fabricación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288036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</a:rPr>
              <a:t>SI el trazo del logo es muy fino para el neón Y el cliente exige respetar el logo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ENTONCES no se engrosa: se propone retroiluminarlo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20840" y="3227832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32278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7680960" cy="1280160"/>
          </a:xfrm>
          <a:prstGeom prst="roundRect">
            <a:avLst>
              <a:gd name="adj" fmla="val 5714"/>
            </a:avLst>
          </a:prstGeom>
          <a:solidFill>
            <a:srgbClr val="E3EEF9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361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</a:rPr>
              <a:t>INT-R11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727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8"/>
                </a:solidFill>
              </a:rPr>
              <a:t>Interpretación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240280" y="434340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</a:rPr>
              <a:t>SI todos los datos necesarios están confirmados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ENTONCES el pedido pasa a evaluación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20840" y="4690872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FF2E88"/>
          </a:solidFill>
          <a:ln w="12700">
            <a:solidFill>
              <a:srgbClr val="FF2E8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0840" y="46908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PROPUESTA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49640" y="1325880"/>
            <a:ext cx="3108960" cy="4206240"/>
          </a:xfrm>
          <a:prstGeom prst="roundRect">
            <a:avLst>
              <a:gd name="adj" fmla="val 2353"/>
            </a:avLst>
          </a:prstGeom>
          <a:solidFill>
            <a:srgbClr val="F4F6FA"/>
          </a:solidFill>
          <a:ln w="15875">
            <a:solidFill>
              <a:srgbClr val="F4F6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782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</a:rPr>
              <a:t>38 reglas en el modelo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0" y="20116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855A"/>
                </a:solidFill>
              </a:rPr>
              <a:t>15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978408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</a:rPr>
              <a:t>del experto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31546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2E88"/>
                </a:solidFill>
              </a:rPr>
              <a:t>16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9784080" y="3154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</a:rPr>
              <a:t>propuestas por el grupo (a validar)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778240" y="42976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A6578"/>
                </a:solidFill>
              </a:rPr>
              <a:t>7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9784080" y="4297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</a:rPr>
              <a:t>de fichas técnicas o normas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8521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8"/>
                </a:solidFill>
              </a:rPr>
              <a:t>Retroiluminado = la luz sale por detrás de la letra, no por un tubo en el frente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Lógica difusa: un ejemplo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21240" y="438912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Luciano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·  0:40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4937760" cy="457200"/>
          </a:xfrm>
          <a:prstGeom prst="roundRect">
            <a:avLst>
              <a:gd name="adj" fmla="val 50000"/>
            </a:avLst>
          </a:prstGeom>
          <a:solidFill>
            <a:srgbClr val="FFF0F6"/>
          </a:solidFill>
          <a:ln w="19050">
            <a:solidFill>
              <a:srgbClr val="FF2E8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234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2E88"/>
                </a:solidFill>
              </a:rPr>
              <a:t>ILUSTRATIVO · a validar con el experto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65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Variable lingüística: exposición al clima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2377440" cy="1645920"/>
          </a:xfrm>
          <a:prstGeom prst="triangle">
            <a:avLst/>
          </a:prstGeom>
          <a:solidFill>
            <a:srgbClr val="2B6CB0">
              <a:alpha val="28000"/>
            </a:srgbClr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24688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6CB0"/>
                </a:solidFill>
              </a:rPr>
              <a:t>baja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148840" y="2788920"/>
            <a:ext cx="2377440" cy="1645920"/>
          </a:xfrm>
          <a:prstGeom prst="triangle">
            <a:avLst/>
          </a:prstGeom>
          <a:solidFill>
            <a:srgbClr val="2A9D8F">
              <a:alpha val="28000"/>
            </a:srgbClr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24688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9D8F"/>
                </a:solidFill>
              </a:rPr>
              <a:t>media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0" y="2788920"/>
            <a:ext cx="2377440" cy="1645920"/>
          </a:xfrm>
          <a:prstGeom prst="triangle">
            <a:avLst/>
          </a:prstGeom>
          <a:solidFill>
            <a:srgbClr val="D9480F">
              <a:alpha val="28000"/>
            </a:srgbClr>
          </a:solidFill>
          <a:ln w="25400">
            <a:solidFill>
              <a:srgbClr val="D9480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24688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480F"/>
                </a:solidFill>
              </a:rPr>
              <a:t>alta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5669280" cy="0"/>
          </a:xfrm>
          <a:prstGeom prst="line">
            <a:avLst/>
          </a:prstGeom>
          <a:noFill/>
          <a:ln w="15875">
            <a:solidFill>
              <a:srgbClr val="1A202C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48640" y="4526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578"/>
                </a:solidFill>
              </a:rPr>
              <a:t>más sol y lluvia →   (rangos a definir con el experto)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0749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</a:rPr>
              <a:t>Un valor puede ser «media» y «alta» a la vez, con distinto grado (de 0 a 1).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29200" cy="2514600"/>
          </a:xfrm>
          <a:prstGeom prst="roundRect">
            <a:avLst>
              <a:gd name="adj" fmla="val 2909"/>
            </a:avLst>
          </a:prstGeom>
          <a:solidFill>
            <a:srgbClr val="141824"/>
          </a:solidFill>
          <a:ln w="15875">
            <a:solidFill>
              <a:srgbClr val="1418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Regla difusa de ejemplo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56032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2D3EE"/>
                </a:solidFill>
              </a:rPr>
              <a:t>SI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la exposición es </a:t>
            </a:r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F2E88"/>
                </a:solidFill>
              </a:rPr>
              <a:t>ALTA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2D3EE"/>
                </a:solidFill>
              </a:rPr>
              <a:t>Y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el peso está </a:t>
            </a:r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F2E88"/>
                </a:solidFill>
              </a:rPr>
              <a:t>EN EL LÍMITE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2D3EE"/>
                </a:solidFill>
              </a:rPr>
              <a:t>ENTONCES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el riesgo de la instalación es </a:t>
            </a:r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F2E88"/>
                </a:solidFill>
              </a:rPr>
              <a:t>ALTO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8"/>
                </a:solidFill>
              </a:rPr>
              <a:t>Entradas tomadas de los PI: exposición (Lautaro) y exceso de peso (Luciano). La salida «riesgo» la propusimos nosotros.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Neo4j: el modelo convertido en grafo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21240" y="438912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Luciano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·  0:55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0060" y="1394460"/>
            <a:ext cx="1691640" cy="777240"/>
          </a:xfrm>
          <a:prstGeom prst="roundRect">
            <a:avLst>
              <a:gd name="adj" fmla="val 11765"/>
            </a:avLst>
          </a:prstGeom>
          <a:solidFill>
            <a:srgbClr val="EEE8FA"/>
          </a:solidFill>
          <a:ln w="22225">
            <a:solidFill>
              <a:srgbClr val="6B46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" y="13944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Cartel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A6578"/>
                </a:solidFill>
              </a:rPr>
              <a:t>CU1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66060" y="1394460"/>
            <a:ext cx="1691640" cy="777240"/>
          </a:xfrm>
          <a:prstGeom prst="roundRect">
            <a:avLst>
              <a:gd name="adj" fmla="val 11765"/>
            </a:avLst>
          </a:prstGeom>
          <a:solidFill>
            <a:srgbClr val="FDEBDD"/>
          </a:solidFill>
          <a:ln w="22225">
            <a:solidFill>
              <a:srgbClr val="D9480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66060" y="13944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Geometría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A6578"/>
                </a:solidFill>
              </a:rPr>
              <a:t>1000 mm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52060" y="1394460"/>
            <a:ext cx="1691640" cy="777240"/>
          </a:xfrm>
          <a:prstGeom prst="roundRect">
            <a:avLst>
              <a:gd name="adj" fmla="val 11765"/>
            </a:avLst>
          </a:prstGeom>
          <a:solidFill>
            <a:srgbClr val="FDEBDD"/>
          </a:solidFill>
          <a:ln w="22225">
            <a:solidFill>
              <a:srgbClr val="D9480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52060" y="13944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Límite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A6578"/>
                </a:solidFill>
              </a:rPr>
              <a:t>cama 400 mm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38060" y="1394460"/>
            <a:ext cx="1691640" cy="777240"/>
          </a:xfrm>
          <a:prstGeom prst="roundRect">
            <a:avLst>
              <a:gd name="adj" fmla="val 11765"/>
            </a:avLst>
          </a:prstGeom>
          <a:solidFill>
            <a:srgbClr val="EEE8FA"/>
          </a:solidFill>
          <a:ln w="22225">
            <a:solidFill>
              <a:srgbClr val="6B46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38060" y="13944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Conflicto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A6578"/>
                </a:solidFill>
              </a:rPr>
              <a:t>ExcedeCama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24060" y="1394460"/>
            <a:ext cx="1691640" cy="777240"/>
          </a:xfrm>
          <a:prstGeom prst="roundRect">
            <a:avLst>
              <a:gd name="adj" fmla="val 11765"/>
            </a:avLst>
          </a:prstGeom>
          <a:solidFill>
            <a:srgbClr val="FDEBDD"/>
          </a:solidFill>
          <a:ln w="22225">
            <a:solidFill>
              <a:srgbClr val="D9480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24060" y="13944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Alternativa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A6578"/>
                </a:solidFill>
              </a:rPr>
              <a:t>Segmentación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99132" y="1783080"/>
            <a:ext cx="539496" cy="914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171700" y="12161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578"/>
                </a:solidFill>
              </a:rPr>
              <a:t>TIENE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85132" y="1783080"/>
            <a:ext cx="539496" cy="914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457700" y="12161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2E88"/>
                </a:solidFill>
              </a:rPr>
              <a:t>VIOLA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71132" y="1783080"/>
            <a:ext cx="539496" cy="914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743700" y="12161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2E88"/>
                </a:solidFill>
              </a:rPr>
              <a:t>GENERA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57132" y="1783080"/>
            <a:ext cx="539496" cy="914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9029700" y="12161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2E88"/>
                </a:solidFill>
              </a:rPr>
              <a:t>EXIGE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2377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Las relaciones en rosa no se cargaron a mano: </a:t>
            </a:r>
            <a:pPr algn="ctr" indent="0" marL="0">
              <a:buNone/>
            </a:pPr>
            <a:r>
              <a:rPr lang="en-US" sz="1400" dirty="0">
                <a:solidFill>
                  <a:srgbClr val="1A202C"/>
                </a:solidFill>
              </a:rPr>
              <a:t>las creó la regla MAN-R3.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578"/>
                </a:solidFill>
              </a:rPr>
              <a:t>Consulta en Cypher (el lenguaje de Neo4j)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34290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35661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(k:Conflicto {caso:'CU1'})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-[e:EXIGE]-&gt;(alt)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k.tipo, k.detalle,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alt.nombre, e.regla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578"/>
                </a:solidFill>
              </a:rPr>
              <a:t>«Buscá el conflicto del caso CU1, qué exige y qué regla lo creó»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98932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578"/>
                </a:solidFill>
              </a:rPr>
              <a:t>Resultado real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3429000"/>
          <a:ext cx="56692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965960"/>
                <a:gridCol w="1691640"/>
                <a:gridCol w="777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conflicto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detalle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alternativa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regla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ExcedeCama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1000 mm &gt; 400 mm de cama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</a:rPr>
                        <a:t>SegmentacionModular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2E88"/>
                          </a:solidFill>
                        </a:rPr>
                        <a:t>MAN-R3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989320" y="45720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</a:rPr>
              <a:t>En total: 55 frames · 38 reglas · 122 instancias · Neo4j 5.21 en Docker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56692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8"/>
                </a:solidFill>
              </a:rPr>
              <a:t>Neo4j = base de datos que guarda nodos y relaciones, igual que nuestra 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Demo 1 · El pedido espera hasta tener el dato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21240" y="438912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Matías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·  0:50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94360" cy="59436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447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</a:rPr>
              <a:t>¿Por qué no se puede evaluar?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470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578"/>
                </a:solidFill>
              </a:rPr>
              <a:t>falta el soporte; hay una pregunta abierta al cliente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594360" cy="59436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</a:rPr>
              <a:t>Materiales responde con su regla R-MI-01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218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578"/>
                </a:solidFill>
              </a:rPr>
              <a:t>sin soporte no se evalúa → el faltante es bloqueante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06908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206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neo4j/demo.sh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754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578"/>
                </a:solidFill>
              </a:rPr>
              <a:t>En vivo en la terminal. Si falla la conexión: esta salida real o el video.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578"/>
                </a:solidFill>
              </a:rPr>
              <a:t>Salida real (cypher-shell)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852160" y="1691640"/>
            <a:ext cx="5806440" cy="3611880"/>
          </a:xfrm>
          <a:prstGeom prst="roundRect">
            <a:avLst>
              <a:gd name="adj" fmla="val 2025"/>
            </a:avLst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1828800"/>
            <a:ext cx="5394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1 · ¿por qué P-01 no avanza?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     pendiente_de_aclaracion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faltantes  D4 soporte_y_montaje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(criticidad=sin_clasificar)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   A4: ¿Sobre qué pared va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y cómo es esa superficie?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   Q1 -&gt; Materiales (pendiente)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Paso 2 · Materiales responde Q1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 soporte_y_montaje -&gt; </a:t>
            </a:r>
            <a:pPr indent="0" marL="0">
              <a:buNone/>
            </a:pPr>
            <a:r>
              <a:rPr lang="en-US" sz="1400" b="1" dirty="0">
                <a:solidFill>
                  <a:srgbClr val="FF2E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bloqueante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 R-MI-01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Demo 2 · De la respuesta a la recomendación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21240" y="438912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Matías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·  0:50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94360" cy="59436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</a:rPr>
              <a:t>Llega la respuesta (simulada) → se crea la ficha FR-01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764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8"/>
                </a:solidFill>
              </a:rPr>
              <a:t>interior · «Café Andino» · ≈ 1 m · pared de mampostería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594360" cy="59436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514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</a:rPr>
              <a:t>Recorrido completo del caso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907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8"/>
                </a:solidFill>
              </a:rPr>
              <a:t>cada submódulo aporta su parte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03320"/>
          <a:ext cx="111556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011680"/>
                <a:gridCol w="8686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submódulo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resultado (paso 12, salida real)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02C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B6CB0"/>
                          </a:solidFill>
                        </a:rPr>
                        <a:t>Interpretación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02C"/>
                          </a:solidFill>
                        </a:rPr>
                        <a:t>P-01 listo_para_evaluacion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02C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B46C1"/>
                          </a:solidFill>
                        </a:rPr>
                        <a:t>Ficha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02C"/>
                          </a:solidFill>
                        </a:rPr>
                        <a:t>FR-01: entorno = interior; largo ≈ 1 m; soporte = pared de mampostería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02C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9D8F"/>
                          </a:solidFill>
                        </a:rPr>
                        <a:t>Materiales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02C"/>
                          </a:solidFill>
                        </a:rPr>
                        <a:t>exposición baja → apto (R-MI-10)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02C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9480F"/>
                          </a:solidFill>
                        </a:rPr>
                        <a:t>Fabricación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02C"/>
                          </a:solidFill>
                        </a:rPr>
                        <a:t>ExcedeCama: 1000 mm &gt; 400 mm de cama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02C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B46C1"/>
                          </a:solidFill>
                        </a:rPr>
                        <a:t>Recomendación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Segmentación modular + refuerzo de fijación ·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2E88"/>
                          </a:solidFill>
                        </a:rPr>
                        <a:t>decide: fabricante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438912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Lautaro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·  0:30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Qué nos falta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FF2E88"/>
          </a:solidFill>
          <a:ln w="12700">
            <a:solidFill>
              <a:srgbClr val="FF2E8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45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 PI2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057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E0"/>
                </a:solidFill>
              </a:rPr>
              <a:t>hoy Materiales se modeló desde mi PI1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FF2E88"/>
          </a:solidFill>
          <a:ln w="12700">
            <a:solidFill>
              <a:srgbClr val="FF2E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7432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Números que no inventamos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154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E0"/>
                </a:solidFill>
              </a:rPr>
              <a:t>protección al agua, peso por soporte, cuándo pedir verificación estructural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886200"/>
            <a:ext cx="548640" cy="548640"/>
          </a:xfrm>
          <a:prstGeom prst="ellipse">
            <a:avLst/>
          </a:prstGeom>
          <a:solidFill>
            <a:srgbClr val="FF2E88"/>
          </a:solidFill>
          <a:ln w="12700">
            <a:solidFill>
              <a:srgbClr val="FF2E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840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Validar con el experto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251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E0"/>
                </a:solidFill>
              </a:rPr>
              <a:t>las reglas propuestas y la lógica difusa (PI3)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257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</a:rPr>
              <a:t>¡Gracias! ¿Preguntas?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</a:rPr>
              <a:t>Anexo: red completa, diagramas de PI1 y PI2, jerarquía de frames y grafos de los casos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Red semántica integrada completa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4A6"/>
                </a:solidFill>
              </a:rPr>
              <a:t>ANEXO</a:t>
            </a:r>
            <a:endParaRPr lang="en-US" sz="1400" dirty="0"/>
          </a:p>
        </p:txBody>
      </p:sp>
      <p:pic>
        <p:nvPicPr>
          <p:cNvPr id="5" name="Image 0" descr="D:\University\Quinto\IA\Proyecto IA\salida\img\red_semantica_compl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5962" y="1097280"/>
            <a:ext cx="8689596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Red semántica integrada: núcleo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4A6"/>
                </a:solidFill>
              </a:rPr>
              <a:t>ANEXO</a:t>
            </a:r>
            <a:endParaRPr lang="en-US" sz="1400" dirty="0"/>
          </a:p>
        </p:txBody>
      </p:sp>
      <p:pic>
        <p:nvPicPr>
          <p:cNvPr id="5" name="Image 0" descr="D:\University\Quinto\IA\Proyecto IA\salida\img\red_semantica_integr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438" y="1097280"/>
            <a:ext cx="9218645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PI1: proceso experto de cada submódulo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4A6"/>
                </a:solidFill>
              </a:rPr>
              <a:t>ANEXO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0972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6CB0"/>
                </a:solidFill>
              </a:rPr>
              <a:t>Interpretación (Matías)</a:t>
            </a:r>
            <a:endParaRPr lang="en-US" sz="1400" dirty="0"/>
          </a:p>
        </p:txBody>
      </p:sp>
      <p:pic>
        <p:nvPicPr>
          <p:cNvPr id="6" name="Image 0" descr="D:\University\Quinto\IA\Proyecto IA\pi1\img\PI1_Matias_diagrama_proce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620" y="1463040"/>
            <a:ext cx="3546479" cy="4846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70248" y="10972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</a:rPr>
              <a:t>Materiales e instalación (Lautaro)</a:t>
            </a:r>
            <a:endParaRPr lang="en-US" sz="1400" dirty="0"/>
          </a:p>
        </p:txBody>
      </p:sp>
      <p:pic>
        <p:nvPicPr>
          <p:cNvPr id="8" name="Image 1" descr="D:\University\Quinto\IA\Proyecto IA\pi1\img\PI1_Lautaro_diagrama_proces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790276"/>
            <a:ext cx="3611880" cy="419184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037576" y="10972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480F"/>
                </a:solidFill>
              </a:rPr>
              <a:t>Fabricación y rediseño (Luciano)</a:t>
            </a:r>
            <a:endParaRPr lang="en-US" sz="1400" dirty="0"/>
          </a:p>
        </p:txBody>
      </p:sp>
      <p:pic>
        <p:nvPicPr>
          <p:cNvPr id="10" name="Image 2" descr="D:\University\Quinto\IA\Proyecto IA\pi1\img\PI1_Luciano_diagrama_proces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150" y="1463040"/>
            <a:ext cx="3286733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PI2: redes semánticas individuales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4A6"/>
                </a:solidFill>
              </a:rPr>
              <a:t>ANEXO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0972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</a:rPr>
              <a:t>Interpretación (Matías)</a:t>
            </a:r>
            <a:endParaRPr lang="en-US" sz="1400" dirty="0"/>
          </a:p>
        </p:txBody>
      </p:sp>
      <p:pic>
        <p:nvPicPr>
          <p:cNvPr id="6" name="Image 0" descr="D:\University\Quinto\IA\Proyecto IA\pi2\img\PI2_Matias_fig1_red_semantica_concep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35320"/>
            <a:ext cx="7589520" cy="470176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2104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80F"/>
                </a:solidFill>
              </a:rPr>
              <a:t>Fabricación y rediseño (Luciano)</a:t>
            </a:r>
            <a:endParaRPr lang="en-US" sz="1400" dirty="0"/>
          </a:p>
        </p:txBody>
      </p:sp>
      <p:pic>
        <p:nvPicPr>
          <p:cNvPr id="8" name="Image 1" descr="D:\University\Quinto\IA\Proyecto IA\pi2\img\PI2_Luciano_red_semantica_conceptu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6460" y="1463040"/>
            <a:ext cx="3232439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PI2 de Matías: casos instanciados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4A6"/>
                </a:solidFill>
              </a:rPr>
              <a:t>ANEXO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</a:rPr>
              <a:t>P-01 · Café Andino</a:t>
            </a:r>
            <a:endParaRPr lang="en-US" sz="1400" dirty="0"/>
          </a:p>
        </p:txBody>
      </p:sp>
      <p:pic>
        <p:nvPicPr>
          <p:cNvPr id="6" name="Image 0" descr="D:\University\Quinto\IA\Proyecto IA\pi2\img\PI2_Matias_fig2_red_instanciada_P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2776" y="1417320"/>
            <a:ext cx="7155968" cy="23317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</a:rPr>
              <a:t>P-02 · Letras corpóreas</a:t>
            </a:r>
            <a:endParaRPr lang="en-US" sz="1400" dirty="0"/>
          </a:p>
        </p:txBody>
      </p:sp>
      <p:pic>
        <p:nvPicPr>
          <p:cNvPr id="8" name="Image 1" descr="D:\University\Quinto\IA\Proyecto IA\pi2\img\PI2_Matias_fig3_red_instanciada_P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195" y="4114800"/>
            <a:ext cx="6573129" cy="2240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PI2 de Luciano: casos instanciados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4A6"/>
                </a:solidFill>
              </a:rPr>
              <a:t>ANEXO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480F"/>
                </a:solidFill>
              </a:rPr>
              <a:t>Caso 1</a:t>
            </a:r>
            <a:endParaRPr lang="en-US" sz="1400" dirty="0"/>
          </a:p>
        </p:txBody>
      </p:sp>
      <p:pic>
        <p:nvPicPr>
          <p:cNvPr id="6" name="Image 0" descr="D:\University\Quinto\IA\Proyecto IA\pi2\img\PI2_Luciano_red_instanciada_cas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6187" y="1463040"/>
            <a:ext cx="2919867" cy="4846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7220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480F"/>
                </a:solidFill>
              </a:rPr>
              <a:t>Caso 2</a:t>
            </a:r>
            <a:endParaRPr lang="en-US" sz="1400" dirty="0"/>
          </a:p>
        </p:txBody>
      </p:sp>
      <p:pic>
        <p:nvPicPr>
          <p:cNvPr id="8" name="Image 1" descr="D:\University\Quinto\IA\Proyecto IA\pi2\img\PI2_Luciano_red_instanciada_cas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114" y="1463040"/>
            <a:ext cx="3410571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Jerarquía de frames (generada desde Neo4j)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4A6"/>
                </a:solidFill>
              </a:rPr>
              <a:t>ANEXO</a:t>
            </a:r>
            <a:endParaRPr lang="en-US" sz="1400" dirty="0"/>
          </a:p>
        </p:txBody>
      </p:sp>
      <p:pic>
        <p:nvPicPr>
          <p:cNvPr id="5" name="Image 0" descr="D:\University\Quinto\IA\Proyecto IA\salida\img\jerarquia_fra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4301"/>
            <a:ext cx="11338560" cy="45780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CU1 instanciado en Neo4j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4A6"/>
                </a:solidFill>
              </a:rPr>
              <a:t>ANEXO</a:t>
            </a:r>
            <a:endParaRPr lang="en-US" sz="1400" dirty="0"/>
          </a:p>
        </p:txBody>
      </p:sp>
      <p:pic>
        <p:nvPicPr>
          <p:cNvPr id="5" name="Image 0" descr="D:\University\Quinto\IA\Proyecto IA\salida\img\cu1_instanci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930" y="1097280"/>
            <a:ext cx="9461661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CU2 instanciado en Neo4j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4A6"/>
                </a:solidFill>
              </a:rPr>
              <a:t>ANEXO</a:t>
            </a:r>
            <a:endParaRPr lang="en-US" sz="1400" dirty="0"/>
          </a:p>
        </p:txBody>
      </p:sp>
      <p:pic>
        <p:nvPicPr>
          <p:cNvPr id="5" name="Image 0" descr="D:\University\Quinto\IA\Proyecto IA\salida\img\cu2_instanci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930" y="1097280"/>
            <a:ext cx="9461661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004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</a:rPr>
              <a:t>Filtro por restricción del cliente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921240" y="438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4A6"/>
                </a:solidFill>
              </a:rPr>
              <a:t>ANEXO</a:t>
            </a:r>
            <a:endParaRPr lang="en-US" sz="1400" dirty="0"/>
          </a:p>
        </p:txBody>
      </p:sp>
      <p:pic>
        <p:nvPicPr>
          <p:cNvPr id="5" name="Image 0" descr="D:\University\Quinto\IA\Proyecto IA\salida\img\filtro_lucia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77072"/>
            <a:ext cx="11338560" cy="38524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on Carbon">
  <a:themeElements>
    <a:clrScheme name="Neon Carbon">
      <a:dk1>
        <a:srgbClr val="1A202C"/>
      </a:dk1>
      <a:lt1>
        <a:srgbClr val="FFFFFF"/>
      </a:lt1>
      <a:dk2>
        <a:srgbClr val="141824"/>
      </a:dk2>
      <a:lt2>
        <a:srgbClr val="F4F6FA"/>
      </a:lt2>
      <a:accent1>
        <a:srgbClr val="FF2E88"/>
      </a:accent1>
      <a:accent2>
        <a:srgbClr val="22D3EE"/>
      </a:accent2>
      <a:accent3>
        <a:srgbClr val="2B6CB0"/>
      </a:accent3>
      <a:accent4>
        <a:srgbClr val="2A9D8F"/>
      </a:accent4>
      <a:accent5>
        <a:srgbClr val="D9480F"/>
      </a:accent5>
      <a:accent6>
        <a:srgbClr val="6B46C1"/>
      </a:accent6>
      <a:hlink>
        <a:srgbClr val="2B6CB0"/>
      </a:hlink>
      <a:folHlink>
        <a:srgbClr val="6B46C1"/>
      </a:folHlink>
    </a:clrScheme>
    <a:fontScheme name="Neon Carb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Asistente para evaluar pedidos de cartelería — Grupo 11 (versión 10 min)</dc:title>
  <dc:subject>PptxGenJS Presentation</dc:subject>
  <dc:creator>Grupo 11 — Zarandon, Quiros, Marquesini</dc:creator>
  <cp:lastModifiedBy>Grupo 11 — Zarandon, Quiros, Marquesini</cp:lastModifiedBy>
  <cp:revision>1</cp:revision>
  <dcterms:created xsi:type="dcterms:W3CDTF">2026-10-04T03:20:36Z</dcterms:created>
  <dcterms:modified xsi:type="dcterms:W3CDTF">2026-10-04T03:20:36Z</dcterms:modified>
</cp:coreProperties>
</file>